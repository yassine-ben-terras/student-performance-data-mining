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82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8F9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763" y="4826"/>
            <a:ext cx="9139555" cy="914400"/>
          </a:xfrm>
          <a:custGeom>
            <a:avLst/>
            <a:gdLst/>
            <a:ahLst/>
            <a:cxnLst/>
            <a:rect l="l" t="t" r="r" b="b"/>
            <a:pathLst>
              <a:path w="9139555" h="914400">
                <a:moveTo>
                  <a:pt x="9139236" y="0"/>
                </a:moveTo>
                <a:lnTo>
                  <a:pt x="0" y="0"/>
                </a:lnTo>
                <a:lnTo>
                  <a:pt x="0" y="914400"/>
                </a:lnTo>
                <a:lnTo>
                  <a:pt x="9139236" y="914400"/>
                </a:lnTo>
                <a:lnTo>
                  <a:pt x="9139236" y="0"/>
                </a:lnTo>
                <a:close/>
              </a:path>
            </a:pathLst>
          </a:custGeom>
          <a:solidFill>
            <a:srgbClr val="7B39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763" y="4826"/>
            <a:ext cx="9139555" cy="914400"/>
          </a:xfrm>
          <a:custGeom>
            <a:avLst/>
            <a:gdLst/>
            <a:ahLst/>
            <a:cxnLst/>
            <a:rect l="l" t="t" r="r" b="b"/>
            <a:pathLst>
              <a:path w="9139555" h="914400">
                <a:moveTo>
                  <a:pt x="9139236" y="0"/>
                </a:moveTo>
                <a:lnTo>
                  <a:pt x="0" y="0"/>
                </a:lnTo>
                <a:lnTo>
                  <a:pt x="0" y="914400"/>
                </a:lnTo>
                <a:lnTo>
                  <a:pt x="9139236" y="914400"/>
                </a:lnTo>
              </a:path>
            </a:pathLst>
          </a:custGeom>
          <a:ln w="12700">
            <a:solidFill>
              <a:srgbClr val="7B39E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8F9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3377" y="128269"/>
            <a:ext cx="7290434" cy="3467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3045" y="1021080"/>
            <a:ext cx="7631430" cy="3159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5080" cy="5143500"/>
          </a:xfrm>
          <a:custGeom>
            <a:avLst/>
            <a:gdLst/>
            <a:ahLst/>
            <a:cxnLst/>
            <a:rect l="l" t="t" r="r" b="b"/>
            <a:pathLst>
              <a:path w="5080" h="5143500">
                <a:moveTo>
                  <a:pt x="0" y="5143500"/>
                </a:moveTo>
                <a:lnTo>
                  <a:pt x="4763" y="5143500"/>
                </a:lnTo>
                <a:lnTo>
                  <a:pt x="4763" y="0"/>
                </a:lnTo>
                <a:lnTo>
                  <a:pt x="0" y="0"/>
                </a:lnTo>
                <a:lnTo>
                  <a:pt x="0" y="5143500"/>
                </a:lnTo>
                <a:close/>
              </a:path>
            </a:pathLst>
          </a:custGeom>
          <a:solidFill>
            <a:srgbClr val="1B2A4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1586" y="-6350"/>
            <a:ext cx="9152255" cy="5156200"/>
            <a:chOff x="-1586" y="-6350"/>
            <a:chExt cx="9152255" cy="5156200"/>
          </a:xfrm>
        </p:grpSpPr>
        <p:sp>
          <p:nvSpPr>
            <p:cNvPr id="4" name="object 4"/>
            <p:cNvSpPr/>
            <p:nvPr/>
          </p:nvSpPr>
          <p:spPr>
            <a:xfrm>
              <a:off x="100013" y="0"/>
              <a:ext cx="9044305" cy="5143500"/>
            </a:xfrm>
            <a:custGeom>
              <a:avLst/>
              <a:gdLst/>
              <a:ahLst/>
              <a:cxnLst/>
              <a:rect l="l" t="t" r="r" b="b"/>
              <a:pathLst>
                <a:path w="9044305" h="5143500">
                  <a:moveTo>
                    <a:pt x="0" y="5143500"/>
                  </a:moveTo>
                  <a:lnTo>
                    <a:pt x="9043986" y="5143500"/>
                  </a:lnTo>
                  <a:lnTo>
                    <a:pt x="9043986" y="0"/>
                  </a:lnTo>
                  <a:lnTo>
                    <a:pt x="0" y="0"/>
                  </a:lnTo>
                  <a:lnTo>
                    <a:pt x="0" y="5143500"/>
                  </a:lnTo>
                  <a:close/>
                </a:path>
              </a:pathLst>
            </a:custGeom>
            <a:solidFill>
              <a:srgbClr val="1B2A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763" y="4762"/>
              <a:ext cx="95250" cy="5139055"/>
            </a:xfrm>
            <a:custGeom>
              <a:avLst/>
              <a:gdLst/>
              <a:ahLst/>
              <a:cxnLst/>
              <a:rect l="l" t="t" r="r" b="b"/>
              <a:pathLst>
                <a:path w="95250" h="5139055">
                  <a:moveTo>
                    <a:pt x="95250" y="0"/>
                  </a:moveTo>
                  <a:lnTo>
                    <a:pt x="0" y="0"/>
                  </a:lnTo>
                  <a:lnTo>
                    <a:pt x="0" y="5138737"/>
                  </a:lnTo>
                  <a:lnTo>
                    <a:pt x="95250" y="5138737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0D93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763" y="4762"/>
              <a:ext cx="95250" cy="5139055"/>
            </a:xfrm>
            <a:custGeom>
              <a:avLst/>
              <a:gdLst/>
              <a:ahLst/>
              <a:cxnLst/>
              <a:rect l="l" t="t" r="r" b="b"/>
              <a:pathLst>
                <a:path w="95250" h="5139055">
                  <a:moveTo>
                    <a:pt x="95250" y="5138737"/>
                  </a:moveTo>
                  <a:lnTo>
                    <a:pt x="95250" y="0"/>
                  </a:lnTo>
                  <a:lnTo>
                    <a:pt x="0" y="0"/>
                  </a:lnTo>
                  <a:lnTo>
                    <a:pt x="0" y="5138737"/>
                  </a:lnTo>
                </a:path>
              </a:pathLst>
            </a:custGeom>
            <a:ln w="12700">
              <a:solidFill>
                <a:srgbClr val="0D93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672201" y="0"/>
              <a:ext cx="3472179" cy="4300855"/>
            </a:xfrm>
            <a:custGeom>
              <a:avLst/>
              <a:gdLst/>
              <a:ahLst/>
              <a:cxnLst/>
              <a:rect l="l" t="t" r="r" b="b"/>
              <a:pathLst>
                <a:path w="3472179" h="4300855">
                  <a:moveTo>
                    <a:pt x="3471799" y="0"/>
                  </a:moveTo>
                  <a:lnTo>
                    <a:pt x="744406" y="0"/>
                  </a:lnTo>
                  <a:lnTo>
                    <a:pt x="736472" y="7794"/>
                  </a:lnTo>
                  <a:lnTo>
                    <a:pt x="705008" y="39823"/>
                  </a:lnTo>
                  <a:lnTo>
                    <a:pt x="674116" y="72406"/>
                  </a:lnTo>
                  <a:lnTo>
                    <a:pt x="643803" y="105537"/>
                  </a:lnTo>
                  <a:lnTo>
                    <a:pt x="614078" y="139206"/>
                  </a:lnTo>
                  <a:lnTo>
                    <a:pt x="584949" y="173407"/>
                  </a:lnTo>
                  <a:lnTo>
                    <a:pt x="556424" y="208130"/>
                  </a:lnTo>
                  <a:lnTo>
                    <a:pt x="528511" y="243367"/>
                  </a:lnTo>
                  <a:lnTo>
                    <a:pt x="501218" y="279111"/>
                  </a:lnTo>
                  <a:lnTo>
                    <a:pt x="474554" y="315352"/>
                  </a:lnTo>
                  <a:lnTo>
                    <a:pt x="448526" y="352084"/>
                  </a:lnTo>
                  <a:lnTo>
                    <a:pt x="423143" y="389298"/>
                  </a:lnTo>
                  <a:lnTo>
                    <a:pt x="398413" y="426986"/>
                  </a:lnTo>
                  <a:lnTo>
                    <a:pt x="374344" y="465139"/>
                  </a:lnTo>
                  <a:lnTo>
                    <a:pt x="350944" y="503750"/>
                  </a:lnTo>
                  <a:lnTo>
                    <a:pt x="328222" y="542810"/>
                  </a:lnTo>
                  <a:lnTo>
                    <a:pt x="306185" y="582311"/>
                  </a:lnTo>
                  <a:lnTo>
                    <a:pt x="284841" y="622245"/>
                  </a:lnTo>
                  <a:lnTo>
                    <a:pt x="264199" y="662604"/>
                  </a:lnTo>
                  <a:lnTo>
                    <a:pt x="244267" y="703380"/>
                  </a:lnTo>
                  <a:lnTo>
                    <a:pt x="225053" y="744565"/>
                  </a:lnTo>
                  <a:lnTo>
                    <a:pt x="206565" y="786150"/>
                  </a:lnTo>
                  <a:lnTo>
                    <a:pt x="188811" y="828128"/>
                  </a:lnTo>
                  <a:lnTo>
                    <a:pt x="171800" y="870489"/>
                  </a:lnTo>
                  <a:lnTo>
                    <a:pt x="155539" y="913227"/>
                  </a:lnTo>
                  <a:lnTo>
                    <a:pt x="140036" y="956333"/>
                  </a:lnTo>
                  <a:lnTo>
                    <a:pt x="125301" y="999799"/>
                  </a:lnTo>
                  <a:lnTo>
                    <a:pt x="111340" y="1043616"/>
                  </a:lnTo>
                  <a:lnTo>
                    <a:pt x="98163" y="1087776"/>
                  </a:lnTo>
                  <a:lnTo>
                    <a:pt x="85776" y="1132272"/>
                  </a:lnTo>
                  <a:lnTo>
                    <a:pt x="74189" y="1177096"/>
                  </a:lnTo>
                  <a:lnTo>
                    <a:pt x="63410" y="1222238"/>
                  </a:lnTo>
                  <a:lnTo>
                    <a:pt x="53446" y="1267692"/>
                  </a:lnTo>
                  <a:lnTo>
                    <a:pt x="44306" y="1313448"/>
                  </a:lnTo>
                  <a:lnTo>
                    <a:pt x="35997" y="1359499"/>
                  </a:lnTo>
                  <a:lnTo>
                    <a:pt x="28529" y="1405836"/>
                  </a:lnTo>
                  <a:lnTo>
                    <a:pt x="21909" y="1452452"/>
                  </a:lnTo>
                  <a:lnTo>
                    <a:pt x="16145" y="1499338"/>
                  </a:lnTo>
                  <a:lnTo>
                    <a:pt x="11246" y="1546486"/>
                  </a:lnTo>
                  <a:lnTo>
                    <a:pt x="7219" y="1593888"/>
                  </a:lnTo>
                  <a:lnTo>
                    <a:pt x="4072" y="1641536"/>
                  </a:lnTo>
                  <a:lnTo>
                    <a:pt x="1815" y="1689422"/>
                  </a:lnTo>
                  <a:lnTo>
                    <a:pt x="455" y="1737537"/>
                  </a:lnTo>
                  <a:lnTo>
                    <a:pt x="0" y="1785874"/>
                  </a:lnTo>
                  <a:lnTo>
                    <a:pt x="455" y="1834214"/>
                  </a:lnTo>
                  <a:lnTo>
                    <a:pt x="1815" y="1882334"/>
                  </a:lnTo>
                  <a:lnTo>
                    <a:pt x="4072" y="1930224"/>
                  </a:lnTo>
                  <a:lnTo>
                    <a:pt x="7219" y="1977875"/>
                  </a:lnTo>
                  <a:lnTo>
                    <a:pt x="11246" y="2025281"/>
                  </a:lnTo>
                  <a:lnTo>
                    <a:pt x="16145" y="2072433"/>
                  </a:lnTo>
                  <a:lnTo>
                    <a:pt x="21909" y="2119323"/>
                  </a:lnTo>
                  <a:lnTo>
                    <a:pt x="28529" y="2165942"/>
                  </a:lnTo>
                  <a:lnTo>
                    <a:pt x="35997" y="2212282"/>
                  </a:lnTo>
                  <a:lnTo>
                    <a:pt x="44306" y="2258336"/>
                  </a:lnTo>
                  <a:lnTo>
                    <a:pt x="53446" y="2304095"/>
                  </a:lnTo>
                  <a:lnTo>
                    <a:pt x="63410" y="2349551"/>
                  </a:lnTo>
                  <a:lnTo>
                    <a:pt x="74189" y="2394697"/>
                  </a:lnTo>
                  <a:lnTo>
                    <a:pt x="85776" y="2439522"/>
                  </a:lnTo>
                  <a:lnTo>
                    <a:pt x="98163" y="2484021"/>
                  </a:lnTo>
                  <a:lnTo>
                    <a:pt x="111340" y="2528184"/>
                  </a:lnTo>
                  <a:lnTo>
                    <a:pt x="125301" y="2572003"/>
                  </a:lnTo>
                  <a:lnTo>
                    <a:pt x="140036" y="2615471"/>
                  </a:lnTo>
                  <a:lnTo>
                    <a:pt x="155539" y="2658579"/>
                  </a:lnTo>
                  <a:lnTo>
                    <a:pt x="171800" y="2701318"/>
                  </a:lnTo>
                  <a:lnTo>
                    <a:pt x="188811" y="2743682"/>
                  </a:lnTo>
                  <a:lnTo>
                    <a:pt x="206565" y="2785661"/>
                  </a:lnTo>
                  <a:lnTo>
                    <a:pt x="225053" y="2827248"/>
                  </a:lnTo>
                  <a:lnTo>
                    <a:pt x="244267" y="2868434"/>
                  </a:lnTo>
                  <a:lnTo>
                    <a:pt x="264199" y="2909211"/>
                  </a:lnTo>
                  <a:lnTo>
                    <a:pt x="284841" y="2949572"/>
                  </a:lnTo>
                  <a:lnTo>
                    <a:pt x="306185" y="2989507"/>
                  </a:lnTo>
                  <a:lnTo>
                    <a:pt x="328222" y="3029010"/>
                  </a:lnTo>
                  <a:lnTo>
                    <a:pt x="350944" y="3068071"/>
                  </a:lnTo>
                  <a:lnTo>
                    <a:pt x="374344" y="3106682"/>
                  </a:lnTo>
                  <a:lnTo>
                    <a:pt x="398413" y="3144836"/>
                  </a:lnTo>
                  <a:lnTo>
                    <a:pt x="423143" y="3182525"/>
                  </a:lnTo>
                  <a:lnTo>
                    <a:pt x="448526" y="3219739"/>
                  </a:lnTo>
                  <a:lnTo>
                    <a:pt x="474554" y="3256472"/>
                  </a:lnTo>
                  <a:lnTo>
                    <a:pt x="501218" y="3292714"/>
                  </a:lnTo>
                  <a:lnTo>
                    <a:pt x="528511" y="3328458"/>
                  </a:lnTo>
                  <a:lnTo>
                    <a:pt x="556424" y="3363696"/>
                  </a:lnTo>
                  <a:lnTo>
                    <a:pt x="584949" y="3398419"/>
                  </a:lnTo>
                  <a:lnTo>
                    <a:pt x="614078" y="3432620"/>
                  </a:lnTo>
                  <a:lnTo>
                    <a:pt x="643803" y="3466289"/>
                  </a:lnTo>
                  <a:lnTo>
                    <a:pt x="674116" y="3499420"/>
                  </a:lnTo>
                  <a:lnTo>
                    <a:pt x="705008" y="3532004"/>
                  </a:lnTo>
                  <a:lnTo>
                    <a:pt x="736472" y="3564032"/>
                  </a:lnTo>
                  <a:lnTo>
                    <a:pt x="768500" y="3595497"/>
                  </a:lnTo>
                  <a:lnTo>
                    <a:pt x="801082" y="3626391"/>
                  </a:lnTo>
                  <a:lnTo>
                    <a:pt x="834212" y="3656705"/>
                  </a:lnTo>
                  <a:lnTo>
                    <a:pt x="867881" y="3686431"/>
                  </a:lnTo>
                  <a:lnTo>
                    <a:pt x="902080" y="3715561"/>
                  </a:lnTo>
                  <a:lnTo>
                    <a:pt x="936802" y="3744088"/>
                  </a:lnTo>
                  <a:lnTo>
                    <a:pt x="972039" y="3772002"/>
                  </a:lnTo>
                  <a:lnTo>
                    <a:pt x="1007782" y="3799295"/>
                  </a:lnTo>
                  <a:lnTo>
                    <a:pt x="1044023" y="3825961"/>
                  </a:lnTo>
                  <a:lnTo>
                    <a:pt x="1080755" y="3851989"/>
                  </a:lnTo>
                  <a:lnTo>
                    <a:pt x="1117968" y="3877373"/>
                  </a:lnTo>
                  <a:lnTo>
                    <a:pt x="1155656" y="3902104"/>
                  </a:lnTo>
                  <a:lnTo>
                    <a:pt x="1193809" y="3926174"/>
                  </a:lnTo>
                  <a:lnTo>
                    <a:pt x="1232419" y="3949575"/>
                  </a:lnTo>
                  <a:lnTo>
                    <a:pt x="1271479" y="3972299"/>
                  </a:lnTo>
                  <a:lnTo>
                    <a:pt x="1310981" y="3994337"/>
                  </a:lnTo>
                  <a:lnTo>
                    <a:pt x="1350915" y="4015682"/>
                  </a:lnTo>
                  <a:lnTo>
                    <a:pt x="1391275" y="4036324"/>
                  </a:lnTo>
                  <a:lnTo>
                    <a:pt x="1432051" y="4056257"/>
                  </a:lnTo>
                  <a:lnTo>
                    <a:pt x="1473236" y="4075472"/>
                  </a:lnTo>
                  <a:lnTo>
                    <a:pt x="1514822" y="4093961"/>
                  </a:lnTo>
                  <a:lnTo>
                    <a:pt x="1556801" y="4111716"/>
                  </a:lnTo>
                  <a:lnTo>
                    <a:pt x="1599163" y="4128728"/>
                  </a:lnTo>
                  <a:lnTo>
                    <a:pt x="1641902" y="4144990"/>
                  </a:lnTo>
                  <a:lnTo>
                    <a:pt x="1685009" y="4160493"/>
                  </a:lnTo>
                  <a:lnTo>
                    <a:pt x="1728476" y="4175229"/>
                  </a:lnTo>
                  <a:lnTo>
                    <a:pt x="1772295" y="4189190"/>
                  </a:lnTo>
                  <a:lnTo>
                    <a:pt x="1816457" y="4202369"/>
                  </a:lnTo>
                  <a:lnTo>
                    <a:pt x="1860955" y="4214756"/>
                  </a:lnTo>
                  <a:lnTo>
                    <a:pt x="1905780" y="4226343"/>
                  </a:lnTo>
                  <a:lnTo>
                    <a:pt x="1950925" y="4237123"/>
                  </a:lnTo>
                  <a:lnTo>
                    <a:pt x="1996381" y="4247088"/>
                  </a:lnTo>
                  <a:lnTo>
                    <a:pt x="2042139" y="4256228"/>
                  </a:lnTo>
                  <a:lnTo>
                    <a:pt x="2088193" y="4264537"/>
                  </a:lnTo>
                  <a:lnTo>
                    <a:pt x="2134533" y="4272006"/>
                  </a:lnTo>
                  <a:lnTo>
                    <a:pt x="2181152" y="4278626"/>
                  </a:lnTo>
                  <a:lnTo>
                    <a:pt x="2228041" y="4284391"/>
                  </a:lnTo>
                  <a:lnTo>
                    <a:pt x="2275192" y="4289290"/>
                  </a:lnTo>
                  <a:lnTo>
                    <a:pt x="2322598" y="4293317"/>
                  </a:lnTo>
                  <a:lnTo>
                    <a:pt x="2370250" y="4296464"/>
                  </a:lnTo>
                  <a:lnTo>
                    <a:pt x="2418139" y="4298721"/>
                  </a:lnTo>
                  <a:lnTo>
                    <a:pt x="2466259" y="4300082"/>
                  </a:lnTo>
                  <a:lnTo>
                    <a:pt x="2514600" y="4300537"/>
                  </a:lnTo>
                  <a:lnTo>
                    <a:pt x="2562936" y="4300082"/>
                  </a:lnTo>
                  <a:lnTo>
                    <a:pt x="2611051" y="4298721"/>
                  </a:lnTo>
                  <a:lnTo>
                    <a:pt x="2658937" y="4296464"/>
                  </a:lnTo>
                  <a:lnTo>
                    <a:pt x="2706585" y="4293317"/>
                  </a:lnTo>
                  <a:lnTo>
                    <a:pt x="2753987" y="4289290"/>
                  </a:lnTo>
                  <a:lnTo>
                    <a:pt x="2801135" y="4284391"/>
                  </a:lnTo>
                  <a:lnTo>
                    <a:pt x="2848021" y="4278626"/>
                  </a:lnTo>
                  <a:lnTo>
                    <a:pt x="2894637" y="4272006"/>
                  </a:lnTo>
                  <a:lnTo>
                    <a:pt x="2940974" y="4264537"/>
                  </a:lnTo>
                  <a:lnTo>
                    <a:pt x="2987025" y="4256228"/>
                  </a:lnTo>
                  <a:lnTo>
                    <a:pt x="3032781" y="4247088"/>
                  </a:lnTo>
                  <a:lnTo>
                    <a:pt x="3078235" y="4237123"/>
                  </a:lnTo>
                  <a:lnTo>
                    <a:pt x="3123377" y="4226343"/>
                  </a:lnTo>
                  <a:lnTo>
                    <a:pt x="3168201" y="4214756"/>
                  </a:lnTo>
                  <a:lnTo>
                    <a:pt x="3212697" y="4202369"/>
                  </a:lnTo>
                  <a:lnTo>
                    <a:pt x="3256857" y="4189190"/>
                  </a:lnTo>
                  <a:lnTo>
                    <a:pt x="3300674" y="4175229"/>
                  </a:lnTo>
                  <a:lnTo>
                    <a:pt x="3344140" y="4160493"/>
                  </a:lnTo>
                  <a:lnTo>
                    <a:pt x="3387246" y="4144990"/>
                  </a:lnTo>
                  <a:lnTo>
                    <a:pt x="3429984" y="4128728"/>
                  </a:lnTo>
                  <a:lnTo>
                    <a:pt x="3471799" y="4111936"/>
                  </a:lnTo>
                  <a:lnTo>
                    <a:pt x="3471799" y="0"/>
                  </a:lnTo>
                  <a:close/>
                </a:path>
              </a:pathLst>
            </a:custGeom>
            <a:solidFill>
              <a:srgbClr val="0D9387">
                <a:alpha val="1215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672201" y="0"/>
              <a:ext cx="3472179" cy="4300855"/>
            </a:xfrm>
            <a:custGeom>
              <a:avLst/>
              <a:gdLst/>
              <a:ahLst/>
              <a:cxnLst/>
              <a:rect l="l" t="t" r="r" b="b"/>
              <a:pathLst>
                <a:path w="3472179" h="4300855">
                  <a:moveTo>
                    <a:pt x="3471799" y="4111936"/>
                  </a:moveTo>
                  <a:lnTo>
                    <a:pt x="3429984" y="4128728"/>
                  </a:lnTo>
                  <a:lnTo>
                    <a:pt x="3387246" y="4144990"/>
                  </a:lnTo>
                  <a:lnTo>
                    <a:pt x="3344140" y="4160493"/>
                  </a:lnTo>
                  <a:lnTo>
                    <a:pt x="3300674" y="4175229"/>
                  </a:lnTo>
                  <a:lnTo>
                    <a:pt x="3256857" y="4189190"/>
                  </a:lnTo>
                  <a:lnTo>
                    <a:pt x="3212697" y="4202369"/>
                  </a:lnTo>
                  <a:lnTo>
                    <a:pt x="3168201" y="4214756"/>
                  </a:lnTo>
                  <a:lnTo>
                    <a:pt x="3123377" y="4226343"/>
                  </a:lnTo>
                  <a:lnTo>
                    <a:pt x="3078235" y="4237123"/>
                  </a:lnTo>
                  <a:lnTo>
                    <a:pt x="3032781" y="4247088"/>
                  </a:lnTo>
                  <a:lnTo>
                    <a:pt x="2987025" y="4256228"/>
                  </a:lnTo>
                  <a:lnTo>
                    <a:pt x="2940974" y="4264537"/>
                  </a:lnTo>
                  <a:lnTo>
                    <a:pt x="2894637" y="4272006"/>
                  </a:lnTo>
                  <a:lnTo>
                    <a:pt x="2848021" y="4278626"/>
                  </a:lnTo>
                  <a:lnTo>
                    <a:pt x="2801135" y="4284391"/>
                  </a:lnTo>
                  <a:lnTo>
                    <a:pt x="2753987" y="4289290"/>
                  </a:lnTo>
                  <a:lnTo>
                    <a:pt x="2706585" y="4293317"/>
                  </a:lnTo>
                  <a:lnTo>
                    <a:pt x="2658937" y="4296464"/>
                  </a:lnTo>
                  <a:lnTo>
                    <a:pt x="2611051" y="4298721"/>
                  </a:lnTo>
                  <a:lnTo>
                    <a:pt x="2562936" y="4300082"/>
                  </a:lnTo>
                  <a:lnTo>
                    <a:pt x="2514600" y="4300537"/>
                  </a:lnTo>
                  <a:lnTo>
                    <a:pt x="2466259" y="4300082"/>
                  </a:lnTo>
                  <a:lnTo>
                    <a:pt x="2418139" y="4298721"/>
                  </a:lnTo>
                  <a:lnTo>
                    <a:pt x="2370250" y="4296464"/>
                  </a:lnTo>
                  <a:lnTo>
                    <a:pt x="2322598" y="4293317"/>
                  </a:lnTo>
                  <a:lnTo>
                    <a:pt x="2275192" y="4289290"/>
                  </a:lnTo>
                  <a:lnTo>
                    <a:pt x="2228041" y="4284391"/>
                  </a:lnTo>
                  <a:lnTo>
                    <a:pt x="2181152" y="4278626"/>
                  </a:lnTo>
                  <a:lnTo>
                    <a:pt x="2134533" y="4272006"/>
                  </a:lnTo>
                  <a:lnTo>
                    <a:pt x="2088193" y="4264537"/>
                  </a:lnTo>
                  <a:lnTo>
                    <a:pt x="2042139" y="4256228"/>
                  </a:lnTo>
                  <a:lnTo>
                    <a:pt x="1996381" y="4247088"/>
                  </a:lnTo>
                  <a:lnTo>
                    <a:pt x="1950925" y="4237123"/>
                  </a:lnTo>
                  <a:lnTo>
                    <a:pt x="1905780" y="4226343"/>
                  </a:lnTo>
                  <a:lnTo>
                    <a:pt x="1860955" y="4214756"/>
                  </a:lnTo>
                  <a:lnTo>
                    <a:pt x="1816457" y="4202369"/>
                  </a:lnTo>
                  <a:lnTo>
                    <a:pt x="1772295" y="4189190"/>
                  </a:lnTo>
                  <a:lnTo>
                    <a:pt x="1728476" y="4175229"/>
                  </a:lnTo>
                  <a:lnTo>
                    <a:pt x="1685009" y="4160493"/>
                  </a:lnTo>
                  <a:lnTo>
                    <a:pt x="1641902" y="4144990"/>
                  </a:lnTo>
                  <a:lnTo>
                    <a:pt x="1599163" y="4128728"/>
                  </a:lnTo>
                  <a:lnTo>
                    <a:pt x="1556801" y="4111716"/>
                  </a:lnTo>
                  <a:lnTo>
                    <a:pt x="1514822" y="4093961"/>
                  </a:lnTo>
                  <a:lnTo>
                    <a:pt x="1473236" y="4075472"/>
                  </a:lnTo>
                  <a:lnTo>
                    <a:pt x="1432051" y="4056257"/>
                  </a:lnTo>
                  <a:lnTo>
                    <a:pt x="1391275" y="4036324"/>
                  </a:lnTo>
                  <a:lnTo>
                    <a:pt x="1350915" y="4015682"/>
                  </a:lnTo>
                  <a:lnTo>
                    <a:pt x="1310981" y="3994337"/>
                  </a:lnTo>
                  <a:lnTo>
                    <a:pt x="1271479" y="3972299"/>
                  </a:lnTo>
                  <a:lnTo>
                    <a:pt x="1232419" y="3949575"/>
                  </a:lnTo>
                  <a:lnTo>
                    <a:pt x="1193809" y="3926174"/>
                  </a:lnTo>
                  <a:lnTo>
                    <a:pt x="1155656" y="3902104"/>
                  </a:lnTo>
                  <a:lnTo>
                    <a:pt x="1117968" y="3877373"/>
                  </a:lnTo>
                  <a:lnTo>
                    <a:pt x="1080755" y="3851989"/>
                  </a:lnTo>
                  <a:lnTo>
                    <a:pt x="1044023" y="3825961"/>
                  </a:lnTo>
                  <a:lnTo>
                    <a:pt x="1007782" y="3799295"/>
                  </a:lnTo>
                  <a:lnTo>
                    <a:pt x="972039" y="3772002"/>
                  </a:lnTo>
                  <a:lnTo>
                    <a:pt x="936802" y="3744088"/>
                  </a:lnTo>
                  <a:lnTo>
                    <a:pt x="902080" y="3715561"/>
                  </a:lnTo>
                  <a:lnTo>
                    <a:pt x="867881" y="3686431"/>
                  </a:lnTo>
                  <a:lnTo>
                    <a:pt x="834212" y="3656705"/>
                  </a:lnTo>
                  <a:lnTo>
                    <a:pt x="801082" y="3626391"/>
                  </a:lnTo>
                  <a:lnTo>
                    <a:pt x="768500" y="3595497"/>
                  </a:lnTo>
                  <a:lnTo>
                    <a:pt x="736472" y="3564032"/>
                  </a:lnTo>
                  <a:lnTo>
                    <a:pt x="705008" y="3532004"/>
                  </a:lnTo>
                  <a:lnTo>
                    <a:pt x="674116" y="3499420"/>
                  </a:lnTo>
                  <a:lnTo>
                    <a:pt x="643803" y="3466289"/>
                  </a:lnTo>
                  <a:lnTo>
                    <a:pt x="614078" y="3432620"/>
                  </a:lnTo>
                  <a:lnTo>
                    <a:pt x="584949" y="3398419"/>
                  </a:lnTo>
                  <a:lnTo>
                    <a:pt x="556424" y="3363696"/>
                  </a:lnTo>
                  <a:lnTo>
                    <a:pt x="528511" y="3328458"/>
                  </a:lnTo>
                  <a:lnTo>
                    <a:pt x="501218" y="3292714"/>
                  </a:lnTo>
                  <a:lnTo>
                    <a:pt x="474554" y="3256472"/>
                  </a:lnTo>
                  <a:lnTo>
                    <a:pt x="448526" y="3219739"/>
                  </a:lnTo>
                  <a:lnTo>
                    <a:pt x="423143" y="3182525"/>
                  </a:lnTo>
                  <a:lnTo>
                    <a:pt x="398413" y="3144836"/>
                  </a:lnTo>
                  <a:lnTo>
                    <a:pt x="374344" y="3106682"/>
                  </a:lnTo>
                  <a:lnTo>
                    <a:pt x="350944" y="3068071"/>
                  </a:lnTo>
                  <a:lnTo>
                    <a:pt x="328222" y="3029010"/>
                  </a:lnTo>
                  <a:lnTo>
                    <a:pt x="306185" y="2989507"/>
                  </a:lnTo>
                  <a:lnTo>
                    <a:pt x="284841" y="2949572"/>
                  </a:lnTo>
                  <a:lnTo>
                    <a:pt x="264199" y="2909211"/>
                  </a:lnTo>
                  <a:lnTo>
                    <a:pt x="244267" y="2868434"/>
                  </a:lnTo>
                  <a:lnTo>
                    <a:pt x="225053" y="2827248"/>
                  </a:lnTo>
                  <a:lnTo>
                    <a:pt x="206565" y="2785661"/>
                  </a:lnTo>
                  <a:lnTo>
                    <a:pt x="188811" y="2743682"/>
                  </a:lnTo>
                  <a:lnTo>
                    <a:pt x="171800" y="2701318"/>
                  </a:lnTo>
                  <a:lnTo>
                    <a:pt x="155539" y="2658579"/>
                  </a:lnTo>
                  <a:lnTo>
                    <a:pt x="140036" y="2615471"/>
                  </a:lnTo>
                  <a:lnTo>
                    <a:pt x="125301" y="2572003"/>
                  </a:lnTo>
                  <a:lnTo>
                    <a:pt x="111340" y="2528184"/>
                  </a:lnTo>
                  <a:lnTo>
                    <a:pt x="98163" y="2484021"/>
                  </a:lnTo>
                  <a:lnTo>
                    <a:pt x="85776" y="2439522"/>
                  </a:lnTo>
                  <a:lnTo>
                    <a:pt x="74189" y="2394697"/>
                  </a:lnTo>
                  <a:lnTo>
                    <a:pt x="63410" y="2349551"/>
                  </a:lnTo>
                  <a:lnTo>
                    <a:pt x="53446" y="2304095"/>
                  </a:lnTo>
                  <a:lnTo>
                    <a:pt x="44306" y="2258336"/>
                  </a:lnTo>
                  <a:lnTo>
                    <a:pt x="35997" y="2212282"/>
                  </a:lnTo>
                  <a:lnTo>
                    <a:pt x="28529" y="2165942"/>
                  </a:lnTo>
                  <a:lnTo>
                    <a:pt x="21909" y="2119323"/>
                  </a:lnTo>
                  <a:lnTo>
                    <a:pt x="16145" y="2072433"/>
                  </a:lnTo>
                  <a:lnTo>
                    <a:pt x="11246" y="2025281"/>
                  </a:lnTo>
                  <a:lnTo>
                    <a:pt x="7219" y="1977875"/>
                  </a:lnTo>
                  <a:lnTo>
                    <a:pt x="4072" y="1930224"/>
                  </a:lnTo>
                  <a:lnTo>
                    <a:pt x="1815" y="1882334"/>
                  </a:lnTo>
                  <a:lnTo>
                    <a:pt x="455" y="1834214"/>
                  </a:lnTo>
                  <a:lnTo>
                    <a:pt x="0" y="1785874"/>
                  </a:lnTo>
                  <a:lnTo>
                    <a:pt x="455" y="1737537"/>
                  </a:lnTo>
                  <a:lnTo>
                    <a:pt x="1815" y="1689422"/>
                  </a:lnTo>
                  <a:lnTo>
                    <a:pt x="4072" y="1641536"/>
                  </a:lnTo>
                  <a:lnTo>
                    <a:pt x="7219" y="1593888"/>
                  </a:lnTo>
                  <a:lnTo>
                    <a:pt x="11246" y="1546486"/>
                  </a:lnTo>
                  <a:lnTo>
                    <a:pt x="16145" y="1499338"/>
                  </a:lnTo>
                  <a:lnTo>
                    <a:pt x="21909" y="1452452"/>
                  </a:lnTo>
                  <a:lnTo>
                    <a:pt x="28529" y="1405836"/>
                  </a:lnTo>
                  <a:lnTo>
                    <a:pt x="35997" y="1359499"/>
                  </a:lnTo>
                  <a:lnTo>
                    <a:pt x="44306" y="1313448"/>
                  </a:lnTo>
                  <a:lnTo>
                    <a:pt x="53446" y="1267692"/>
                  </a:lnTo>
                  <a:lnTo>
                    <a:pt x="63410" y="1222238"/>
                  </a:lnTo>
                  <a:lnTo>
                    <a:pt x="74189" y="1177096"/>
                  </a:lnTo>
                  <a:lnTo>
                    <a:pt x="85776" y="1132272"/>
                  </a:lnTo>
                  <a:lnTo>
                    <a:pt x="98163" y="1087776"/>
                  </a:lnTo>
                  <a:lnTo>
                    <a:pt x="111340" y="1043616"/>
                  </a:lnTo>
                  <a:lnTo>
                    <a:pt x="125301" y="999799"/>
                  </a:lnTo>
                  <a:lnTo>
                    <a:pt x="140036" y="956333"/>
                  </a:lnTo>
                  <a:lnTo>
                    <a:pt x="155539" y="913227"/>
                  </a:lnTo>
                  <a:lnTo>
                    <a:pt x="171800" y="870489"/>
                  </a:lnTo>
                  <a:lnTo>
                    <a:pt x="188811" y="828128"/>
                  </a:lnTo>
                  <a:lnTo>
                    <a:pt x="206565" y="786150"/>
                  </a:lnTo>
                  <a:lnTo>
                    <a:pt x="225053" y="744565"/>
                  </a:lnTo>
                  <a:lnTo>
                    <a:pt x="244267" y="703380"/>
                  </a:lnTo>
                  <a:lnTo>
                    <a:pt x="264199" y="662604"/>
                  </a:lnTo>
                  <a:lnTo>
                    <a:pt x="284841" y="622245"/>
                  </a:lnTo>
                  <a:lnTo>
                    <a:pt x="306185" y="582311"/>
                  </a:lnTo>
                  <a:lnTo>
                    <a:pt x="328222" y="542810"/>
                  </a:lnTo>
                  <a:lnTo>
                    <a:pt x="350944" y="503750"/>
                  </a:lnTo>
                  <a:lnTo>
                    <a:pt x="374344" y="465139"/>
                  </a:lnTo>
                  <a:lnTo>
                    <a:pt x="398413" y="426986"/>
                  </a:lnTo>
                  <a:lnTo>
                    <a:pt x="423143" y="389298"/>
                  </a:lnTo>
                  <a:lnTo>
                    <a:pt x="448526" y="352084"/>
                  </a:lnTo>
                  <a:lnTo>
                    <a:pt x="474554" y="315352"/>
                  </a:lnTo>
                  <a:lnTo>
                    <a:pt x="501218" y="279111"/>
                  </a:lnTo>
                  <a:lnTo>
                    <a:pt x="528511" y="243367"/>
                  </a:lnTo>
                  <a:lnTo>
                    <a:pt x="556424" y="208130"/>
                  </a:lnTo>
                  <a:lnTo>
                    <a:pt x="584949" y="173407"/>
                  </a:lnTo>
                  <a:lnTo>
                    <a:pt x="614078" y="139206"/>
                  </a:lnTo>
                  <a:lnTo>
                    <a:pt x="643803" y="105537"/>
                  </a:lnTo>
                  <a:lnTo>
                    <a:pt x="674116" y="72406"/>
                  </a:lnTo>
                  <a:lnTo>
                    <a:pt x="705008" y="39823"/>
                  </a:lnTo>
                  <a:lnTo>
                    <a:pt x="736472" y="7794"/>
                  </a:lnTo>
                  <a:lnTo>
                    <a:pt x="744406" y="0"/>
                  </a:lnTo>
                </a:path>
              </a:pathLst>
            </a:custGeom>
            <a:ln w="12700">
              <a:solidFill>
                <a:srgbClr val="0D93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862825" y="2014601"/>
              <a:ext cx="2281555" cy="3129280"/>
            </a:xfrm>
            <a:custGeom>
              <a:avLst/>
              <a:gdLst/>
              <a:ahLst/>
              <a:cxnLst/>
              <a:rect l="l" t="t" r="r" b="b"/>
              <a:pathLst>
                <a:path w="2281554" h="3129279">
                  <a:moveTo>
                    <a:pt x="1600200" y="0"/>
                  </a:moveTo>
                  <a:lnTo>
                    <a:pt x="1552162" y="707"/>
                  </a:lnTo>
                  <a:lnTo>
                    <a:pt x="1504476" y="2815"/>
                  </a:lnTo>
                  <a:lnTo>
                    <a:pt x="1457162" y="6305"/>
                  </a:lnTo>
                  <a:lnTo>
                    <a:pt x="1410239" y="11156"/>
                  </a:lnTo>
                  <a:lnTo>
                    <a:pt x="1363728" y="17349"/>
                  </a:lnTo>
                  <a:lnTo>
                    <a:pt x="1317647" y="24864"/>
                  </a:lnTo>
                  <a:lnTo>
                    <a:pt x="1272017" y="33681"/>
                  </a:lnTo>
                  <a:lnTo>
                    <a:pt x="1226858" y="43781"/>
                  </a:lnTo>
                  <a:lnTo>
                    <a:pt x="1182189" y="55143"/>
                  </a:lnTo>
                  <a:lnTo>
                    <a:pt x="1138031" y="67748"/>
                  </a:lnTo>
                  <a:lnTo>
                    <a:pt x="1094402" y="81576"/>
                  </a:lnTo>
                  <a:lnTo>
                    <a:pt x="1051323" y="96607"/>
                  </a:lnTo>
                  <a:lnTo>
                    <a:pt x="1008814" y="112822"/>
                  </a:lnTo>
                  <a:lnTo>
                    <a:pt x="966894" y="130200"/>
                  </a:lnTo>
                  <a:lnTo>
                    <a:pt x="925584" y="148722"/>
                  </a:lnTo>
                  <a:lnTo>
                    <a:pt x="884902" y="168368"/>
                  </a:lnTo>
                  <a:lnTo>
                    <a:pt x="844870" y="189118"/>
                  </a:lnTo>
                  <a:lnTo>
                    <a:pt x="805505" y="210952"/>
                  </a:lnTo>
                  <a:lnTo>
                    <a:pt x="766830" y="233851"/>
                  </a:lnTo>
                  <a:lnTo>
                    <a:pt x="728862" y="257795"/>
                  </a:lnTo>
                  <a:lnTo>
                    <a:pt x="691622" y="282764"/>
                  </a:lnTo>
                  <a:lnTo>
                    <a:pt x="655131" y="308738"/>
                  </a:lnTo>
                  <a:lnTo>
                    <a:pt x="619406" y="335697"/>
                  </a:lnTo>
                  <a:lnTo>
                    <a:pt x="584469" y="363622"/>
                  </a:lnTo>
                  <a:lnTo>
                    <a:pt x="550340" y="392492"/>
                  </a:lnTo>
                  <a:lnTo>
                    <a:pt x="517037" y="422289"/>
                  </a:lnTo>
                  <a:lnTo>
                    <a:pt x="484581" y="452992"/>
                  </a:lnTo>
                  <a:lnTo>
                    <a:pt x="452992" y="484581"/>
                  </a:lnTo>
                  <a:lnTo>
                    <a:pt x="422289" y="517037"/>
                  </a:lnTo>
                  <a:lnTo>
                    <a:pt x="392492" y="550340"/>
                  </a:lnTo>
                  <a:lnTo>
                    <a:pt x="363622" y="584469"/>
                  </a:lnTo>
                  <a:lnTo>
                    <a:pt x="335697" y="619406"/>
                  </a:lnTo>
                  <a:lnTo>
                    <a:pt x="308738" y="655131"/>
                  </a:lnTo>
                  <a:lnTo>
                    <a:pt x="282764" y="691622"/>
                  </a:lnTo>
                  <a:lnTo>
                    <a:pt x="257795" y="728862"/>
                  </a:lnTo>
                  <a:lnTo>
                    <a:pt x="233851" y="766830"/>
                  </a:lnTo>
                  <a:lnTo>
                    <a:pt x="210952" y="805505"/>
                  </a:lnTo>
                  <a:lnTo>
                    <a:pt x="189118" y="844870"/>
                  </a:lnTo>
                  <a:lnTo>
                    <a:pt x="168368" y="884902"/>
                  </a:lnTo>
                  <a:lnTo>
                    <a:pt x="148722" y="925584"/>
                  </a:lnTo>
                  <a:lnTo>
                    <a:pt x="130200" y="966894"/>
                  </a:lnTo>
                  <a:lnTo>
                    <a:pt x="112822" y="1008814"/>
                  </a:lnTo>
                  <a:lnTo>
                    <a:pt x="96607" y="1051323"/>
                  </a:lnTo>
                  <a:lnTo>
                    <a:pt x="81576" y="1094402"/>
                  </a:lnTo>
                  <a:lnTo>
                    <a:pt x="67748" y="1138031"/>
                  </a:lnTo>
                  <a:lnTo>
                    <a:pt x="55143" y="1182189"/>
                  </a:lnTo>
                  <a:lnTo>
                    <a:pt x="43781" y="1226858"/>
                  </a:lnTo>
                  <a:lnTo>
                    <a:pt x="33681" y="1272017"/>
                  </a:lnTo>
                  <a:lnTo>
                    <a:pt x="24864" y="1317647"/>
                  </a:lnTo>
                  <a:lnTo>
                    <a:pt x="17349" y="1363728"/>
                  </a:lnTo>
                  <a:lnTo>
                    <a:pt x="11156" y="1410239"/>
                  </a:lnTo>
                  <a:lnTo>
                    <a:pt x="6305" y="1457162"/>
                  </a:lnTo>
                  <a:lnTo>
                    <a:pt x="2815" y="1504476"/>
                  </a:lnTo>
                  <a:lnTo>
                    <a:pt x="707" y="1552162"/>
                  </a:lnTo>
                  <a:lnTo>
                    <a:pt x="0" y="1600200"/>
                  </a:lnTo>
                  <a:lnTo>
                    <a:pt x="707" y="1648232"/>
                  </a:lnTo>
                  <a:lnTo>
                    <a:pt x="2815" y="1695914"/>
                  </a:lnTo>
                  <a:lnTo>
                    <a:pt x="6305" y="1743224"/>
                  </a:lnTo>
                  <a:lnTo>
                    <a:pt x="11156" y="1790142"/>
                  </a:lnTo>
                  <a:lnTo>
                    <a:pt x="17349" y="1836650"/>
                  </a:lnTo>
                  <a:lnTo>
                    <a:pt x="24864" y="1882727"/>
                  </a:lnTo>
                  <a:lnTo>
                    <a:pt x="33681" y="1928353"/>
                  </a:lnTo>
                  <a:lnTo>
                    <a:pt x="43781" y="1973509"/>
                  </a:lnTo>
                  <a:lnTo>
                    <a:pt x="55143" y="2018175"/>
                  </a:lnTo>
                  <a:lnTo>
                    <a:pt x="67748" y="2062330"/>
                  </a:lnTo>
                  <a:lnTo>
                    <a:pt x="81576" y="2105956"/>
                  </a:lnTo>
                  <a:lnTo>
                    <a:pt x="96607" y="2149032"/>
                  </a:lnTo>
                  <a:lnTo>
                    <a:pt x="112822" y="2191539"/>
                  </a:lnTo>
                  <a:lnTo>
                    <a:pt x="130200" y="2233457"/>
                  </a:lnTo>
                  <a:lnTo>
                    <a:pt x="148722" y="2274765"/>
                  </a:lnTo>
                  <a:lnTo>
                    <a:pt x="168368" y="2315445"/>
                  </a:lnTo>
                  <a:lnTo>
                    <a:pt x="189118" y="2355476"/>
                  </a:lnTo>
                  <a:lnTo>
                    <a:pt x="210952" y="2394838"/>
                  </a:lnTo>
                  <a:lnTo>
                    <a:pt x="233851" y="2433512"/>
                  </a:lnTo>
                  <a:lnTo>
                    <a:pt x="257795" y="2471479"/>
                  </a:lnTo>
                  <a:lnTo>
                    <a:pt x="282764" y="2508717"/>
                  </a:lnTo>
                  <a:lnTo>
                    <a:pt x="308738" y="2545208"/>
                  </a:lnTo>
                  <a:lnTo>
                    <a:pt x="335697" y="2580931"/>
                  </a:lnTo>
                  <a:lnTo>
                    <a:pt x="363622" y="2615867"/>
                  </a:lnTo>
                  <a:lnTo>
                    <a:pt x="392492" y="2649996"/>
                  </a:lnTo>
                  <a:lnTo>
                    <a:pt x="422289" y="2683298"/>
                  </a:lnTo>
                  <a:lnTo>
                    <a:pt x="452992" y="2715753"/>
                  </a:lnTo>
                  <a:lnTo>
                    <a:pt x="484581" y="2747342"/>
                  </a:lnTo>
                  <a:lnTo>
                    <a:pt x="517037" y="2778044"/>
                  </a:lnTo>
                  <a:lnTo>
                    <a:pt x="550340" y="2807840"/>
                  </a:lnTo>
                  <a:lnTo>
                    <a:pt x="584469" y="2836711"/>
                  </a:lnTo>
                  <a:lnTo>
                    <a:pt x="619406" y="2864636"/>
                  </a:lnTo>
                  <a:lnTo>
                    <a:pt x="655131" y="2891595"/>
                  </a:lnTo>
                  <a:lnTo>
                    <a:pt x="691622" y="2917569"/>
                  </a:lnTo>
                  <a:lnTo>
                    <a:pt x="728862" y="2942537"/>
                  </a:lnTo>
                  <a:lnTo>
                    <a:pt x="766830" y="2966481"/>
                  </a:lnTo>
                  <a:lnTo>
                    <a:pt x="805505" y="2989380"/>
                  </a:lnTo>
                  <a:lnTo>
                    <a:pt x="844870" y="3011215"/>
                  </a:lnTo>
                  <a:lnTo>
                    <a:pt x="884902" y="3031965"/>
                  </a:lnTo>
                  <a:lnTo>
                    <a:pt x="925584" y="3051611"/>
                  </a:lnTo>
                  <a:lnTo>
                    <a:pt x="966894" y="3070133"/>
                  </a:lnTo>
                  <a:lnTo>
                    <a:pt x="1008814" y="3087511"/>
                  </a:lnTo>
                  <a:lnTo>
                    <a:pt x="1051323" y="3103726"/>
                  </a:lnTo>
                  <a:lnTo>
                    <a:pt x="1094402" y="3118757"/>
                  </a:lnTo>
                  <a:lnTo>
                    <a:pt x="1126398" y="3128899"/>
                  </a:lnTo>
                  <a:lnTo>
                    <a:pt x="2073954" y="3128899"/>
                  </a:lnTo>
                  <a:lnTo>
                    <a:pt x="2149025" y="3103726"/>
                  </a:lnTo>
                  <a:lnTo>
                    <a:pt x="2191532" y="3087511"/>
                  </a:lnTo>
                  <a:lnTo>
                    <a:pt x="2233451" y="3070133"/>
                  </a:lnTo>
                  <a:lnTo>
                    <a:pt x="2274760" y="3051611"/>
                  </a:lnTo>
                  <a:lnTo>
                    <a:pt x="2281174" y="3048514"/>
                  </a:lnTo>
                  <a:lnTo>
                    <a:pt x="2281174" y="151819"/>
                  </a:lnTo>
                  <a:lnTo>
                    <a:pt x="2233451" y="130200"/>
                  </a:lnTo>
                  <a:lnTo>
                    <a:pt x="2191532" y="112822"/>
                  </a:lnTo>
                  <a:lnTo>
                    <a:pt x="2149025" y="96607"/>
                  </a:lnTo>
                  <a:lnTo>
                    <a:pt x="2105948" y="81576"/>
                  </a:lnTo>
                  <a:lnTo>
                    <a:pt x="2062322" y="67748"/>
                  </a:lnTo>
                  <a:lnTo>
                    <a:pt x="2018166" y="55143"/>
                  </a:lnTo>
                  <a:lnTo>
                    <a:pt x="1973500" y="43781"/>
                  </a:lnTo>
                  <a:lnTo>
                    <a:pt x="1928345" y="33681"/>
                  </a:lnTo>
                  <a:lnTo>
                    <a:pt x="1882719" y="24864"/>
                  </a:lnTo>
                  <a:lnTo>
                    <a:pt x="1836643" y="17349"/>
                  </a:lnTo>
                  <a:lnTo>
                    <a:pt x="1790136" y="11156"/>
                  </a:lnTo>
                  <a:lnTo>
                    <a:pt x="1743218" y="6305"/>
                  </a:lnTo>
                  <a:lnTo>
                    <a:pt x="1695910" y="2815"/>
                  </a:lnTo>
                  <a:lnTo>
                    <a:pt x="1648230" y="707"/>
                  </a:lnTo>
                  <a:lnTo>
                    <a:pt x="1600200" y="0"/>
                  </a:lnTo>
                  <a:close/>
                </a:path>
              </a:pathLst>
            </a:custGeom>
            <a:solidFill>
              <a:srgbClr val="13B8A6">
                <a:alpha val="1490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30430" y="5056765"/>
              <a:ext cx="219919" cy="9308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862825" y="2014601"/>
              <a:ext cx="2281555" cy="3129280"/>
            </a:xfrm>
            <a:custGeom>
              <a:avLst/>
              <a:gdLst/>
              <a:ahLst/>
              <a:cxnLst/>
              <a:rect l="l" t="t" r="r" b="b"/>
              <a:pathLst>
                <a:path w="2281554" h="3129279">
                  <a:moveTo>
                    <a:pt x="1126398" y="3128899"/>
                  </a:moveTo>
                  <a:lnTo>
                    <a:pt x="1051323" y="3103726"/>
                  </a:lnTo>
                  <a:lnTo>
                    <a:pt x="1008814" y="3087511"/>
                  </a:lnTo>
                  <a:lnTo>
                    <a:pt x="966894" y="3070133"/>
                  </a:lnTo>
                  <a:lnTo>
                    <a:pt x="925584" y="3051611"/>
                  </a:lnTo>
                  <a:lnTo>
                    <a:pt x="884902" y="3031965"/>
                  </a:lnTo>
                  <a:lnTo>
                    <a:pt x="844870" y="3011215"/>
                  </a:lnTo>
                  <a:lnTo>
                    <a:pt x="805505" y="2989380"/>
                  </a:lnTo>
                  <a:lnTo>
                    <a:pt x="766830" y="2966481"/>
                  </a:lnTo>
                  <a:lnTo>
                    <a:pt x="728862" y="2942537"/>
                  </a:lnTo>
                  <a:lnTo>
                    <a:pt x="691622" y="2917569"/>
                  </a:lnTo>
                  <a:lnTo>
                    <a:pt x="655131" y="2891595"/>
                  </a:lnTo>
                  <a:lnTo>
                    <a:pt x="619406" y="2864636"/>
                  </a:lnTo>
                  <a:lnTo>
                    <a:pt x="584469" y="2836711"/>
                  </a:lnTo>
                  <a:lnTo>
                    <a:pt x="550340" y="2807840"/>
                  </a:lnTo>
                  <a:lnTo>
                    <a:pt x="517037" y="2778044"/>
                  </a:lnTo>
                  <a:lnTo>
                    <a:pt x="484581" y="2747342"/>
                  </a:lnTo>
                  <a:lnTo>
                    <a:pt x="452992" y="2715753"/>
                  </a:lnTo>
                  <a:lnTo>
                    <a:pt x="422289" y="2683298"/>
                  </a:lnTo>
                  <a:lnTo>
                    <a:pt x="392492" y="2649996"/>
                  </a:lnTo>
                  <a:lnTo>
                    <a:pt x="363622" y="2615867"/>
                  </a:lnTo>
                  <a:lnTo>
                    <a:pt x="335697" y="2580931"/>
                  </a:lnTo>
                  <a:lnTo>
                    <a:pt x="308738" y="2545208"/>
                  </a:lnTo>
                  <a:lnTo>
                    <a:pt x="282764" y="2508717"/>
                  </a:lnTo>
                  <a:lnTo>
                    <a:pt x="257795" y="2471479"/>
                  </a:lnTo>
                  <a:lnTo>
                    <a:pt x="233851" y="2433512"/>
                  </a:lnTo>
                  <a:lnTo>
                    <a:pt x="210952" y="2394838"/>
                  </a:lnTo>
                  <a:lnTo>
                    <a:pt x="189118" y="2355476"/>
                  </a:lnTo>
                  <a:lnTo>
                    <a:pt x="168368" y="2315445"/>
                  </a:lnTo>
                  <a:lnTo>
                    <a:pt x="148722" y="2274765"/>
                  </a:lnTo>
                  <a:lnTo>
                    <a:pt x="130200" y="2233457"/>
                  </a:lnTo>
                  <a:lnTo>
                    <a:pt x="112822" y="2191539"/>
                  </a:lnTo>
                  <a:lnTo>
                    <a:pt x="96607" y="2149032"/>
                  </a:lnTo>
                  <a:lnTo>
                    <a:pt x="81576" y="2105956"/>
                  </a:lnTo>
                  <a:lnTo>
                    <a:pt x="67748" y="2062330"/>
                  </a:lnTo>
                  <a:lnTo>
                    <a:pt x="55143" y="2018175"/>
                  </a:lnTo>
                  <a:lnTo>
                    <a:pt x="43781" y="1973509"/>
                  </a:lnTo>
                  <a:lnTo>
                    <a:pt x="33681" y="1928353"/>
                  </a:lnTo>
                  <a:lnTo>
                    <a:pt x="24864" y="1882727"/>
                  </a:lnTo>
                  <a:lnTo>
                    <a:pt x="17349" y="1836650"/>
                  </a:lnTo>
                  <a:lnTo>
                    <a:pt x="11156" y="1790142"/>
                  </a:lnTo>
                  <a:lnTo>
                    <a:pt x="6305" y="1743224"/>
                  </a:lnTo>
                  <a:lnTo>
                    <a:pt x="2815" y="1695914"/>
                  </a:lnTo>
                  <a:lnTo>
                    <a:pt x="707" y="1648232"/>
                  </a:lnTo>
                  <a:lnTo>
                    <a:pt x="0" y="1600200"/>
                  </a:lnTo>
                  <a:lnTo>
                    <a:pt x="707" y="1552162"/>
                  </a:lnTo>
                  <a:lnTo>
                    <a:pt x="2815" y="1504476"/>
                  </a:lnTo>
                  <a:lnTo>
                    <a:pt x="6305" y="1457162"/>
                  </a:lnTo>
                  <a:lnTo>
                    <a:pt x="11156" y="1410239"/>
                  </a:lnTo>
                  <a:lnTo>
                    <a:pt x="17349" y="1363728"/>
                  </a:lnTo>
                  <a:lnTo>
                    <a:pt x="24864" y="1317647"/>
                  </a:lnTo>
                  <a:lnTo>
                    <a:pt x="33681" y="1272017"/>
                  </a:lnTo>
                  <a:lnTo>
                    <a:pt x="43781" y="1226858"/>
                  </a:lnTo>
                  <a:lnTo>
                    <a:pt x="55143" y="1182189"/>
                  </a:lnTo>
                  <a:lnTo>
                    <a:pt x="67748" y="1138031"/>
                  </a:lnTo>
                  <a:lnTo>
                    <a:pt x="81576" y="1094402"/>
                  </a:lnTo>
                  <a:lnTo>
                    <a:pt x="96607" y="1051323"/>
                  </a:lnTo>
                  <a:lnTo>
                    <a:pt x="112822" y="1008814"/>
                  </a:lnTo>
                  <a:lnTo>
                    <a:pt x="130200" y="966894"/>
                  </a:lnTo>
                  <a:lnTo>
                    <a:pt x="148722" y="925584"/>
                  </a:lnTo>
                  <a:lnTo>
                    <a:pt x="168368" y="884902"/>
                  </a:lnTo>
                  <a:lnTo>
                    <a:pt x="189118" y="844870"/>
                  </a:lnTo>
                  <a:lnTo>
                    <a:pt x="210952" y="805505"/>
                  </a:lnTo>
                  <a:lnTo>
                    <a:pt x="233851" y="766830"/>
                  </a:lnTo>
                  <a:lnTo>
                    <a:pt x="257795" y="728862"/>
                  </a:lnTo>
                  <a:lnTo>
                    <a:pt x="282764" y="691622"/>
                  </a:lnTo>
                  <a:lnTo>
                    <a:pt x="308738" y="655131"/>
                  </a:lnTo>
                  <a:lnTo>
                    <a:pt x="335697" y="619406"/>
                  </a:lnTo>
                  <a:lnTo>
                    <a:pt x="363622" y="584469"/>
                  </a:lnTo>
                  <a:lnTo>
                    <a:pt x="392492" y="550340"/>
                  </a:lnTo>
                  <a:lnTo>
                    <a:pt x="422289" y="517037"/>
                  </a:lnTo>
                  <a:lnTo>
                    <a:pt x="452992" y="484581"/>
                  </a:lnTo>
                  <a:lnTo>
                    <a:pt x="484581" y="452992"/>
                  </a:lnTo>
                  <a:lnTo>
                    <a:pt x="517037" y="422289"/>
                  </a:lnTo>
                  <a:lnTo>
                    <a:pt x="550340" y="392492"/>
                  </a:lnTo>
                  <a:lnTo>
                    <a:pt x="584469" y="363622"/>
                  </a:lnTo>
                  <a:lnTo>
                    <a:pt x="619406" y="335697"/>
                  </a:lnTo>
                  <a:lnTo>
                    <a:pt x="655131" y="308738"/>
                  </a:lnTo>
                  <a:lnTo>
                    <a:pt x="691622" y="282764"/>
                  </a:lnTo>
                  <a:lnTo>
                    <a:pt x="728862" y="257795"/>
                  </a:lnTo>
                  <a:lnTo>
                    <a:pt x="766830" y="233851"/>
                  </a:lnTo>
                  <a:lnTo>
                    <a:pt x="805505" y="210952"/>
                  </a:lnTo>
                  <a:lnTo>
                    <a:pt x="844870" y="189118"/>
                  </a:lnTo>
                  <a:lnTo>
                    <a:pt x="884902" y="168368"/>
                  </a:lnTo>
                  <a:lnTo>
                    <a:pt x="925584" y="148722"/>
                  </a:lnTo>
                  <a:lnTo>
                    <a:pt x="966894" y="130200"/>
                  </a:lnTo>
                  <a:lnTo>
                    <a:pt x="1008814" y="112822"/>
                  </a:lnTo>
                  <a:lnTo>
                    <a:pt x="1051323" y="96607"/>
                  </a:lnTo>
                  <a:lnTo>
                    <a:pt x="1094402" y="81576"/>
                  </a:lnTo>
                  <a:lnTo>
                    <a:pt x="1138031" y="67748"/>
                  </a:lnTo>
                  <a:lnTo>
                    <a:pt x="1182189" y="55143"/>
                  </a:lnTo>
                  <a:lnTo>
                    <a:pt x="1226858" y="43781"/>
                  </a:lnTo>
                  <a:lnTo>
                    <a:pt x="1272017" y="33681"/>
                  </a:lnTo>
                  <a:lnTo>
                    <a:pt x="1317647" y="24864"/>
                  </a:lnTo>
                  <a:lnTo>
                    <a:pt x="1363728" y="17349"/>
                  </a:lnTo>
                  <a:lnTo>
                    <a:pt x="1410239" y="11156"/>
                  </a:lnTo>
                  <a:lnTo>
                    <a:pt x="1457162" y="6305"/>
                  </a:lnTo>
                  <a:lnTo>
                    <a:pt x="1504476" y="2815"/>
                  </a:lnTo>
                  <a:lnTo>
                    <a:pt x="1552162" y="707"/>
                  </a:lnTo>
                  <a:lnTo>
                    <a:pt x="1600200" y="0"/>
                  </a:lnTo>
                  <a:lnTo>
                    <a:pt x="1648230" y="707"/>
                  </a:lnTo>
                  <a:lnTo>
                    <a:pt x="1695910" y="2815"/>
                  </a:lnTo>
                  <a:lnTo>
                    <a:pt x="1743218" y="6305"/>
                  </a:lnTo>
                  <a:lnTo>
                    <a:pt x="1790136" y="11156"/>
                  </a:lnTo>
                  <a:lnTo>
                    <a:pt x="1836643" y="17349"/>
                  </a:lnTo>
                  <a:lnTo>
                    <a:pt x="1882719" y="24864"/>
                  </a:lnTo>
                  <a:lnTo>
                    <a:pt x="1928345" y="33681"/>
                  </a:lnTo>
                  <a:lnTo>
                    <a:pt x="1973500" y="43781"/>
                  </a:lnTo>
                  <a:lnTo>
                    <a:pt x="2018166" y="55143"/>
                  </a:lnTo>
                  <a:lnTo>
                    <a:pt x="2062322" y="67748"/>
                  </a:lnTo>
                  <a:lnTo>
                    <a:pt x="2105948" y="81576"/>
                  </a:lnTo>
                  <a:lnTo>
                    <a:pt x="2149025" y="96607"/>
                  </a:lnTo>
                  <a:lnTo>
                    <a:pt x="2191532" y="112822"/>
                  </a:lnTo>
                  <a:lnTo>
                    <a:pt x="2233451" y="130200"/>
                  </a:lnTo>
                  <a:lnTo>
                    <a:pt x="2274760" y="148722"/>
                  </a:lnTo>
                  <a:lnTo>
                    <a:pt x="2281174" y="151819"/>
                  </a:lnTo>
                </a:path>
              </a:pathLst>
            </a:custGeom>
            <a:ln w="12700">
              <a:solidFill>
                <a:srgbClr val="13B8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45134" y="987742"/>
            <a:ext cx="269240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97940" algn="l"/>
                <a:tab pos="1507490" algn="l"/>
              </a:tabLst>
            </a:pPr>
            <a:r>
              <a:rPr sz="1050" b="1" dirty="0">
                <a:solidFill>
                  <a:srgbClr val="13B8A6"/>
                </a:solidFill>
                <a:latin typeface="Calibri"/>
                <a:cs typeface="Calibri"/>
              </a:rPr>
              <a:t>M</a:t>
            </a:r>
            <a:r>
              <a:rPr sz="1050" b="1" spc="35" dirty="0">
                <a:solidFill>
                  <a:srgbClr val="13B8A6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13B8A6"/>
                </a:solidFill>
                <a:latin typeface="Calibri"/>
                <a:cs typeface="Calibri"/>
              </a:rPr>
              <a:t>I</a:t>
            </a:r>
            <a:r>
              <a:rPr sz="1050" b="1" spc="80" dirty="0">
                <a:solidFill>
                  <a:srgbClr val="13B8A6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13B8A6"/>
                </a:solidFill>
                <a:latin typeface="Calibri"/>
                <a:cs typeface="Calibri"/>
              </a:rPr>
              <a:t>N</a:t>
            </a:r>
            <a:r>
              <a:rPr sz="1050" b="1" spc="40" dirty="0">
                <a:solidFill>
                  <a:srgbClr val="13B8A6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13B8A6"/>
                </a:solidFill>
                <a:latin typeface="Calibri"/>
                <a:cs typeface="Calibri"/>
              </a:rPr>
              <a:t>I</a:t>
            </a:r>
            <a:r>
              <a:rPr sz="1050" b="1" spc="60" dirty="0">
                <a:solidFill>
                  <a:srgbClr val="13B8A6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13B8A6"/>
                </a:solidFill>
                <a:latin typeface="Calibri"/>
                <a:cs typeface="Calibri"/>
              </a:rPr>
              <a:t>-</a:t>
            </a:r>
            <a:r>
              <a:rPr sz="1050" b="1" spc="65" dirty="0">
                <a:solidFill>
                  <a:srgbClr val="13B8A6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13B8A6"/>
                </a:solidFill>
                <a:latin typeface="Calibri"/>
                <a:cs typeface="Calibri"/>
              </a:rPr>
              <a:t>P</a:t>
            </a:r>
            <a:r>
              <a:rPr sz="1050" b="1" spc="95" dirty="0">
                <a:solidFill>
                  <a:srgbClr val="13B8A6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13B8A6"/>
                </a:solidFill>
                <a:latin typeface="Calibri"/>
                <a:cs typeface="Calibri"/>
              </a:rPr>
              <a:t>R</a:t>
            </a:r>
            <a:r>
              <a:rPr sz="1050" b="1" spc="-10" dirty="0">
                <a:solidFill>
                  <a:srgbClr val="13B8A6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13B8A6"/>
                </a:solidFill>
                <a:latin typeface="Calibri"/>
                <a:cs typeface="Calibri"/>
              </a:rPr>
              <a:t>O</a:t>
            </a:r>
            <a:r>
              <a:rPr sz="1050" b="1" spc="100" dirty="0">
                <a:solidFill>
                  <a:srgbClr val="13B8A6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13B8A6"/>
                </a:solidFill>
                <a:latin typeface="Calibri"/>
                <a:cs typeface="Calibri"/>
              </a:rPr>
              <a:t>J</a:t>
            </a:r>
            <a:r>
              <a:rPr sz="1050" b="1" spc="85" dirty="0">
                <a:solidFill>
                  <a:srgbClr val="13B8A6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13B8A6"/>
                </a:solidFill>
                <a:latin typeface="Calibri"/>
                <a:cs typeface="Calibri"/>
              </a:rPr>
              <a:t>E</a:t>
            </a:r>
            <a:r>
              <a:rPr sz="1050" b="1" spc="-5" dirty="0">
                <a:solidFill>
                  <a:srgbClr val="13B8A6"/>
                </a:solidFill>
                <a:latin typeface="Calibri"/>
                <a:cs typeface="Calibri"/>
              </a:rPr>
              <a:t> </a:t>
            </a:r>
            <a:r>
              <a:rPr sz="1050" b="1" spc="-50" dirty="0">
                <a:solidFill>
                  <a:srgbClr val="13B8A6"/>
                </a:solidFill>
                <a:latin typeface="Calibri"/>
                <a:cs typeface="Calibri"/>
              </a:rPr>
              <a:t>T</a:t>
            </a:r>
            <a:r>
              <a:rPr sz="1050" b="1" dirty="0">
                <a:solidFill>
                  <a:srgbClr val="13B8A6"/>
                </a:solidFill>
                <a:latin typeface="Calibri"/>
                <a:cs typeface="Calibri"/>
              </a:rPr>
              <a:t>	</a:t>
            </a:r>
            <a:r>
              <a:rPr sz="1050" b="1" spc="-50" dirty="0">
                <a:solidFill>
                  <a:srgbClr val="13B8A6"/>
                </a:solidFill>
                <a:latin typeface="Calibri"/>
                <a:cs typeface="Calibri"/>
              </a:rPr>
              <a:t>·</a:t>
            </a:r>
            <a:r>
              <a:rPr sz="1050" b="1" dirty="0">
                <a:solidFill>
                  <a:srgbClr val="13B8A6"/>
                </a:solidFill>
                <a:latin typeface="Calibri"/>
                <a:cs typeface="Calibri"/>
              </a:rPr>
              <a:t>	D</a:t>
            </a:r>
            <a:r>
              <a:rPr sz="1050" b="1" spc="75" dirty="0">
                <a:solidFill>
                  <a:srgbClr val="13B8A6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13B8A6"/>
                </a:solidFill>
                <a:latin typeface="Calibri"/>
                <a:cs typeface="Calibri"/>
              </a:rPr>
              <a:t>A</a:t>
            </a:r>
            <a:r>
              <a:rPr sz="1050" b="1" spc="25" dirty="0">
                <a:solidFill>
                  <a:srgbClr val="13B8A6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13B8A6"/>
                </a:solidFill>
                <a:latin typeface="Calibri"/>
                <a:cs typeface="Calibri"/>
              </a:rPr>
              <a:t>T</a:t>
            </a:r>
            <a:r>
              <a:rPr sz="1050" b="1" spc="65" dirty="0">
                <a:solidFill>
                  <a:srgbClr val="13B8A6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13B8A6"/>
                </a:solidFill>
                <a:latin typeface="Calibri"/>
                <a:cs typeface="Calibri"/>
              </a:rPr>
              <a:t>A</a:t>
            </a:r>
            <a:r>
              <a:rPr sz="1050" b="1" spc="190" dirty="0">
                <a:solidFill>
                  <a:srgbClr val="13B8A6"/>
                </a:solidFill>
                <a:latin typeface="Calibri"/>
                <a:cs typeface="Calibri"/>
              </a:rPr>
              <a:t>  </a:t>
            </a:r>
            <a:r>
              <a:rPr sz="1050" b="1" dirty="0">
                <a:solidFill>
                  <a:srgbClr val="13B8A6"/>
                </a:solidFill>
                <a:latin typeface="Calibri"/>
                <a:cs typeface="Calibri"/>
              </a:rPr>
              <a:t>M</a:t>
            </a:r>
            <a:r>
              <a:rPr sz="1050" b="1" spc="45" dirty="0">
                <a:solidFill>
                  <a:srgbClr val="13B8A6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13B8A6"/>
                </a:solidFill>
                <a:latin typeface="Calibri"/>
                <a:cs typeface="Calibri"/>
              </a:rPr>
              <a:t>I</a:t>
            </a:r>
            <a:r>
              <a:rPr sz="1050" b="1" spc="80" dirty="0">
                <a:solidFill>
                  <a:srgbClr val="13B8A6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13B8A6"/>
                </a:solidFill>
                <a:latin typeface="Calibri"/>
                <a:cs typeface="Calibri"/>
              </a:rPr>
              <a:t>N</a:t>
            </a:r>
            <a:r>
              <a:rPr sz="1050" b="1" spc="45" dirty="0">
                <a:solidFill>
                  <a:srgbClr val="13B8A6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13B8A6"/>
                </a:solidFill>
                <a:latin typeface="Calibri"/>
                <a:cs typeface="Calibri"/>
              </a:rPr>
              <a:t>I</a:t>
            </a:r>
            <a:r>
              <a:rPr sz="1050" b="1" spc="5" dirty="0">
                <a:solidFill>
                  <a:srgbClr val="13B8A6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13B8A6"/>
                </a:solidFill>
                <a:latin typeface="Calibri"/>
                <a:cs typeface="Calibri"/>
              </a:rPr>
              <a:t>N</a:t>
            </a:r>
            <a:r>
              <a:rPr sz="1050" b="1" spc="114" dirty="0">
                <a:solidFill>
                  <a:srgbClr val="13B8A6"/>
                </a:solidFill>
                <a:latin typeface="Calibri"/>
                <a:cs typeface="Calibri"/>
              </a:rPr>
              <a:t> </a:t>
            </a:r>
            <a:r>
              <a:rPr sz="1050" b="1" spc="-50" dirty="0">
                <a:solidFill>
                  <a:srgbClr val="13B8A6"/>
                </a:solidFill>
                <a:latin typeface="Calibri"/>
                <a:cs typeface="Calibri"/>
              </a:rPr>
              <a:t>G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445134" y="1516062"/>
            <a:ext cx="2940050" cy="185420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ct val="101400"/>
              </a:lnSpc>
              <a:spcBef>
                <a:spcPts val="65"/>
              </a:spcBef>
            </a:pPr>
            <a:r>
              <a:rPr sz="3950" dirty="0"/>
              <a:t>Analyse</a:t>
            </a:r>
            <a:r>
              <a:rPr sz="3950" spc="55" dirty="0"/>
              <a:t> </a:t>
            </a:r>
            <a:r>
              <a:rPr sz="3950" spc="-25" dirty="0"/>
              <a:t>des </a:t>
            </a:r>
            <a:r>
              <a:rPr sz="3950" spc="-10" dirty="0"/>
              <a:t>Performances Étudiantes</a:t>
            </a:r>
            <a:endParaRPr sz="3950"/>
          </a:p>
        </p:txBody>
      </p:sp>
      <p:sp>
        <p:nvSpPr>
          <p:cNvPr id="14" name="object 14"/>
          <p:cNvSpPr txBox="1"/>
          <p:nvPr/>
        </p:nvSpPr>
        <p:spPr>
          <a:xfrm>
            <a:off x="445134" y="3699192"/>
            <a:ext cx="326707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i="1" dirty="0">
                <a:solidFill>
                  <a:srgbClr val="93A2B8"/>
                </a:solidFill>
                <a:latin typeface="Calibri"/>
                <a:cs typeface="Calibri"/>
              </a:rPr>
              <a:t>Dataset</a:t>
            </a:r>
            <a:r>
              <a:rPr sz="1050" i="1" spc="-10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93A2B8"/>
                </a:solidFill>
                <a:latin typeface="Calibri"/>
                <a:cs typeface="Calibri"/>
              </a:rPr>
              <a:t>:</a:t>
            </a:r>
            <a:r>
              <a:rPr sz="1050" i="1" spc="-15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93A2B8"/>
                </a:solidFill>
                <a:latin typeface="Calibri"/>
                <a:cs typeface="Calibri"/>
              </a:rPr>
              <a:t>Student</a:t>
            </a:r>
            <a:r>
              <a:rPr sz="1050" i="1" spc="-10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93A2B8"/>
                </a:solidFill>
                <a:latin typeface="Calibri"/>
                <a:cs typeface="Calibri"/>
              </a:rPr>
              <a:t>Performance</a:t>
            </a:r>
            <a:r>
              <a:rPr sz="1050" i="1" spc="204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93A2B8"/>
                </a:solidFill>
                <a:latin typeface="Calibri"/>
                <a:cs typeface="Calibri"/>
              </a:rPr>
              <a:t>·</a:t>
            </a:r>
            <a:r>
              <a:rPr sz="1050" i="1" spc="210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93A2B8"/>
                </a:solidFill>
                <a:latin typeface="Calibri"/>
                <a:cs typeface="Calibri"/>
              </a:rPr>
              <a:t>15</a:t>
            </a:r>
            <a:r>
              <a:rPr sz="1050" i="1" spc="-40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93A2B8"/>
                </a:solidFill>
                <a:latin typeface="Calibri"/>
                <a:cs typeface="Calibri"/>
              </a:rPr>
              <a:t>000</a:t>
            </a:r>
            <a:r>
              <a:rPr sz="1050" i="1" spc="35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93A2B8"/>
                </a:solidFill>
                <a:latin typeface="Calibri"/>
                <a:cs typeface="Calibri"/>
              </a:rPr>
              <a:t>obs.</a:t>
            </a:r>
            <a:r>
              <a:rPr sz="1050" i="1" spc="145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93A2B8"/>
                </a:solidFill>
                <a:latin typeface="Calibri"/>
                <a:cs typeface="Calibri"/>
              </a:rPr>
              <a:t>·</a:t>
            </a:r>
            <a:r>
              <a:rPr sz="1050" i="1" spc="210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93A2B8"/>
                </a:solidFill>
                <a:latin typeface="Calibri"/>
                <a:cs typeface="Calibri"/>
              </a:rPr>
              <a:t>15</a:t>
            </a:r>
            <a:r>
              <a:rPr sz="1050" i="1" spc="30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1050" i="1" spc="-10" dirty="0">
                <a:solidFill>
                  <a:srgbClr val="93A2B8"/>
                </a:solidFill>
                <a:latin typeface="Calibri"/>
                <a:cs typeface="Calibri"/>
              </a:rPr>
              <a:t>variables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1962" y="4071937"/>
            <a:ext cx="2647950" cy="781050"/>
          </a:xfrm>
          <a:prstGeom prst="rect">
            <a:avLst/>
          </a:prstGeom>
          <a:solidFill>
            <a:srgbClr val="7B39EC">
              <a:alpha val="21960"/>
            </a:srgbClr>
          </a:solidFill>
          <a:ln w="12700">
            <a:solidFill>
              <a:srgbClr val="7B39EC"/>
            </a:solidFill>
          </a:ln>
        </p:spPr>
        <p:txBody>
          <a:bodyPr vert="horz" wrap="square" lIns="0" tIns="142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25"/>
              </a:spcBef>
            </a:pPr>
            <a:endParaRPr sz="1100">
              <a:latin typeface="Times New Roman"/>
              <a:cs typeface="Times New Roman"/>
            </a:endParaRPr>
          </a:p>
          <a:p>
            <a:pPr marL="104775">
              <a:lnSpc>
                <a:spcPct val="100000"/>
              </a:lnSpc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01</a:t>
            </a:r>
            <a:r>
              <a:rPr sz="1100" spc="2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Données</a:t>
            </a:r>
            <a:r>
              <a:rPr sz="11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1100" spc="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Statistiques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57626" y="4071937"/>
            <a:ext cx="2657475" cy="781050"/>
          </a:xfrm>
          <a:prstGeom prst="rect">
            <a:avLst/>
          </a:prstGeom>
          <a:solidFill>
            <a:srgbClr val="0D9387">
              <a:alpha val="21960"/>
            </a:srgbClr>
          </a:solidFill>
          <a:ln w="12700">
            <a:solidFill>
              <a:srgbClr val="0D9387"/>
            </a:solidFill>
          </a:ln>
        </p:spPr>
        <p:txBody>
          <a:bodyPr vert="horz" wrap="square" lIns="0" tIns="142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25"/>
              </a:spcBef>
            </a:pPr>
            <a:endParaRPr sz="1100">
              <a:latin typeface="Times New Roman"/>
              <a:cs typeface="Times New Roman"/>
            </a:endParaRPr>
          </a:p>
          <a:p>
            <a:pPr marL="111125">
              <a:lnSpc>
                <a:spcPct val="100000"/>
              </a:lnSpc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02</a:t>
            </a:r>
            <a:r>
              <a:rPr sz="1100" spc="25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Bivariée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1100" spc="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Multivariée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62751" y="4071937"/>
            <a:ext cx="2647950" cy="781050"/>
          </a:xfrm>
          <a:prstGeom prst="rect">
            <a:avLst/>
          </a:prstGeom>
          <a:solidFill>
            <a:srgbClr val="D97705">
              <a:alpha val="21960"/>
            </a:srgbClr>
          </a:solidFill>
          <a:ln w="12700">
            <a:solidFill>
              <a:srgbClr val="D97705"/>
            </a:solidFill>
          </a:ln>
        </p:spPr>
        <p:txBody>
          <a:bodyPr vert="horz" wrap="square" lIns="0" tIns="142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25"/>
              </a:spcBef>
            </a:pPr>
            <a:endParaRPr sz="1100">
              <a:latin typeface="Times New Roman"/>
              <a:cs typeface="Times New Roman"/>
            </a:endParaRPr>
          </a:p>
          <a:p>
            <a:pPr marL="107950">
              <a:lnSpc>
                <a:spcPct val="100000"/>
              </a:lnSpc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03</a:t>
            </a:r>
            <a:r>
              <a:rPr sz="1100" spc="2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Règles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11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Modèles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ML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010525" y="4936807"/>
            <a:ext cx="882650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i="1" dirty="0">
                <a:solidFill>
                  <a:srgbClr val="93A2B8"/>
                </a:solidFill>
                <a:latin typeface="Calibri"/>
                <a:cs typeface="Calibri"/>
              </a:rPr>
              <a:t>Data</a:t>
            </a:r>
            <a:r>
              <a:rPr sz="800" i="1" spc="-65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93A2B8"/>
                </a:solidFill>
                <a:latin typeface="Calibri"/>
                <a:cs typeface="Calibri"/>
              </a:rPr>
              <a:t>Mining</a:t>
            </a:r>
            <a:r>
              <a:rPr sz="800" i="1" spc="-15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93A2B8"/>
                </a:solidFill>
                <a:latin typeface="Calibri"/>
                <a:cs typeface="Calibri"/>
              </a:rPr>
              <a:t>—</a:t>
            </a:r>
            <a:r>
              <a:rPr sz="800" i="1" spc="10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800" i="1" spc="-20" dirty="0">
                <a:solidFill>
                  <a:srgbClr val="93A2B8"/>
                </a:solidFill>
                <a:latin typeface="Calibri"/>
                <a:cs typeface="Calibri"/>
              </a:rPr>
              <a:t>2026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586" y="-1523"/>
            <a:ext cx="9152255" cy="927100"/>
            <a:chOff x="-1586" y="-1523"/>
            <a:chExt cx="9152255" cy="927100"/>
          </a:xfrm>
        </p:grpSpPr>
        <p:sp>
          <p:nvSpPr>
            <p:cNvPr id="3" name="object 3"/>
            <p:cNvSpPr/>
            <p:nvPr/>
          </p:nvSpPr>
          <p:spPr>
            <a:xfrm>
              <a:off x="4763" y="4826"/>
              <a:ext cx="9139555" cy="914400"/>
            </a:xfrm>
            <a:custGeom>
              <a:avLst/>
              <a:gdLst/>
              <a:ahLst/>
              <a:cxnLst/>
              <a:rect l="l" t="t" r="r" b="b"/>
              <a:pathLst>
                <a:path w="9139555" h="914400">
                  <a:moveTo>
                    <a:pt x="9139236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39236" y="914400"/>
                  </a:lnTo>
                  <a:lnTo>
                    <a:pt x="9139236" y="0"/>
                  </a:lnTo>
                  <a:close/>
                </a:path>
              </a:pathLst>
            </a:custGeom>
            <a:solidFill>
              <a:srgbClr val="1B2A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763" y="4826"/>
              <a:ext cx="9139555" cy="914400"/>
            </a:xfrm>
            <a:custGeom>
              <a:avLst/>
              <a:gdLst/>
              <a:ahLst/>
              <a:cxnLst/>
              <a:rect l="l" t="t" r="r" b="b"/>
              <a:pathLst>
                <a:path w="9139555" h="914400">
                  <a:moveTo>
                    <a:pt x="9139236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39236" y="914400"/>
                  </a:lnTo>
                </a:path>
              </a:pathLst>
            </a:custGeom>
            <a:ln w="12700">
              <a:solidFill>
                <a:srgbClr val="1B2A4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Plan</a:t>
            </a:r>
            <a:r>
              <a:rPr spc="-25" dirty="0"/>
              <a:t> </a:t>
            </a:r>
            <a:r>
              <a:rPr dirty="0"/>
              <a:t>de</a:t>
            </a:r>
            <a:r>
              <a:rPr spc="-30" dirty="0"/>
              <a:t> </a:t>
            </a:r>
            <a:r>
              <a:rPr dirty="0"/>
              <a:t>la</a:t>
            </a:r>
            <a:r>
              <a:rPr spc="-5" dirty="0"/>
              <a:t> </a:t>
            </a:r>
            <a:r>
              <a:rPr spc="-10" dirty="0"/>
              <a:t>Présentation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274637" y="1046162"/>
            <a:ext cx="2708275" cy="3813175"/>
            <a:chOff x="274637" y="1046162"/>
            <a:chExt cx="2708275" cy="3813175"/>
          </a:xfrm>
        </p:grpSpPr>
        <p:sp>
          <p:nvSpPr>
            <p:cNvPr id="7" name="object 7"/>
            <p:cNvSpPr/>
            <p:nvPr/>
          </p:nvSpPr>
          <p:spPr>
            <a:xfrm>
              <a:off x="280987" y="1719326"/>
              <a:ext cx="2695575" cy="3133725"/>
            </a:xfrm>
            <a:custGeom>
              <a:avLst/>
              <a:gdLst/>
              <a:ahLst/>
              <a:cxnLst/>
              <a:rect l="l" t="t" r="r" b="b"/>
              <a:pathLst>
                <a:path w="2695575" h="3133725">
                  <a:moveTo>
                    <a:pt x="0" y="3133661"/>
                  </a:moveTo>
                  <a:lnTo>
                    <a:pt x="2695575" y="3133661"/>
                  </a:lnTo>
                  <a:lnTo>
                    <a:pt x="2695575" y="0"/>
                  </a:lnTo>
                  <a:lnTo>
                    <a:pt x="0" y="0"/>
                  </a:lnTo>
                  <a:lnTo>
                    <a:pt x="0" y="3133661"/>
                  </a:lnTo>
                  <a:close/>
                </a:path>
              </a:pathLst>
            </a:custGeom>
            <a:solidFill>
              <a:srgbClr val="7B39EC">
                <a:alpha val="7843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80987" y="1052512"/>
              <a:ext cx="2695575" cy="3800475"/>
            </a:xfrm>
            <a:custGeom>
              <a:avLst/>
              <a:gdLst/>
              <a:ahLst/>
              <a:cxnLst/>
              <a:rect l="l" t="t" r="r" b="b"/>
              <a:pathLst>
                <a:path w="2695575" h="3800475">
                  <a:moveTo>
                    <a:pt x="0" y="3800475"/>
                  </a:moveTo>
                  <a:lnTo>
                    <a:pt x="2695575" y="3800475"/>
                  </a:lnTo>
                  <a:lnTo>
                    <a:pt x="2695575" y="0"/>
                  </a:lnTo>
                  <a:lnTo>
                    <a:pt x="0" y="0"/>
                  </a:lnTo>
                  <a:lnTo>
                    <a:pt x="0" y="3800475"/>
                  </a:lnTo>
                  <a:close/>
                </a:path>
              </a:pathLst>
            </a:custGeom>
            <a:ln w="12700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80987" y="1052544"/>
            <a:ext cx="2695575" cy="667385"/>
          </a:xfrm>
          <a:prstGeom prst="rect">
            <a:avLst/>
          </a:prstGeom>
          <a:solidFill>
            <a:srgbClr val="7B39EC"/>
          </a:solidFill>
          <a:ln w="12700">
            <a:solidFill>
              <a:srgbClr val="7B39EC"/>
            </a:solidFill>
          </a:ln>
        </p:spPr>
        <p:txBody>
          <a:bodyPr vert="horz" wrap="square" lIns="0" tIns="112395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885"/>
              </a:spcBef>
              <a:tabLst>
                <a:tab pos="560705" algn="l"/>
              </a:tabLst>
            </a:pPr>
            <a:r>
              <a:rPr sz="3225" b="1" spc="-37" baseline="-3875" dirty="0">
                <a:solidFill>
                  <a:srgbClr val="FFFFFF"/>
                </a:solidFill>
                <a:latin typeface="Calibri"/>
                <a:cs typeface="Calibri"/>
              </a:rPr>
              <a:t>01</a:t>
            </a:r>
            <a:r>
              <a:rPr sz="3225" b="1" baseline="-3875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Données</a:t>
            </a:r>
            <a:r>
              <a:rPr sz="1100" b="1" spc="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1100" b="1" spc="2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libri"/>
                <a:cs typeface="Calibri"/>
              </a:rPr>
              <a:t>Exploration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74662" y="1903476"/>
            <a:ext cx="193675" cy="2251075"/>
            <a:chOff x="474662" y="1903476"/>
            <a:chExt cx="193675" cy="225107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4662" y="1903476"/>
              <a:ext cx="193675" cy="19367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4662" y="2589276"/>
              <a:ext cx="193675" cy="19367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4662" y="3275076"/>
              <a:ext cx="193675" cy="19367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4662" y="3960812"/>
              <a:ext cx="193675" cy="193675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732155" y="1949386"/>
            <a:ext cx="131953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Présentation</a:t>
            </a:r>
            <a:r>
              <a:rPr sz="1050" spc="-2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du</a:t>
            </a:r>
            <a:r>
              <a:rPr sz="1050" spc="-2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0E172A"/>
                </a:solidFill>
                <a:latin typeface="Calibri"/>
                <a:cs typeface="Calibri"/>
              </a:rPr>
              <a:t>dataset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32155" y="2636456"/>
            <a:ext cx="126492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Nettoyage</a:t>
            </a:r>
            <a:r>
              <a:rPr sz="1050" spc="2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&amp;</a:t>
            </a:r>
            <a:r>
              <a:rPr sz="1050" spc="-6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0E172A"/>
                </a:solidFill>
                <a:latin typeface="Calibri"/>
                <a:cs typeface="Calibri"/>
              </a:rPr>
              <a:t>encodage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32155" y="3323653"/>
            <a:ext cx="123126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0E172A"/>
                </a:solidFill>
                <a:latin typeface="Calibri"/>
                <a:cs typeface="Calibri"/>
              </a:rPr>
              <a:t>Statistiques</a:t>
            </a:r>
            <a:r>
              <a:rPr sz="1050" spc="4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0E172A"/>
                </a:solidFill>
                <a:latin typeface="Calibri"/>
                <a:cs typeface="Calibri"/>
              </a:rPr>
              <a:t>univariées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32155" y="4010659"/>
            <a:ext cx="122872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Analyse</a:t>
            </a:r>
            <a:r>
              <a:rPr sz="1050" spc="-2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de</a:t>
            </a:r>
            <a:r>
              <a:rPr sz="1050" spc="-1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fiabilité</a:t>
            </a:r>
            <a:r>
              <a:rPr sz="1050" spc="-2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spc="-25" dirty="0">
                <a:solidFill>
                  <a:srgbClr val="0E172A"/>
                </a:solidFill>
                <a:latin typeface="Calibri"/>
                <a:cs typeface="Calibri"/>
              </a:rPr>
              <a:t>(α)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179826" y="1046162"/>
            <a:ext cx="2708275" cy="3813175"/>
            <a:chOff x="3179826" y="1046162"/>
            <a:chExt cx="2708275" cy="3813175"/>
          </a:xfrm>
        </p:grpSpPr>
        <p:sp>
          <p:nvSpPr>
            <p:cNvPr id="20" name="object 20"/>
            <p:cNvSpPr/>
            <p:nvPr/>
          </p:nvSpPr>
          <p:spPr>
            <a:xfrm>
              <a:off x="3186176" y="1719326"/>
              <a:ext cx="2695575" cy="3133725"/>
            </a:xfrm>
            <a:custGeom>
              <a:avLst/>
              <a:gdLst/>
              <a:ahLst/>
              <a:cxnLst/>
              <a:rect l="l" t="t" r="r" b="b"/>
              <a:pathLst>
                <a:path w="2695575" h="3133725">
                  <a:moveTo>
                    <a:pt x="0" y="3133661"/>
                  </a:moveTo>
                  <a:lnTo>
                    <a:pt x="2695575" y="3133661"/>
                  </a:lnTo>
                  <a:lnTo>
                    <a:pt x="2695575" y="0"/>
                  </a:lnTo>
                  <a:lnTo>
                    <a:pt x="0" y="0"/>
                  </a:lnTo>
                  <a:lnTo>
                    <a:pt x="0" y="3133661"/>
                  </a:lnTo>
                  <a:close/>
                </a:path>
              </a:pathLst>
            </a:custGeom>
            <a:solidFill>
              <a:srgbClr val="0D9387">
                <a:alpha val="7843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186176" y="1052512"/>
              <a:ext cx="2695575" cy="3800475"/>
            </a:xfrm>
            <a:custGeom>
              <a:avLst/>
              <a:gdLst/>
              <a:ahLst/>
              <a:cxnLst/>
              <a:rect l="l" t="t" r="r" b="b"/>
              <a:pathLst>
                <a:path w="2695575" h="3800475">
                  <a:moveTo>
                    <a:pt x="0" y="3800475"/>
                  </a:moveTo>
                  <a:lnTo>
                    <a:pt x="2695575" y="3800475"/>
                  </a:lnTo>
                  <a:lnTo>
                    <a:pt x="2695575" y="0"/>
                  </a:lnTo>
                  <a:lnTo>
                    <a:pt x="0" y="0"/>
                  </a:lnTo>
                  <a:lnTo>
                    <a:pt x="0" y="3800475"/>
                  </a:lnTo>
                  <a:close/>
                </a:path>
              </a:pathLst>
            </a:custGeom>
            <a:ln w="12700">
              <a:solidFill>
                <a:srgbClr val="0D93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186176" y="1052544"/>
            <a:ext cx="2695575" cy="667385"/>
          </a:xfrm>
          <a:prstGeom prst="rect">
            <a:avLst/>
          </a:prstGeom>
          <a:solidFill>
            <a:srgbClr val="0D9387"/>
          </a:solidFill>
          <a:ln w="12700">
            <a:solidFill>
              <a:srgbClr val="0D9387"/>
            </a:solidFill>
          </a:ln>
        </p:spPr>
        <p:txBody>
          <a:bodyPr vert="horz" wrap="square" lIns="0" tIns="11239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885"/>
              </a:spcBef>
              <a:tabLst>
                <a:tab pos="566420" algn="l"/>
              </a:tabLst>
            </a:pPr>
            <a:r>
              <a:rPr sz="3225" b="1" spc="-37" baseline="-3875" dirty="0">
                <a:solidFill>
                  <a:srgbClr val="FFFFFF"/>
                </a:solidFill>
                <a:latin typeface="Calibri"/>
                <a:cs typeface="Calibri"/>
              </a:rPr>
              <a:t>02</a:t>
            </a:r>
            <a:r>
              <a:rPr sz="3225" b="1" baseline="-3875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Bivariée</a:t>
            </a:r>
            <a:r>
              <a:rPr sz="1100" b="1" spc="1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1100" b="1" spc="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libri"/>
                <a:cs typeface="Calibri"/>
              </a:rPr>
              <a:t>Multivariée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379851" y="1903476"/>
            <a:ext cx="193675" cy="2251075"/>
            <a:chOff x="3379851" y="1903476"/>
            <a:chExt cx="193675" cy="2251075"/>
          </a:xfrm>
        </p:grpSpPr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79851" y="1903476"/>
              <a:ext cx="193675" cy="193675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79851" y="2589276"/>
              <a:ext cx="193675" cy="19367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79851" y="3275076"/>
              <a:ext cx="193675" cy="193675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79851" y="3960812"/>
              <a:ext cx="193675" cy="193675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3642995" y="1949386"/>
            <a:ext cx="150685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Num ×</a:t>
            </a:r>
            <a:r>
              <a:rPr sz="1050" spc="-2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Num</a:t>
            </a:r>
            <a:r>
              <a:rPr sz="1050" spc="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—</a:t>
            </a:r>
            <a:r>
              <a:rPr sz="1050" spc="-2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0E172A"/>
                </a:solidFill>
                <a:latin typeface="Calibri"/>
                <a:cs typeface="Calibri"/>
              </a:rPr>
              <a:t>Corrélations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642995" y="2636456"/>
            <a:ext cx="123444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Num ×</a:t>
            </a:r>
            <a:r>
              <a:rPr sz="1050" spc="-1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Cat</a:t>
            </a:r>
            <a:r>
              <a:rPr sz="1050" spc="-1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—</a:t>
            </a:r>
            <a:r>
              <a:rPr sz="1050" spc="-2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0E172A"/>
                </a:solidFill>
                <a:latin typeface="Calibri"/>
                <a:cs typeface="Calibri"/>
              </a:rPr>
              <a:t>Boxplots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642995" y="3323653"/>
            <a:ext cx="146431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Cat</a:t>
            </a:r>
            <a:r>
              <a:rPr sz="1050" spc="-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×</a:t>
            </a:r>
            <a:r>
              <a:rPr sz="1050" spc="-1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Cat —</a:t>
            </a:r>
            <a:r>
              <a:rPr sz="1050" spc="-2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Tableau</a:t>
            </a:r>
            <a:r>
              <a:rPr sz="1050" spc="-4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0E172A"/>
                </a:solidFill>
                <a:latin typeface="Calibri"/>
                <a:cs typeface="Calibri"/>
              </a:rPr>
              <a:t>croisé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642995" y="4010659"/>
            <a:ext cx="55753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ACP</a:t>
            </a:r>
            <a:r>
              <a:rPr sz="1050" spc="-3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/</a:t>
            </a:r>
            <a:r>
              <a:rPr sz="1050" spc="4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spc="-25" dirty="0">
                <a:solidFill>
                  <a:srgbClr val="0E172A"/>
                </a:solidFill>
                <a:latin typeface="Calibri"/>
                <a:cs typeface="Calibri"/>
              </a:rPr>
              <a:t>PCA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084951" y="1046162"/>
            <a:ext cx="2717800" cy="3813175"/>
            <a:chOff x="6084951" y="1046162"/>
            <a:chExt cx="2717800" cy="3813175"/>
          </a:xfrm>
        </p:grpSpPr>
        <p:sp>
          <p:nvSpPr>
            <p:cNvPr id="33" name="object 33"/>
            <p:cNvSpPr/>
            <p:nvPr/>
          </p:nvSpPr>
          <p:spPr>
            <a:xfrm>
              <a:off x="6091301" y="1719326"/>
              <a:ext cx="2705100" cy="3133725"/>
            </a:xfrm>
            <a:custGeom>
              <a:avLst/>
              <a:gdLst/>
              <a:ahLst/>
              <a:cxnLst/>
              <a:rect l="l" t="t" r="r" b="b"/>
              <a:pathLst>
                <a:path w="2705100" h="3133725">
                  <a:moveTo>
                    <a:pt x="0" y="3133661"/>
                  </a:moveTo>
                  <a:lnTo>
                    <a:pt x="2705100" y="3133661"/>
                  </a:lnTo>
                  <a:lnTo>
                    <a:pt x="2705100" y="0"/>
                  </a:lnTo>
                  <a:lnTo>
                    <a:pt x="0" y="0"/>
                  </a:lnTo>
                  <a:lnTo>
                    <a:pt x="0" y="3133661"/>
                  </a:lnTo>
                  <a:close/>
                </a:path>
              </a:pathLst>
            </a:custGeom>
            <a:solidFill>
              <a:srgbClr val="D97705">
                <a:alpha val="7843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091301" y="1052512"/>
              <a:ext cx="2705100" cy="3800475"/>
            </a:xfrm>
            <a:custGeom>
              <a:avLst/>
              <a:gdLst/>
              <a:ahLst/>
              <a:cxnLst/>
              <a:rect l="l" t="t" r="r" b="b"/>
              <a:pathLst>
                <a:path w="2705100" h="3800475">
                  <a:moveTo>
                    <a:pt x="0" y="3800475"/>
                  </a:moveTo>
                  <a:lnTo>
                    <a:pt x="2705100" y="3800475"/>
                  </a:lnTo>
                  <a:lnTo>
                    <a:pt x="2705100" y="0"/>
                  </a:lnTo>
                  <a:lnTo>
                    <a:pt x="0" y="0"/>
                  </a:lnTo>
                  <a:lnTo>
                    <a:pt x="0" y="3800475"/>
                  </a:lnTo>
                  <a:close/>
                </a:path>
              </a:pathLst>
            </a:custGeom>
            <a:ln w="12700">
              <a:solidFill>
                <a:srgbClr val="D9770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091301" y="1052544"/>
            <a:ext cx="2705100" cy="667385"/>
          </a:xfrm>
          <a:prstGeom prst="rect">
            <a:avLst/>
          </a:prstGeom>
          <a:solidFill>
            <a:srgbClr val="D97705"/>
          </a:solidFill>
          <a:ln w="12700">
            <a:solidFill>
              <a:srgbClr val="D97705"/>
            </a:solidFill>
          </a:ln>
        </p:spPr>
        <p:txBody>
          <a:bodyPr vert="horz" wrap="square" lIns="0" tIns="112395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885"/>
              </a:spcBef>
              <a:tabLst>
                <a:tab pos="572135" algn="l"/>
              </a:tabLst>
            </a:pPr>
            <a:r>
              <a:rPr sz="3225" b="1" spc="-37" baseline="-3875" dirty="0">
                <a:solidFill>
                  <a:srgbClr val="FFFFFF"/>
                </a:solidFill>
                <a:latin typeface="Calibri"/>
                <a:cs typeface="Calibri"/>
              </a:rPr>
              <a:t>03</a:t>
            </a:r>
            <a:r>
              <a:rPr sz="3225" b="1" baseline="-3875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Règles</a:t>
            </a:r>
            <a:r>
              <a:rPr sz="1100" b="1" spc="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1100" b="1" spc="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Modèles</a:t>
            </a:r>
            <a:r>
              <a:rPr sz="1100" b="1" spc="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spc="-35" dirty="0">
                <a:solidFill>
                  <a:srgbClr val="FFFFFF"/>
                </a:solidFill>
                <a:latin typeface="Calibri"/>
                <a:cs typeface="Calibri"/>
              </a:rPr>
              <a:t>ML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6284976" y="1903476"/>
            <a:ext cx="203200" cy="2251075"/>
            <a:chOff x="6284976" y="1903476"/>
            <a:chExt cx="203200" cy="2251075"/>
          </a:xfrm>
        </p:grpSpPr>
        <p:pic>
          <p:nvPicPr>
            <p:cNvPr id="37" name="object 3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284976" y="1903476"/>
              <a:ext cx="203200" cy="193675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284976" y="2589276"/>
              <a:ext cx="203200" cy="193675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284976" y="3275076"/>
              <a:ext cx="203200" cy="193675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284976" y="3960812"/>
              <a:ext cx="203200" cy="193675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6553834" y="1949386"/>
            <a:ext cx="149987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Règles</a:t>
            </a:r>
            <a:r>
              <a:rPr sz="1050" spc="-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0E172A"/>
                </a:solidFill>
                <a:latin typeface="Calibri"/>
                <a:cs typeface="Calibri"/>
              </a:rPr>
              <a:t>d'association</a:t>
            </a:r>
            <a:r>
              <a:rPr sz="1050" spc="1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0E172A"/>
                </a:solidFill>
                <a:latin typeface="Calibri"/>
                <a:cs typeface="Calibri"/>
              </a:rPr>
              <a:t>Apriori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553834" y="2636456"/>
            <a:ext cx="123380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Arbre</a:t>
            </a:r>
            <a:r>
              <a:rPr sz="1050" spc="-1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de</a:t>
            </a:r>
            <a:r>
              <a:rPr sz="1050" spc="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0E172A"/>
                </a:solidFill>
                <a:latin typeface="Calibri"/>
                <a:cs typeface="Calibri"/>
              </a:rPr>
              <a:t>Décision</a:t>
            </a:r>
            <a:r>
              <a:rPr sz="1050" spc="-20" dirty="0">
                <a:solidFill>
                  <a:srgbClr val="0E172A"/>
                </a:solidFill>
                <a:latin typeface="Calibri"/>
                <a:cs typeface="Calibri"/>
              </a:rPr>
              <a:t> (DT)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553834" y="3323653"/>
            <a:ext cx="108140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Random</a:t>
            </a:r>
            <a:r>
              <a:rPr sz="1050" spc="-1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Forest</a:t>
            </a:r>
            <a:r>
              <a:rPr sz="1050" spc="-4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spc="-20" dirty="0">
                <a:solidFill>
                  <a:srgbClr val="0E172A"/>
                </a:solidFill>
                <a:latin typeface="Calibri"/>
                <a:cs typeface="Calibri"/>
              </a:rPr>
              <a:t>(RF)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553834" y="4010659"/>
            <a:ext cx="152146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0E172A"/>
                </a:solidFill>
                <a:latin typeface="Calibri"/>
                <a:cs typeface="Calibri"/>
              </a:rPr>
              <a:t>Comparaison</a:t>
            </a:r>
            <a:r>
              <a:rPr sz="1050" spc="-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&amp;</a:t>
            </a:r>
            <a:r>
              <a:rPr sz="1050" spc="6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0E172A"/>
                </a:solidFill>
                <a:latin typeface="Calibri"/>
                <a:cs typeface="Calibri"/>
              </a:rPr>
              <a:t>Conclusions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670929" y="4936807"/>
            <a:ext cx="2221865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i="1" dirty="0">
                <a:solidFill>
                  <a:srgbClr val="93A2B8"/>
                </a:solidFill>
                <a:latin typeface="Calibri"/>
                <a:cs typeface="Calibri"/>
              </a:rPr>
              <a:t>Data</a:t>
            </a:r>
            <a:r>
              <a:rPr sz="800" i="1" spc="-80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93A2B8"/>
                </a:solidFill>
                <a:latin typeface="Calibri"/>
                <a:cs typeface="Calibri"/>
              </a:rPr>
              <a:t>Mining</a:t>
            </a:r>
            <a:r>
              <a:rPr sz="800" i="1" spc="-40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93A2B8"/>
                </a:solidFill>
                <a:latin typeface="Calibri"/>
                <a:cs typeface="Calibri"/>
              </a:rPr>
              <a:t>—</a:t>
            </a:r>
            <a:r>
              <a:rPr sz="800" i="1" spc="-15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93A2B8"/>
                </a:solidFill>
                <a:latin typeface="Calibri"/>
                <a:cs typeface="Calibri"/>
              </a:rPr>
              <a:t>Analyse</a:t>
            </a:r>
            <a:r>
              <a:rPr sz="800" i="1" spc="-45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93A2B8"/>
                </a:solidFill>
                <a:latin typeface="Calibri"/>
                <a:cs typeface="Calibri"/>
              </a:rPr>
              <a:t>des</a:t>
            </a:r>
            <a:r>
              <a:rPr sz="800" i="1" spc="-45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93A2B8"/>
                </a:solidFill>
                <a:latin typeface="Calibri"/>
                <a:cs typeface="Calibri"/>
              </a:rPr>
              <a:t>Performances</a:t>
            </a:r>
            <a:r>
              <a:rPr sz="800" i="1" spc="40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800" i="1" spc="-10" dirty="0">
                <a:solidFill>
                  <a:srgbClr val="93A2B8"/>
                </a:solidFill>
                <a:latin typeface="Calibri"/>
                <a:cs typeface="Calibri"/>
              </a:rPr>
              <a:t>Étudiantes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7B39E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6350" y="-6350"/>
            <a:ext cx="4132579" cy="4132579"/>
            <a:chOff x="-6350" y="-6350"/>
            <a:chExt cx="4132579" cy="4132579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4119879" cy="4119879"/>
            </a:xfrm>
            <a:custGeom>
              <a:avLst/>
              <a:gdLst/>
              <a:ahLst/>
              <a:cxnLst/>
              <a:rect l="l" t="t" r="r" b="b"/>
              <a:pathLst>
                <a:path w="4119879" h="4119879">
                  <a:moveTo>
                    <a:pt x="3540841" y="0"/>
                  </a:moveTo>
                  <a:lnTo>
                    <a:pt x="0" y="0"/>
                  </a:lnTo>
                  <a:lnTo>
                    <a:pt x="0" y="3540769"/>
                  </a:lnTo>
                  <a:lnTo>
                    <a:pt x="62432" y="3591027"/>
                  </a:lnTo>
                  <a:lnTo>
                    <a:pt x="98175" y="3618320"/>
                  </a:lnTo>
                  <a:lnTo>
                    <a:pt x="134416" y="3644986"/>
                  </a:lnTo>
                  <a:lnTo>
                    <a:pt x="171147" y="3671014"/>
                  </a:lnTo>
                  <a:lnTo>
                    <a:pt x="208360" y="3696398"/>
                  </a:lnTo>
                  <a:lnTo>
                    <a:pt x="246046" y="3721129"/>
                  </a:lnTo>
                  <a:lnTo>
                    <a:pt x="284199" y="3745199"/>
                  </a:lnTo>
                  <a:lnTo>
                    <a:pt x="322808" y="3768600"/>
                  </a:lnTo>
                  <a:lnTo>
                    <a:pt x="361867" y="3791324"/>
                  </a:lnTo>
                  <a:lnTo>
                    <a:pt x="401368" y="3813362"/>
                  </a:lnTo>
                  <a:lnTo>
                    <a:pt x="441301" y="3834707"/>
                  </a:lnTo>
                  <a:lnTo>
                    <a:pt x="481659" y="3855349"/>
                  </a:lnTo>
                  <a:lnTo>
                    <a:pt x="522434" y="3875282"/>
                  </a:lnTo>
                  <a:lnTo>
                    <a:pt x="563618" y="3894497"/>
                  </a:lnTo>
                  <a:lnTo>
                    <a:pt x="605202" y="3912986"/>
                  </a:lnTo>
                  <a:lnTo>
                    <a:pt x="647178" y="3930741"/>
                  </a:lnTo>
                  <a:lnTo>
                    <a:pt x="689539" y="3947753"/>
                  </a:lnTo>
                  <a:lnTo>
                    <a:pt x="732276" y="3964015"/>
                  </a:lnTo>
                  <a:lnTo>
                    <a:pt x="775380" y="3979518"/>
                  </a:lnTo>
                  <a:lnTo>
                    <a:pt x="818845" y="3994254"/>
                  </a:lnTo>
                  <a:lnTo>
                    <a:pt x="862661" y="4008215"/>
                  </a:lnTo>
                  <a:lnTo>
                    <a:pt x="906820" y="4021394"/>
                  </a:lnTo>
                  <a:lnTo>
                    <a:pt x="951315" y="4033781"/>
                  </a:lnTo>
                  <a:lnTo>
                    <a:pt x="996137" y="4045368"/>
                  </a:lnTo>
                  <a:lnTo>
                    <a:pt x="1041278" y="4056148"/>
                  </a:lnTo>
                  <a:lnTo>
                    <a:pt x="1086731" y="4066113"/>
                  </a:lnTo>
                  <a:lnTo>
                    <a:pt x="1132486" y="4075253"/>
                  </a:lnTo>
                  <a:lnTo>
                    <a:pt x="1178535" y="4083562"/>
                  </a:lnTo>
                  <a:lnTo>
                    <a:pt x="1224871" y="4091031"/>
                  </a:lnTo>
                  <a:lnTo>
                    <a:pt x="1271486" y="4097651"/>
                  </a:lnTo>
                  <a:lnTo>
                    <a:pt x="1318371" y="4103416"/>
                  </a:lnTo>
                  <a:lnTo>
                    <a:pt x="1365518" y="4108315"/>
                  </a:lnTo>
                  <a:lnTo>
                    <a:pt x="1412918" y="4112342"/>
                  </a:lnTo>
                  <a:lnTo>
                    <a:pt x="1460565" y="4115489"/>
                  </a:lnTo>
                  <a:lnTo>
                    <a:pt x="1508449" y="4117746"/>
                  </a:lnTo>
                  <a:lnTo>
                    <a:pt x="1556563" y="4119107"/>
                  </a:lnTo>
                  <a:lnTo>
                    <a:pt x="1604899" y="4119562"/>
                  </a:lnTo>
                  <a:lnTo>
                    <a:pt x="1653239" y="4119107"/>
                  </a:lnTo>
                  <a:lnTo>
                    <a:pt x="1701359" y="4117746"/>
                  </a:lnTo>
                  <a:lnTo>
                    <a:pt x="1749249" y="4115489"/>
                  </a:lnTo>
                  <a:lnTo>
                    <a:pt x="1796901" y="4112342"/>
                  </a:lnTo>
                  <a:lnTo>
                    <a:pt x="1844307" y="4108315"/>
                  </a:lnTo>
                  <a:lnTo>
                    <a:pt x="1891459" y="4103416"/>
                  </a:lnTo>
                  <a:lnTo>
                    <a:pt x="1938349" y="4097651"/>
                  </a:lnTo>
                  <a:lnTo>
                    <a:pt x="1984968" y="4091031"/>
                  </a:lnTo>
                  <a:lnTo>
                    <a:pt x="2031309" y="4083562"/>
                  </a:lnTo>
                  <a:lnTo>
                    <a:pt x="2077364" y="4075253"/>
                  </a:lnTo>
                  <a:lnTo>
                    <a:pt x="2123123" y="4066113"/>
                  </a:lnTo>
                  <a:lnTo>
                    <a:pt x="2168580" y="4056148"/>
                  </a:lnTo>
                  <a:lnTo>
                    <a:pt x="2213726" y="4045368"/>
                  </a:lnTo>
                  <a:lnTo>
                    <a:pt x="2258552" y="4033781"/>
                  </a:lnTo>
                  <a:lnTo>
                    <a:pt x="2303051" y="4021394"/>
                  </a:lnTo>
                  <a:lnTo>
                    <a:pt x="2347215" y="4008215"/>
                  </a:lnTo>
                  <a:lnTo>
                    <a:pt x="2391035" y="3994254"/>
                  </a:lnTo>
                  <a:lnTo>
                    <a:pt x="2434503" y="3979518"/>
                  </a:lnTo>
                  <a:lnTo>
                    <a:pt x="2477612" y="3964015"/>
                  </a:lnTo>
                  <a:lnTo>
                    <a:pt x="2520352" y="3947753"/>
                  </a:lnTo>
                  <a:lnTo>
                    <a:pt x="2562716" y="3930741"/>
                  </a:lnTo>
                  <a:lnTo>
                    <a:pt x="2604696" y="3912986"/>
                  </a:lnTo>
                  <a:lnTo>
                    <a:pt x="2646284" y="3894497"/>
                  </a:lnTo>
                  <a:lnTo>
                    <a:pt x="2687471" y="3875282"/>
                  </a:lnTo>
                  <a:lnTo>
                    <a:pt x="2728249" y="3855349"/>
                  </a:lnTo>
                  <a:lnTo>
                    <a:pt x="2768611" y="3834707"/>
                  </a:lnTo>
                  <a:lnTo>
                    <a:pt x="2808547" y="3813362"/>
                  </a:lnTo>
                  <a:lnTo>
                    <a:pt x="2848050" y="3791324"/>
                  </a:lnTo>
                  <a:lnTo>
                    <a:pt x="2887112" y="3768600"/>
                  </a:lnTo>
                  <a:lnTo>
                    <a:pt x="2925725" y="3745199"/>
                  </a:lnTo>
                  <a:lnTo>
                    <a:pt x="2963880" y="3721129"/>
                  </a:lnTo>
                  <a:lnTo>
                    <a:pt x="3001569" y="3696398"/>
                  </a:lnTo>
                  <a:lnTo>
                    <a:pt x="3038785" y="3671014"/>
                  </a:lnTo>
                  <a:lnTo>
                    <a:pt x="3075518" y="3644986"/>
                  </a:lnTo>
                  <a:lnTo>
                    <a:pt x="3111762" y="3618320"/>
                  </a:lnTo>
                  <a:lnTo>
                    <a:pt x="3147507" y="3591027"/>
                  </a:lnTo>
                  <a:lnTo>
                    <a:pt x="3182746" y="3563113"/>
                  </a:lnTo>
                  <a:lnTo>
                    <a:pt x="3217470" y="3534586"/>
                  </a:lnTo>
                  <a:lnTo>
                    <a:pt x="3251672" y="3505456"/>
                  </a:lnTo>
                  <a:lnTo>
                    <a:pt x="3285343" y="3475730"/>
                  </a:lnTo>
                  <a:lnTo>
                    <a:pt x="3318475" y="3445416"/>
                  </a:lnTo>
                  <a:lnTo>
                    <a:pt x="3351059" y="3414522"/>
                  </a:lnTo>
                  <a:lnTo>
                    <a:pt x="3383089" y="3383057"/>
                  </a:lnTo>
                  <a:lnTo>
                    <a:pt x="3414555" y="3351029"/>
                  </a:lnTo>
                  <a:lnTo>
                    <a:pt x="3445450" y="3318445"/>
                  </a:lnTo>
                  <a:lnTo>
                    <a:pt x="3475765" y="3285314"/>
                  </a:lnTo>
                  <a:lnTo>
                    <a:pt x="3505492" y="3251645"/>
                  </a:lnTo>
                  <a:lnTo>
                    <a:pt x="3534624" y="3217444"/>
                  </a:lnTo>
                  <a:lnTo>
                    <a:pt x="3563151" y="3182721"/>
                  </a:lnTo>
                  <a:lnTo>
                    <a:pt x="3591066" y="3147483"/>
                  </a:lnTo>
                  <a:lnTo>
                    <a:pt x="3618361" y="3111739"/>
                  </a:lnTo>
                  <a:lnTo>
                    <a:pt x="3645027" y="3075497"/>
                  </a:lnTo>
                  <a:lnTo>
                    <a:pt x="3671057" y="3038764"/>
                  </a:lnTo>
                  <a:lnTo>
                    <a:pt x="3696442" y="3001550"/>
                  </a:lnTo>
                  <a:lnTo>
                    <a:pt x="3721174" y="2963861"/>
                  </a:lnTo>
                  <a:lnTo>
                    <a:pt x="3745245" y="2925707"/>
                  </a:lnTo>
                  <a:lnTo>
                    <a:pt x="3768647" y="2887096"/>
                  </a:lnTo>
                  <a:lnTo>
                    <a:pt x="3791372" y="2848035"/>
                  </a:lnTo>
                  <a:lnTo>
                    <a:pt x="3813411" y="2808532"/>
                  </a:lnTo>
                  <a:lnTo>
                    <a:pt x="3834756" y="2768597"/>
                  </a:lnTo>
                  <a:lnTo>
                    <a:pt x="3855400" y="2728236"/>
                  </a:lnTo>
                  <a:lnTo>
                    <a:pt x="3875334" y="2687459"/>
                  </a:lnTo>
                  <a:lnTo>
                    <a:pt x="3894550" y="2646273"/>
                  </a:lnTo>
                  <a:lnTo>
                    <a:pt x="3913039" y="2604686"/>
                  </a:lnTo>
                  <a:lnTo>
                    <a:pt x="3930795" y="2562707"/>
                  </a:lnTo>
                  <a:lnTo>
                    <a:pt x="3947808" y="2520343"/>
                  </a:lnTo>
                  <a:lnTo>
                    <a:pt x="3964071" y="2477604"/>
                  </a:lnTo>
                  <a:lnTo>
                    <a:pt x="3979574" y="2434496"/>
                  </a:lnTo>
                  <a:lnTo>
                    <a:pt x="3994311" y="2391028"/>
                  </a:lnTo>
                  <a:lnTo>
                    <a:pt x="4008273" y="2347209"/>
                  </a:lnTo>
                  <a:lnTo>
                    <a:pt x="4021452" y="2303046"/>
                  </a:lnTo>
                  <a:lnTo>
                    <a:pt x="4033840" y="2258547"/>
                  </a:lnTo>
                  <a:lnTo>
                    <a:pt x="4045428" y="2213722"/>
                  </a:lnTo>
                  <a:lnTo>
                    <a:pt x="4056208" y="2168576"/>
                  </a:lnTo>
                  <a:lnTo>
                    <a:pt x="4066173" y="2123120"/>
                  </a:lnTo>
                  <a:lnTo>
                    <a:pt x="4075315" y="2077361"/>
                  </a:lnTo>
                  <a:lnTo>
                    <a:pt x="4083624" y="2031307"/>
                  </a:lnTo>
                  <a:lnTo>
                    <a:pt x="4091093" y="1984967"/>
                  </a:lnTo>
                  <a:lnTo>
                    <a:pt x="4097714" y="1938348"/>
                  </a:lnTo>
                  <a:lnTo>
                    <a:pt x="4103478" y="1891458"/>
                  </a:lnTo>
                  <a:lnTo>
                    <a:pt x="4108378" y="1844306"/>
                  </a:lnTo>
                  <a:lnTo>
                    <a:pt x="4112406" y="1796900"/>
                  </a:lnTo>
                  <a:lnTo>
                    <a:pt x="4115552" y="1749249"/>
                  </a:lnTo>
                  <a:lnTo>
                    <a:pt x="4117810" y="1701359"/>
                  </a:lnTo>
                  <a:lnTo>
                    <a:pt x="4119170" y="1653239"/>
                  </a:lnTo>
                  <a:lnTo>
                    <a:pt x="4119626" y="1604899"/>
                  </a:lnTo>
                  <a:lnTo>
                    <a:pt x="4119170" y="1556562"/>
                  </a:lnTo>
                  <a:lnTo>
                    <a:pt x="4117810" y="1508447"/>
                  </a:lnTo>
                  <a:lnTo>
                    <a:pt x="4115552" y="1460561"/>
                  </a:lnTo>
                  <a:lnTo>
                    <a:pt x="4112406" y="1412913"/>
                  </a:lnTo>
                  <a:lnTo>
                    <a:pt x="4108378" y="1365511"/>
                  </a:lnTo>
                  <a:lnTo>
                    <a:pt x="4103478" y="1318363"/>
                  </a:lnTo>
                  <a:lnTo>
                    <a:pt x="4097714" y="1271477"/>
                  </a:lnTo>
                  <a:lnTo>
                    <a:pt x="4091093" y="1224861"/>
                  </a:lnTo>
                  <a:lnTo>
                    <a:pt x="4083624" y="1178524"/>
                  </a:lnTo>
                  <a:lnTo>
                    <a:pt x="4075315" y="1132473"/>
                  </a:lnTo>
                  <a:lnTo>
                    <a:pt x="4066173" y="1086717"/>
                  </a:lnTo>
                  <a:lnTo>
                    <a:pt x="4056208" y="1041263"/>
                  </a:lnTo>
                  <a:lnTo>
                    <a:pt x="4045428" y="996121"/>
                  </a:lnTo>
                  <a:lnTo>
                    <a:pt x="4033840" y="951297"/>
                  </a:lnTo>
                  <a:lnTo>
                    <a:pt x="4021452" y="906801"/>
                  </a:lnTo>
                  <a:lnTo>
                    <a:pt x="4008273" y="862641"/>
                  </a:lnTo>
                  <a:lnTo>
                    <a:pt x="3994311" y="818824"/>
                  </a:lnTo>
                  <a:lnTo>
                    <a:pt x="3979574" y="775358"/>
                  </a:lnTo>
                  <a:lnTo>
                    <a:pt x="3964071" y="732252"/>
                  </a:lnTo>
                  <a:lnTo>
                    <a:pt x="3947808" y="689514"/>
                  </a:lnTo>
                  <a:lnTo>
                    <a:pt x="3930795" y="647153"/>
                  </a:lnTo>
                  <a:lnTo>
                    <a:pt x="3913039" y="605175"/>
                  </a:lnTo>
                  <a:lnTo>
                    <a:pt x="3894550" y="563590"/>
                  </a:lnTo>
                  <a:lnTo>
                    <a:pt x="3875334" y="522405"/>
                  </a:lnTo>
                  <a:lnTo>
                    <a:pt x="3855400" y="481629"/>
                  </a:lnTo>
                  <a:lnTo>
                    <a:pt x="3834756" y="441270"/>
                  </a:lnTo>
                  <a:lnTo>
                    <a:pt x="3813411" y="401336"/>
                  </a:lnTo>
                  <a:lnTo>
                    <a:pt x="3791372" y="361835"/>
                  </a:lnTo>
                  <a:lnTo>
                    <a:pt x="3768647" y="322775"/>
                  </a:lnTo>
                  <a:lnTo>
                    <a:pt x="3745245" y="284164"/>
                  </a:lnTo>
                  <a:lnTo>
                    <a:pt x="3721174" y="246011"/>
                  </a:lnTo>
                  <a:lnTo>
                    <a:pt x="3696442" y="208323"/>
                  </a:lnTo>
                  <a:lnTo>
                    <a:pt x="3671057" y="171109"/>
                  </a:lnTo>
                  <a:lnTo>
                    <a:pt x="3645027" y="134377"/>
                  </a:lnTo>
                  <a:lnTo>
                    <a:pt x="3618361" y="98136"/>
                  </a:lnTo>
                  <a:lnTo>
                    <a:pt x="3591066" y="62392"/>
                  </a:lnTo>
                  <a:lnTo>
                    <a:pt x="3563151" y="27155"/>
                  </a:lnTo>
                  <a:lnTo>
                    <a:pt x="3540841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4119879" cy="4119879"/>
            </a:xfrm>
            <a:custGeom>
              <a:avLst/>
              <a:gdLst/>
              <a:ahLst/>
              <a:cxnLst/>
              <a:rect l="l" t="t" r="r" b="b"/>
              <a:pathLst>
                <a:path w="4119879" h="4119879">
                  <a:moveTo>
                    <a:pt x="3540841" y="0"/>
                  </a:moveTo>
                  <a:lnTo>
                    <a:pt x="3591066" y="62392"/>
                  </a:lnTo>
                  <a:lnTo>
                    <a:pt x="3618361" y="98136"/>
                  </a:lnTo>
                  <a:lnTo>
                    <a:pt x="3645027" y="134377"/>
                  </a:lnTo>
                  <a:lnTo>
                    <a:pt x="3671057" y="171109"/>
                  </a:lnTo>
                  <a:lnTo>
                    <a:pt x="3696442" y="208323"/>
                  </a:lnTo>
                  <a:lnTo>
                    <a:pt x="3721174" y="246011"/>
                  </a:lnTo>
                  <a:lnTo>
                    <a:pt x="3745245" y="284164"/>
                  </a:lnTo>
                  <a:lnTo>
                    <a:pt x="3768647" y="322775"/>
                  </a:lnTo>
                  <a:lnTo>
                    <a:pt x="3791372" y="361835"/>
                  </a:lnTo>
                  <a:lnTo>
                    <a:pt x="3813411" y="401336"/>
                  </a:lnTo>
                  <a:lnTo>
                    <a:pt x="3834756" y="441270"/>
                  </a:lnTo>
                  <a:lnTo>
                    <a:pt x="3855400" y="481629"/>
                  </a:lnTo>
                  <a:lnTo>
                    <a:pt x="3875334" y="522405"/>
                  </a:lnTo>
                  <a:lnTo>
                    <a:pt x="3894550" y="563590"/>
                  </a:lnTo>
                  <a:lnTo>
                    <a:pt x="3913039" y="605175"/>
                  </a:lnTo>
                  <a:lnTo>
                    <a:pt x="3930795" y="647153"/>
                  </a:lnTo>
                  <a:lnTo>
                    <a:pt x="3947808" y="689514"/>
                  </a:lnTo>
                  <a:lnTo>
                    <a:pt x="3964071" y="732252"/>
                  </a:lnTo>
                  <a:lnTo>
                    <a:pt x="3979574" y="775358"/>
                  </a:lnTo>
                  <a:lnTo>
                    <a:pt x="3994311" y="818824"/>
                  </a:lnTo>
                  <a:lnTo>
                    <a:pt x="4008273" y="862641"/>
                  </a:lnTo>
                  <a:lnTo>
                    <a:pt x="4021452" y="906801"/>
                  </a:lnTo>
                  <a:lnTo>
                    <a:pt x="4033840" y="951297"/>
                  </a:lnTo>
                  <a:lnTo>
                    <a:pt x="4045428" y="996121"/>
                  </a:lnTo>
                  <a:lnTo>
                    <a:pt x="4056208" y="1041263"/>
                  </a:lnTo>
                  <a:lnTo>
                    <a:pt x="4066173" y="1086717"/>
                  </a:lnTo>
                  <a:lnTo>
                    <a:pt x="4075315" y="1132473"/>
                  </a:lnTo>
                  <a:lnTo>
                    <a:pt x="4083624" y="1178524"/>
                  </a:lnTo>
                  <a:lnTo>
                    <a:pt x="4091093" y="1224861"/>
                  </a:lnTo>
                  <a:lnTo>
                    <a:pt x="4097714" y="1271477"/>
                  </a:lnTo>
                  <a:lnTo>
                    <a:pt x="4103478" y="1318363"/>
                  </a:lnTo>
                  <a:lnTo>
                    <a:pt x="4108378" y="1365511"/>
                  </a:lnTo>
                  <a:lnTo>
                    <a:pt x="4112406" y="1412913"/>
                  </a:lnTo>
                  <a:lnTo>
                    <a:pt x="4115552" y="1460561"/>
                  </a:lnTo>
                  <a:lnTo>
                    <a:pt x="4117810" y="1508447"/>
                  </a:lnTo>
                  <a:lnTo>
                    <a:pt x="4119170" y="1556562"/>
                  </a:lnTo>
                  <a:lnTo>
                    <a:pt x="4119626" y="1604899"/>
                  </a:lnTo>
                  <a:lnTo>
                    <a:pt x="4119170" y="1653239"/>
                  </a:lnTo>
                  <a:lnTo>
                    <a:pt x="4117810" y="1701359"/>
                  </a:lnTo>
                  <a:lnTo>
                    <a:pt x="4115552" y="1749249"/>
                  </a:lnTo>
                  <a:lnTo>
                    <a:pt x="4112406" y="1796900"/>
                  </a:lnTo>
                  <a:lnTo>
                    <a:pt x="4108378" y="1844306"/>
                  </a:lnTo>
                  <a:lnTo>
                    <a:pt x="4103478" y="1891458"/>
                  </a:lnTo>
                  <a:lnTo>
                    <a:pt x="4097714" y="1938348"/>
                  </a:lnTo>
                  <a:lnTo>
                    <a:pt x="4091093" y="1984967"/>
                  </a:lnTo>
                  <a:lnTo>
                    <a:pt x="4083624" y="2031307"/>
                  </a:lnTo>
                  <a:lnTo>
                    <a:pt x="4075315" y="2077361"/>
                  </a:lnTo>
                  <a:lnTo>
                    <a:pt x="4066173" y="2123120"/>
                  </a:lnTo>
                  <a:lnTo>
                    <a:pt x="4056208" y="2168576"/>
                  </a:lnTo>
                  <a:lnTo>
                    <a:pt x="4045428" y="2213722"/>
                  </a:lnTo>
                  <a:lnTo>
                    <a:pt x="4033840" y="2258547"/>
                  </a:lnTo>
                  <a:lnTo>
                    <a:pt x="4021452" y="2303046"/>
                  </a:lnTo>
                  <a:lnTo>
                    <a:pt x="4008273" y="2347209"/>
                  </a:lnTo>
                  <a:lnTo>
                    <a:pt x="3994311" y="2391028"/>
                  </a:lnTo>
                  <a:lnTo>
                    <a:pt x="3979574" y="2434496"/>
                  </a:lnTo>
                  <a:lnTo>
                    <a:pt x="3964071" y="2477604"/>
                  </a:lnTo>
                  <a:lnTo>
                    <a:pt x="3947808" y="2520343"/>
                  </a:lnTo>
                  <a:lnTo>
                    <a:pt x="3930795" y="2562707"/>
                  </a:lnTo>
                  <a:lnTo>
                    <a:pt x="3913039" y="2604686"/>
                  </a:lnTo>
                  <a:lnTo>
                    <a:pt x="3894550" y="2646273"/>
                  </a:lnTo>
                  <a:lnTo>
                    <a:pt x="3875334" y="2687459"/>
                  </a:lnTo>
                  <a:lnTo>
                    <a:pt x="3855400" y="2728236"/>
                  </a:lnTo>
                  <a:lnTo>
                    <a:pt x="3834756" y="2768597"/>
                  </a:lnTo>
                  <a:lnTo>
                    <a:pt x="3813411" y="2808532"/>
                  </a:lnTo>
                  <a:lnTo>
                    <a:pt x="3791372" y="2848035"/>
                  </a:lnTo>
                  <a:lnTo>
                    <a:pt x="3768647" y="2887096"/>
                  </a:lnTo>
                  <a:lnTo>
                    <a:pt x="3745245" y="2925707"/>
                  </a:lnTo>
                  <a:lnTo>
                    <a:pt x="3721174" y="2963861"/>
                  </a:lnTo>
                  <a:lnTo>
                    <a:pt x="3696442" y="3001550"/>
                  </a:lnTo>
                  <a:lnTo>
                    <a:pt x="3671057" y="3038764"/>
                  </a:lnTo>
                  <a:lnTo>
                    <a:pt x="3645027" y="3075497"/>
                  </a:lnTo>
                  <a:lnTo>
                    <a:pt x="3618361" y="3111739"/>
                  </a:lnTo>
                  <a:lnTo>
                    <a:pt x="3591066" y="3147483"/>
                  </a:lnTo>
                  <a:lnTo>
                    <a:pt x="3563151" y="3182721"/>
                  </a:lnTo>
                  <a:lnTo>
                    <a:pt x="3534624" y="3217444"/>
                  </a:lnTo>
                  <a:lnTo>
                    <a:pt x="3505492" y="3251645"/>
                  </a:lnTo>
                  <a:lnTo>
                    <a:pt x="3475765" y="3285314"/>
                  </a:lnTo>
                  <a:lnTo>
                    <a:pt x="3445450" y="3318445"/>
                  </a:lnTo>
                  <a:lnTo>
                    <a:pt x="3414555" y="3351029"/>
                  </a:lnTo>
                  <a:lnTo>
                    <a:pt x="3383089" y="3383057"/>
                  </a:lnTo>
                  <a:lnTo>
                    <a:pt x="3351059" y="3414522"/>
                  </a:lnTo>
                  <a:lnTo>
                    <a:pt x="3318475" y="3445416"/>
                  </a:lnTo>
                  <a:lnTo>
                    <a:pt x="3285343" y="3475730"/>
                  </a:lnTo>
                  <a:lnTo>
                    <a:pt x="3251672" y="3505456"/>
                  </a:lnTo>
                  <a:lnTo>
                    <a:pt x="3217470" y="3534586"/>
                  </a:lnTo>
                  <a:lnTo>
                    <a:pt x="3182746" y="3563113"/>
                  </a:lnTo>
                  <a:lnTo>
                    <a:pt x="3147507" y="3591027"/>
                  </a:lnTo>
                  <a:lnTo>
                    <a:pt x="3111762" y="3618320"/>
                  </a:lnTo>
                  <a:lnTo>
                    <a:pt x="3075518" y="3644986"/>
                  </a:lnTo>
                  <a:lnTo>
                    <a:pt x="3038785" y="3671014"/>
                  </a:lnTo>
                  <a:lnTo>
                    <a:pt x="3001569" y="3696398"/>
                  </a:lnTo>
                  <a:lnTo>
                    <a:pt x="2963880" y="3721129"/>
                  </a:lnTo>
                  <a:lnTo>
                    <a:pt x="2925725" y="3745199"/>
                  </a:lnTo>
                  <a:lnTo>
                    <a:pt x="2887112" y="3768600"/>
                  </a:lnTo>
                  <a:lnTo>
                    <a:pt x="2848050" y="3791324"/>
                  </a:lnTo>
                  <a:lnTo>
                    <a:pt x="2808547" y="3813362"/>
                  </a:lnTo>
                  <a:lnTo>
                    <a:pt x="2768611" y="3834707"/>
                  </a:lnTo>
                  <a:lnTo>
                    <a:pt x="2728249" y="3855349"/>
                  </a:lnTo>
                  <a:lnTo>
                    <a:pt x="2687471" y="3875282"/>
                  </a:lnTo>
                  <a:lnTo>
                    <a:pt x="2646284" y="3894497"/>
                  </a:lnTo>
                  <a:lnTo>
                    <a:pt x="2604696" y="3912986"/>
                  </a:lnTo>
                  <a:lnTo>
                    <a:pt x="2562716" y="3930741"/>
                  </a:lnTo>
                  <a:lnTo>
                    <a:pt x="2520352" y="3947753"/>
                  </a:lnTo>
                  <a:lnTo>
                    <a:pt x="2477612" y="3964015"/>
                  </a:lnTo>
                  <a:lnTo>
                    <a:pt x="2434503" y="3979518"/>
                  </a:lnTo>
                  <a:lnTo>
                    <a:pt x="2391035" y="3994254"/>
                  </a:lnTo>
                  <a:lnTo>
                    <a:pt x="2347215" y="4008215"/>
                  </a:lnTo>
                  <a:lnTo>
                    <a:pt x="2303051" y="4021394"/>
                  </a:lnTo>
                  <a:lnTo>
                    <a:pt x="2258552" y="4033781"/>
                  </a:lnTo>
                  <a:lnTo>
                    <a:pt x="2213726" y="4045368"/>
                  </a:lnTo>
                  <a:lnTo>
                    <a:pt x="2168580" y="4056148"/>
                  </a:lnTo>
                  <a:lnTo>
                    <a:pt x="2123123" y="4066113"/>
                  </a:lnTo>
                  <a:lnTo>
                    <a:pt x="2077364" y="4075253"/>
                  </a:lnTo>
                  <a:lnTo>
                    <a:pt x="2031309" y="4083562"/>
                  </a:lnTo>
                  <a:lnTo>
                    <a:pt x="1984968" y="4091031"/>
                  </a:lnTo>
                  <a:lnTo>
                    <a:pt x="1938349" y="4097651"/>
                  </a:lnTo>
                  <a:lnTo>
                    <a:pt x="1891459" y="4103416"/>
                  </a:lnTo>
                  <a:lnTo>
                    <a:pt x="1844307" y="4108315"/>
                  </a:lnTo>
                  <a:lnTo>
                    <a:pt x="1796901" y="4112342"/>
                  </a:lnTo>
                  <a:lnTo>
                    <a:pt x="1749249" y="4115489"/>
                  </a:lnTo>
                  <a:lnTo>
                    <a:pt x="1701359" y="4117746"/>
                  </a:lnTo>
                  <a:lnTo>
                    <a:pt x="1653239" y="4119107"/>
                  </a:lnTo>
                  <a:lnTo>
                    <a:pt x="1604899" y="4119562"/>
                  </a:lnTo>
                  <a:lnTo>
                    <a:pt x="1556563" y="4119107"/>
                  </a:lnTo>
                  <a:lnTo>
                    <a:pt x="1508449" y="4117746"/>
                  </a:lnTo>
                  <a:lnTo>
                    <a:pt x="1460565" y="4115489"/>
                  </a:lnTo>
                  <a:lnTo>
                    <a:pt x="1412918" y="4112342"/>
                  </a:lnTo>
                  <a:lnTo>
                    <a:pt x="1365518" y="4108315"/>
                  </a:lnTo>
                  <a:lnTo>
                    <a:pt x="1318371" y="4103416"/>
                  </a:lnTo>
                  <a:lnTo>
                    <a:pt x="1271486" y="4097651"/>
                  </a:lnTo>
                  <a:lnTo>
                    <a:pt x="1224871" y="4091031"/>
                  </a:lnTo>
                  <a:lnTo>
                    <a:pt x="1178535" y="4083562"/>
                  </a:lnTo>
                  <a:lnTo>
                    <a:pt x="1132486" y="4075253"/>
                  </a:lnTo>
                  <a:lnTo>
                    <a:pt x="1086731" y="4066113"/>
                  </a:lnTo>
                  <a:lnTo>
                    <a:pt x="1041278" y="4056148"/>
                  </a:lnTo>
                  <a:lnTo>
                    <a:pt x="996137" y="4045368"/>
                  </a:lnTo>
                  <a:lnTo>
                    <a:pt x="951315" y="4033781"/>
                  </a:lnTo>
                  <a:lnTo>
                    <a:pt x="906820" y="4021394"/>
                  </a:lnTo>
                  <a:lnTo>
                    <a:pt x="862661" y="4008215"/>
                  </a:lnTo>
                  <a:lnTo>
                    <a:pt x="818845" y="3994254"/>
                  </a:lnTo>
                  <a:lnTo>
                    <a:pt x="775380" y="3979518"/>
                  </a:lnTo>
                  <a:lnTo>
                    <a:pt x="732276" y="3964015"/>
                  </a:lnTo>
                  <a:lnTo>
                    <a:pt x="689539" y="3947753"/>
                  </a:lnTo>
                  <a:lnTo>
                    <a:pt x="647178" y="3930741"/>
                  </a:lnTo>
                  <a:lnTo>
                    <a:pt x="605202" y="3912986"/>
                  </a:lnTo>
                  <a:lnTo>
                    <a:pt x="563618" y="3894497"/>
                  </a:lnTo>
                  <a:lnTo>
                    <a:pt x="522434" y="3875282"/>
                  </a:lnTo>
                  <a:lnTo>
                    <a:pt x="481659" y="3855349"/>
                  </a:lnTo>
                  <a:lnTo>
                    <a:pt x="441301" y="3834707"/>
                  </a:lnTo>
                  <a:lnTo>
                    <a:pt x="401368" y="3813362"/>
                  </a:lnTo>
                  <a:lnTo>
                    <a:pt x="361867" y="3791324"/>
                  </a:lnTo>
                  <a:lnTo>
                    <a:pt x="322808" y="3768600"/>
                  </a:lnTo>
                  <a:lnTo>
                    <a:pt x="284199" y="3745199"/>
                  </a:lnTo>
                  <a:lnTo>
                    <a:pt x="246046" y="3721129"/>
                  </a:lnTo>
                  <a:lnTo>
                    <a:pt x="208360" y="3696398"/>
                  </a:lnTo>
                  <a:lnTo>
                    <a:pt x="171147" y="3671014"/>
                  </a:lnTo>
                  <a:lnTo>
                    <a:pt x="134416" y="3644986"/>
                  </a:lnTo>
                  <a:lnTo>
                    <a:pt x="98175" y="3618320"/>
                  </a:lnTo>
                  <a:lnTo>
                    <a:pt x="62432" y="3591027"/>
                  </a:lnTo>
                  <a:lnTo>
                    <a:pt x="27196" y="3563113"/>
                  </a:lnTo>
                  <a:lnTo>
                    <a:pt x="0" y="3540769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5484876" y="1370075"/>
            <a:ext cx="3665854" cy="3780154"/>
            <a:chOff x="5484876" y="1370075"/>
            <a:chExt cx="3665854" cy="3780154"/>
          </a:xfrm>
        </p:grpSpPr>
        <p:sp>
          <p:nvSpPr>
            <p:cNvPr id="7" name="object 7"/>
            <p:cNvSpPr/>
            <p:nvPr/>
          </p:nvSpPr>
          <p:spPr>
            <a:xfrm>
              <a:off x="5491226" y="1376425"/>
              <a:ext cx="3653154" cy="3767454"/>
            </a:xfrm>
            <a:custGeom>
              <a:avLst/>
              <a:gdLst/>
              <a:ahLst/>
              <a:cxnLst/>
              <a:rect l="l" t="t" r="r" b="b"/>
              <a:pathLst>
                <a:path w="3653154" h="3767454">
                  <a:moveTo>
                    <a:pt x="2743200" y="0"/>
                  </a:moveTo>
                  <a:lnTo>
                    <a:pt x="2694944" y="415"/>
                  </a:lnTo>
                  <a:lnTo>
                    <a:pt x="2646889" y="1658"/>
                  </a:lnTo>
                  <a:lnTo>
                    <a:pt x="2599043" y="3722"/>
                  </a:lnTo>
                  <a:lnTo>
                    <a:pt x="2551413" y="6598"/>
                  </a:lnTo>
                  <a:lnTo>
                    <a:pt x="2504004" y="10282"/>
                  </a:lnTo>
                  <a:lnTo>
                    <a:pt x="2456825" y="14765"/>
                  </a:lnTo>
                  <a:lnTo>
                    <a:pt x="2409881" y="20042"/>
                  </a:lnTo>
                  <a:lnTo>
                    <a:pt x="2363180" y="26105"/>
                  </a:lnTo>
                  <a:lnTo>
                    <a:pt x="2316728" y="32947"/>
                  </a:lnTo>
                  <a:lnTo>
                    <a:pt x="2270532" y="40563"/>
                  </a:lnTo>
                  <a:lnTo>
                    <a:pt x="2224599" y="48944"/>
                  </a:lnTo>
                  <a:lnTo>
                    <a:pt x="2178935" y="58084"/>
                  </a:lnTo>
                  <a:lnTo>
                    <a:pt x="2133548" y="67977"/>
                  </a:lnTo>
                  <a:lnTo>
                    <a:pt x="2088444" y="78615"/>
                  </a:lnTo>
                  <a:lnTo>
                    <a:pt x="2043631" y="89992"/>
                  </a:lnTo>
                  <a:lnTo>
                    <a:pt x="1999114" y="102100"/>
                  </a:lnTo>
                  <a:lnTo>
                    <a:pt x="1954901" y="114934"/>
                  </a:lnTo>
                  <a:lnTo>
                    <a:pt x="1910998" y="128487"/>
                  </a:lnTo>
                  <a:lnTo>
                    <a:pt x="1867413" y="142751"/>
                  </a:lnTo>
                  <a:lnTo>
                    <a:pt x="1824152" y="157719"/>
                  </a:lnTo>
                  <a:lnTo>
                    <a:pt x="1781221" y="173386"/>
                  </a:lnTo>
                  <a:lnTo>
                    <a:pt x="1738629" y="189744"/>
                  </a:lnTo>
                  <a:lnTo>
                    <a:pt x="1696380" y="206786"/>
                  </a:lnTo>
                  <a:lnTo>
                    <a:pt x="1654483" y="224505"/>
                  </a:lnTo>
                  <a:lnTo>
                    <a:pt x="1612944" y="242896"/>
                  </a:lnTo>
                  <a:lnTo>
                    <a:pt x="1571770" y="261950"/>
                  </a:lnTo>
                  <a:lnTo>
                    <a:pt x="1530968" y="281662"/>
                  </a:lnTo>
                  <a:lnTo>
                    <a:pt x="1490544" y="302023"/>
                  </a:lnTo>
                  <a:lnTo>
                    <a:pt x="1450505" y="323029"/>
                  </a:lnTo>
                  <a:lnTo>
                    <a:pt x="1410858" y="344671"/>
                  </a:lnTo>
                  <a:lnTo>
                    <a:pt x="1371610" y="366943"/>
                  </a:lnTo>
                  <a:lnTo>
                    <a:pt x="1332768" y="389838"/>
                  </a:lnTo>
                  <a:lnTo>
                    <a:pt x="1294338" y="413350"/>
                  </a:lnTo>
                  <a:lnTo>
                    <a:pt x="1256327" y="437471"/>
                  </a:lnTo>
                  <a:lnTo>
                    <a:pt x="1218743" y="462195"/>
                  </a:lnTo>
                  <a:lnTo>
                    <a:pt x="1181591" y="487515"/>
                  </a:lnTo>
                  <a:lnTo>
                    <a:pt x="1144879" y="513425"/>
                  </a:lnTo>
                  <a:lnTo>
                    <a:pt x="1108613" y="539916"/>
                  </a:lnTo>
                  <a:lnTo>
                    <a:pt x="1072801" y="566983"/>
                  </a:lnTo>
                  <a:lnTo>
                    <a:pt x="1037448" y="594619"/>
                  </a:lnTo>
                  <a:lnTo>
                    <a:pt x="1002563" y="622817"/>
                  </a:lnTo>
                  <a:lnTo>
                    <a:pt x="968151" y="651570"/>
                  </a:lnTo>
                  <a:lnTo>
                    <a:pt x="934219" y="680872"/>
                  </a:lnTo>
                  <a:lnTo>
                    <a:pt x="900775" y="710715"/>
                  </a:lnTo>
                  <a:lnTo>
                    <a:pt x="867825" y="741093"/>
                  </a:lnTo>
                  <a:lnTo>
                    <a:pt x="835375" y="771998"/>
                  </a:lnTo>
                  <a:lnTo>
                    <a:pt x="803433" y="803425"/>
                  </a:lnTo>
                  <a:lnTo>
                    <a:pt x="772006" y="835367"/>
                  </a:lnTo>
                  <a:lnTo>
                    <a:pt x="741099" y="867816"/>
                  </a:lnTo>
                  <a:lnTo>
                    <a:pt x="710721" y="900765"/>
                  </a:lnTo>
                  <a:lnTo>
                    <a:pt x="680878" y="934209"/>
                  </a:lnTo>
                  <a:lnTo>
                    <a:pt x="651576" y="968140"/>
                  </a:lnTo>
                  <a:lnTo>
                    <a:pt x="622822" y="1002551"/>
                  </a:lnTo>
                  <a:lnTo>
                    <a:pt x="594624" y="1037436"/>
                  </a:lnTo>
                  <a:lnTo>
                    <a:pt x="566988" y="1072788"/>
                  </a:lnTo>
                  <a:lnTo>
                    <a:pt x="539920" y="1108600"/>
                  </a:lnTo>
                  <a:lnTo>
                    <a:pt x="513429" y="1144865"/>
                  </a:lnTo>
                  <a:lnTo>
                    <a:pt x="487519" y="1181576"/>
                  </a:lnTo>
                  <a:lnTo>
                    <a:pt x="462199" y="1218727"/>
                  </a:lnTo>
                  <a:lnTo>
                    <a:pt x="437474" y="1256311"/>
                  </a:lnTo>
                  <a:lnTo>
                    <a:pt x="413353" y="1294321"/>
                  </a:lnTo>
                  <a:lnTo>
                    <a:pt x="389841" y="1332750"/>
                  </a:lnTo>
                  <a:lnTo>
                    <a:pt x="366945" y="1371591"/>
                  </a:lnTo>
                  <a:lnTo>
                    <a:pt x="344673" y="1410838"/>
                  </a:lnTo>
                  <a:lnTo>
                    <a:pt x="323031" y="1450484"/>
                  </a:lnTo>
                  <a:lnTo>
                    <a:pt x="302025" y="1490522"/>
                  </a:lnTo>
                  <a:lnTo>
                    <a:pt x="281663" y="1530945"/>
                  </a:lnTo>
                  <a:lnTo>
                    <a:pt x="261951" y="1571746"/>
                  </a:lnTo>
                  <a:lnTo>
                    <a:pt x="242897" y="1612919"/>
                  </a:lnTo>
                  <a:lnTo>
                    <a:pt x="224506" y="1654457"/>
                  </a:lnTo>
                  <a:lnTo>
                    <a:pt x="206787" y="1696353"/>
                  </a:lnTo>
                  <a:lnTo>
                    <a:pt x="189744" y="1738600"/>
                  </a:lnTo>
                  <a:lnTo>
                    <a:pt x="173387" y="1781192"/>
                  </a:lnTo>
                  <a:lnTo>
                    <a:pt x="157720" y="1824121"/>
                  </a:lnTo>
                  <a:lnTo>
                    <a:pt x="142751" y="1867381"/>
                  </a:lnTo>
                  <a:lnTo>
                    <a:pt x="128487" y="1910965"/>
                  </a:lnTo>
                  <a:lnTo>
                    <a:pt x="114935" y="1954866"/>
                  </a:lnTo>
                  <a:lnTo>
                    <a:pt x="102101" y="1999078"/>
                  </a:lnTo>
                  <a:lnTo>
                    <a:pt x="89992" y="2043593"/>
                  </a:lnTo>
                  <a:lnTo>
                    <a:pt x="78615" y="2088405"/>
                  </a:lnTo>
                  <a:lnTo>
                    <a:pt x="67977" y="2133508"/>
                  </a:lnTo>
                  <a:lnTo>
                    <a:pt x="58084" y="2178893"/>
                  </a:lnTo>
                  <a:lnTo>
                    <a:pt x="48944" y="2224555"/>
                  </a:lnTo>
                  <a:lnTo>
                    <a:pt x="40563" y="2270486"/>
                  </a:lnTo>
                  <a:lnTo>
                    <a:pt x="32947" y="2316681"/>
                  </a:lnTo>
                  <a:lnTo>
                    <a:pt x="26105" y="2363131"/>
                  </a:lnTo>
                  <a:lnTo>
                    <a:pt x="20042" y="2409831"/>
                  </a:lnTo>
                  <a:lnTo>
                    <a:pt x="14765" y="2456773"/>
                  </a:lnTo>
                  <a:lnTo>
                    <a:pt x="10282" y="2503951"/>
                  </a:lnTo>
                  <a:lnTo>
                    <a:pt x="6598" y="2551357"/>
                  </a:lnTo>
                  <a:lnTo>
                    <a:pt x="3722" y="2598986"/>
                  </a:lnTo>
                  <a:lnTo>
                    <a:pt x="1658" y="2646830"/>
                  </a:lnTo>
                  <a:lnTo>
                    <a:pt x="415" y="2694882"/>
                  </a:lnTo>
                  <a:lnTo>
                    <a:pt x="0" y="2743136"/>
                  </a:lnTo>
                  <a:lnTo>
                    <a:pt x="415" y="2791390"/>
                  </a:lnTo>
                  <a:lnTo>
                    <a:pt x="1658" y="2839442"/>
                  </a:lnTo>
                  <a:lnTo>
                    <a:pt x="3722" y="2887285"/>
                  </a:lnTo>
                  <a:lnTo>
                    <a:pt x="6598" y="2934914"/>
                  </a:lnTo>
                  <a:lnTo>
                    <a:pt x="10282" y="2982321"/>
                  </a:lnTo>
                  <a:lnTo>
                    <a:pt x="14765" y="3029499"/>
                  </a:lnTo>
                  <a:lnTo>
                    <a:pt x="20042" y="3076441"/>
                  </a:lnTo>
                  <a:lnTo>
                    <a:pt x="26105" y="3123141"/>
                  </a:lnTo>
                  <a:lnTo>
                    <a:pt x="32947" y="3169592"/>
                  </a:lnTo>
                  <a:lnTo>
                    <a:pt x="40563" y="3215786"/>
                  </a:lnTo>
                  <a:lnTo>
                    <a:pt x="48944" y="3261718"/>
                  </a:lnTo>
                  <a:lnTo>
                    <a:pt x="58084" y="3307381"/>
                  </a:lnTo>
                  <a:lnTo>
                    <a:pt x="67977" y="3352767"/>
                  </a:lnTo>
                  <a:lnTo>
                    <a:pt x="78615" y="3397870"/>
                  </a:lnTo>
                  <a:lnTo>
                    <a:pt x="89992" y="3442683"/>
                  </a:lnTo>
                  <a:lnTo>
                    <a:pt x="102101" y="3487199"/>
                  </a:lnTo>
                  <a:lnTo>
                    <a:pt x="114935" y="3531412"/>
                  </a:lnTo>
                  <a:lnTo>
                    <a:pt x="128487" y="3575315"/>
                  </a:lnTo>
                  <a:lnTo>
                    <a:pt x="142751" y="3618900"/>
                  </a:lnTo>
                  <a:lnTo>
                    <a:pt x="157720" y="3662161"/>
                  </a:lnTo>
                  <a:lnTo>
                    <a:pt x="173387" y="3705091"/>
                  </a:lnTo>
                  <a:lnTo>
                    <a:pt x="189744" y="3747684"/>
                  </a:lnTo>
                  <a:lnTo>
                    <a:pt x="197566" y="3767074"/>
                  </a:lnTo>
                  <a:lnTo>
                    <a:pt x="3652774" y="3767074"/>
                  </a:lnTo>
                  <a:lnTo>
                    <a:pt x="3652774" y="154459"/>
                  </a:lnTo>
                  <a:lnTo>
                    <a:pt x="3618937" y="142751"/>
                  </a:lnTo>
                  <a:lnTo>
                    <a:pt x="3575353" y="128487"/>
                  </a:lnTo>
                  <a:lnTo>
                    <a:pt x="3531452" y="114934"/>
                  </a:lnTo>
                  <a:lnTo>
                    <a:pt x="3487240" y="102100"/>
                  </a:lnTo>
                  <a:lnTo>
                    <a:pt x="3442725" y="89992"/>
                  </a:lnTo>
                  <a:lnTo>
                    <a:pt x="3397913" y="78615"/>
                  </a:lnTo>
                  <a:lnTo>
                    <a:pt x="3352812" y="67977"/>
                  </a:lnTo>
                  <a:lnTo>
                    <a:pt x="3307427" y="58084"/>
                  </a:lnTo>
                  <a:lnTo>
                    <a:pt x="3261766" y="48944"/>
                  </a:lnTo>
                  <a:lnTo>
                    <a:pt x="3215835" y="40563"/>
                  </a:lnTo>
                  <a:lnTo>
                    <a:pt x="3169641" y="32947"/>
                  </a:lnTo>
                  <a:lnTo>
                    <a:pt x="3123192" y="26105"/>
                  </a:lnTo>
                  <a:lnTo>
                    <a:pt x="3076494" y="20042"/>
                  </a:lnTo>
                  <a:lnTo>
                    <a:pt x="3029553" y="14765"/>
                  </a:lnTo>
                  <a:lnTo>
                    <a:pt x="2982376" y="10282"/>
                  </a:lnTo>
                  <a:lnTo>
                    <a:pt x="2934971" y="6598"/>
                  </a:lnTo>
                  <a:lnTo>
                    <a:pt x="2887344" y="3722"/>
                  </a:lnTo>
                  <a:lnTo>
                    <a:pt x="2839502" y="1658"/>
                  </a:lnTo>
                  <a:lnTo>
                    <a:pt x="2791452" y="415"/>
                  </a:lnTo>
                  <a:lnTo>
                    <a:pt x="2743200" y="0"/>
                  </a:lnTo>
                  <a:close/>
                </a:path>
              </a:pathLst>
            </a:custGeom>
            <a:solidFill>
              <a:srgbClr val="FFFFFF">
                <a:alpha val="7843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491226" y="1376425"/>
              <a:ext cx="3653154" cy="3767454"/>
            </a:xfrm>
            <a:custGeom>
              <a:avLst/>
              <a:gdLst/>
              <a:ahLst/>
              <a:cxnLst/>
              <a:rect l="l" t="t" r="r" b="b"/>
              <a:pathLst>
                <a:path w="3653154" h="3767454">
                  <a:moveTo>
                    <a:pt x="197566" y="3767074"/>
                  </a:moveTo>
                  <a:lnTo>
                    <a:pt x="173387" y="3705091"/>
                  </a:lnTo>
                  <a:lnTo>
                    <a:pt x="157720" y="3662161"/>
                  </a:lnTo>
                  <a:lnTo>
                    <a:pt x="142751" y="3618900"/>
                  </a:lnTo>
                  <a:lnTo>
                    <a:pt x="128487" y="3575315"/>
                  </a:lnTo>
                  <a:lnTo>
                    <a:pt x="114935" y="3531412"/>
                  </a:lnTo>
                  <a:lnTo>
                    <a:pt x="102101" y="3487199"/>
                  </a:lnTo>
                  <a:lnTo>
                    <a:pt x="89992" y="3442683"/>
                  </a:lnTo>
                  <a:lnTo>
                    <a:pt x="78615" y="3397870"/>
                  </a:lnTo>
                  <a:lnTo>
                    <a:pt x="67977" y="3352767"/>
                  </a:lnTo>
                  <a:lnTo>
                    <a:pt x="58084" y="3307381"/>
                  </a:lnTo>
                  <a:lnTo>
                    <a:pt x="48944" y="3261718"/>
                  </a:lnTo>
                  <a:lnTo>
                    <a:pt x="40563" y="3215786"/>
                  </a:lnTo>
                  <a:lnTo>
                    <a:pt x="32947" y="3169592"/>
                  </a:lnTo>
                  <a:lnTo>
                    <a:pt x="26105" y="3123141"/>
                  </a:lnTo>
                  <a:lnTo>
                    <a:pt x="20042" y="3076441"/>
                  </a:lnTo>
                  <a:lnTo>
                    <a:pt x="14765" y="3029499"/>
                  </a:lnTo>
                  <a:lnTo>
                    <a:pt x="10282" y="2982321"/>
                  </a:lnTo>
                  <a:lnTo>
                    <a:pt x="6598" y="2934914"/>
                  </a:lnTo>
                  <a:lnTo>
                    <a:pt x="3722" y="2887285"/>
                  </a:lnTo>
                  <a:lnTo>
                    <a:pt x="1658" y="2839442"/>
                  </a:lnTo>
                  <a:lnTo>
                    <a:pt x="415" y="2791390"/>
                  </a:lnTo>
                  <a:lnTo>
                    <a:pt x="0" y="2743136"/>
                  </a:lnTo>
                  <a:lnTo>
                    <a:pt x="415" y="2694882"/>
                  </a:lnTo>
                  <a:lnTo>
                    <a:pt x="1658" y="2646830"/>
                  </a:lnTo>
                  <a:lnTo>
                    <a:pt x="3722" y="2598986"/>
                  </a:lnTo>
                  <a:lnTo>
                    <a:pt x="6598" y="2551357"/>
                  </a:lnTo>
                  <a:lnTo>
                    <a:pt x="10282" y="2503951"/>
                  </a:lnTo>
                  <a:lnTo>
                    <a:pt x="14765" y="2456773"/>
                  </a:lnTo>
                  <a:lnTo>
                    <a:pt x="20042" y="2409831"/>
                  </a:lnTo>
                  <a:lnTo>
                    <a:pt x="26105" y="2363131"/>
                  </a:lnTo>
                  <a:lnTo>
                    <a:pt x="32947" y="2316681"/>
                  </a:lnTo>
                  <a:lnTo>
                    <a:pt x="40563" y="2270486"/>
                  </a:lnTo>
                  <a:lnTo>
                    <a:pt x="48944" y="2224555"/>
                  </a:lnTo>
                  <a:lnTo>
                    <a:pt x="58084" y="2178893"/>
                  </a:lnTo>
                  <a:lnTo>
                    <a:pt x="67977" y="2133508"/>
                  </a:lnTo>
                  <a:lnTo>
                    <a:pt x="78615" y="2088405"/>
                  </a:lnTo>
                  <a:lnTo>
                    <a:pt x="89992" y="2043593"/>
                  </a:lnTo>
                  <a:lnTo>
                    <a:pt x="102101" y="1999078"/>
                  </a:lnTo>
                  <a:lnTo>
                    <a:pt x="114935" y="1954866"/>
                  </a:lnTo>
                  <a:lnTo>
                    <a:pt x="128487" y="1910965"/>
                  </a:lnTo>
                  <a:lnTo>
                    <a:pt x="142751" y="1867381"/>
                  </a:lnTo>
                  <a:lnTo>
                    <a:pt x="157720" y="1824121"/>
                  </a:lnTo>
                  <a:lnTo>
                    <a:pt x="173387" y="1781192"/>
                  </a:lnTo>
                  <a:lnTo>
                    <a:pt x="189744" y="1738600"/>
                  </a:lnTo>
                  <a:lnTo>
                    <a:pt x="206787" y="1696353"/>
                  </a:lnTo>
                  <a:lnTo>
                    <a:pt x="224506" y="1654457"/>
                  </a:lnTo>
                  <a:lnTo>
                    <a:pt x="242897" y="1612919"/>
                  </a:lnTo>
                  <a:lnTo>
                    <a:pt x="261951" y="1571746"/>
                  </a:lnTo>
                  <a:lnTo>
                    <a:pt x="281663" y="1530945"/>
                  </a:lnTo>
                  <a:lnTo>
                    <a:pt x="302025" y="1490522"/>
                  </a:lnTo>
                  <a:lnTo>
                    <a:pt x="323031" y="1450484"/>
                  </a:lnTo>
                  <a:lnTo>
                    <a:pt x="344673" y="1410838"/>
                  </a:lnTo>
                  <a:lnTo>
                    <a:pt x="366945" y="1371591"/>
                  </a:lnTo>
                  <a:lnTo>
                    <a:pt x="389841" y="1332750"/>
                  </a:lnTo>
                  <a:lnTo>
                    <a:pt x="413353" y="1294321"/>
                  </a:lnTo>
                  <a:lnTo>
                    <a:pt x="437474" y="1256311"/>
                  </a:lnTo>
                  <a:lnTo>
                    <a:pt x="462199" y="1218727"/>
                  </a:lnTo>
                  <a:lnTo>
                    <a:pt x="487519" y="1181576"/>
                  </a:lnTo>
                  <a:lnTo>
                    <a:pt x="513429" y="1144865"/>
                  </a:lnTo>
                  <a:lnTo>
                    <a:pt x="539920" y="1108600"/>
                  </a:lnTo>
                  <a:lnTo>
                    <a:pt x="566988" y="1072788"/>
                  </a:lnTo>
                  <a:lnTo>
                    <a:pt x="594624" y="1037436"/>
                  </a:lnTo>
                  <a:lnTo>
                    <a:pt x="622822" y="1002551"/>
                  </a:lnTo>
                  <a:lnTo>
                    <a:pt x="651576" y="968140"/>
                  </a:lnTo>
                  <a:lnTo>
                    <a:pt x="680878" y="934209"/>
                  </a:lnTo>
                  <a:lnTo>
                    <a:pt x="710721" y="900765"/>
                  </a:lnTo>
                  <a:lnTo>
                    <a:pt x="741099" y="867816"/>
                  </a:lnTo>
                  <a:lnTo>
                    <a:pt x="772006" y="835367"/>
                  </a:lnTo>
                  <a:lnTo>
                    <a:pt x="803433" y="803425"/>
                  </a:lnTo>
                  <a:lnTo>
                    <a:pt x="835375" y="771998"/>
                  </a:lnTo>
                  <a:lnTo>
                    <a:pt x="867825" y="741093"/>
                  </a:lnTo>
                  <a:lnTo>
                    <a:pt x="900775" y="710715"/>
                  </a:lnTo>
                  <a:lnTo>
                    <a:pt x="934219" y="680872"/>
                  </a:lnTo>
                  <a:lnTo>
                    <a:pt x="968151" y="651570"/>
                  </a:lnTo>
                  <a:lnTo>
                    <a:pt x="1002563" y="622817"/>
                  </a:lnTo>
                  <a:lnTo>
                    <a:pt x="1037448" y="594619"/>
                  </a:lnTo>
                  <a:lnTo>
                    <a:pt x="1072801" y="566983"/>
                  </a:lnTo>
                  <a:lnTo>
                    <a:pt x="1108613" y="539916"/>
                  </a:lnTo>
                  <a:lnTo>
                    <a:pt x="1144879" y="513425"/>
                  </a:lnTo>
                  <a:lnTo>
                    <a:pt x="1181591" y="487515"/>
                  </a:lnTo>
                  <a:lnTo>
                    <a:pt x="1218743" y="462195"/>
                  </a:lnTo>
                  <a:lnTo>
                    <a:pt x="1256327" y="437471"/>
                  </a:lnTo>
                  <a:lnTo>
                    <a:pt x="1294338" y="413350"/>
                  </a:lnTo>
                  <a:lnTo>
                    <a:pt x="1332768" y="389838"/>
                  </a:lnTo>
                  <a:lnTo>
                    <a:pt x="1371610" y="366943"/>
                  </a:lnTo>
                  <a:lnTo>
                    <a:pt x="1410858" y="344671"/>
                  </a:lnTo>
                  <a:lnTo>
                    <a:pt x="1450505" y="323029"/>
                  </a:lnTo>
                  <a:lnTo>
                    <a:pt x="1490544" y="302023"/>
                  </a:lnTo>
                  <a:lnTo>
                    <a:pt x="1530968" y="281662"/>
                  </a:lnTo>
                  <a:lnTo>
                    <a:pt x="1571770" y="261950"/>
                  </a:lnTo>
                  <a:lnTo>
                    <a:pt x="1612944" y="242896"/>
                  </a:lnTo>
                  <a:lnTo>
                    <a:pt x="1654483" y="224505"/>
                  </a:lnTo>
                  <a:lnTo>
                    <a:pt x="1696380" y="206786"/>
                  </a:lnTo>
                  <a:lnTo>
                    <a:pt x="1738629" y="189744"/>
                  </a:lnTo>
                  <a:lnTo>
                    <a:pt x="1781221" y="173386"/>
                  </a:lnTo>
                  <a:lnTo>
                    <a:pt x="1824152" y="157719"/>
                  </a:lnTo>
                  <a:lnTo>
                    <a:pt x="1867413" y="142751"/>
                  </a:lnTo>
                  <a:lnTo>
                    <a:pt x="1910998" y="128487"/>
                  </a:lnTo>
                  <a:lnTo>
                    <a:pt x="1954901" y="114934"/>
                  </a:lnTo>
                  <a:lnTo>
                    <a:pt x="1999114" y="102100"/>
                  </a:lnTo>
                  <a:lnTo>
                    <a:pt x="2043631" y="89992"/>
                  </a:lnTo>
                  <a:lnTo>
                    <a:pt x="2088444" y="78615"/>
                  </a:lnTo>
                  <a:lnTo>
                    <a:pt x="2133548" y="67977"/>
                  </a:lnTo>
                  <a:lnTo>
                    <a:pt x="2178935" y="58084"/>
                  </a:lnTo>
                  <a:lnTo>
                    <a:pt x="2224599" y="48944"/>
                  </a:lnTo>
                  <a:lnTo>
                    <a:pt x="2270532" y="40563"/>
                  </a:lnTo>
                  <a:lnTo>
                    <a:pt x="2316728" y="32947"/>
                  </a:lnTo>
                  <a:lnTo>
                    <a:pt x="2363180" y="26105"/>
                  </a:lnTo>
                  <a:lnTo>
                    <a:pt x="2409881" y="20042"/>
                  </a:lnTo>
                  <a:lnTo>
                    <a:pt x="2456825" y="14765"/>
                  </a:lnTo>
                  <a:lnTo>
                    <a:pt x="2504004" y="10282"/>
                  </a:lnTo>
                  <a:lnTo>
                    <a:pt x="2551413" y="6598"/>
                  </a:lnTo>
                  <a:lnTo>
                    <a:pt x="2599043" y="3722"/>
                  </a:lnTo>
                  <a:lnTo>
                    <a:pt x="2646889" y="1658"/>
                  </a:lnTo>
                  <a:lnTo>
                    <a:pt x="2694944" y="415"/>
                  </a:lnTo>
                  <a:lnTo>
                    <a:pt x="2743200" y="0"/>
                  </a:lnTo>
                  <a:lnTo>
                    <a:pt x="2791452" y="415"/>
                  </a:lnTo>
                  <a:lnTo>
                    <a:pt x="2839502" y="1658"/>
                  </a:lnTo>
                  <a:lnTo>
                    <a:pt x="2887344" y="3722"/>
                  </a:lnTo>
                  <a:lnTo>
                    <a:pt x="2934971" y="6598"/>
                  </a:lnTo>
                  <a:lnTo>
                    <a:pt x="2982376" y="10282"/>
                  </a:lnTo>
                  <a:lnTo>
                    <a:pt x="3029553" y="14765"/>
                  </a:lnTo>
                  <a:lnTo>
                    <a:pt x="3076494" y="20042"/>
                  </a:lnTo>
                  <a:lnTo>
                    <a:pt x="3123192" y="26105"/>
                  </a:lnTo>
                  <a:lnTo>
                    <a:pt x="3169641" y="32947"/>
                  </a:lnTo>
                  <a:lnTo>
                    <a:pt x="3215835" y="40563"/>
                  </a:lnTo>
                  <a:lnTo>
                    <a:pt x="3261766" y="48944"/>
                  </a:lnTo>
                  <a:lnTo>
                    <a:pt x="3307427" y="58084"/>
                  </a:lnTo>
                  <a:lnTo>
                    <a:pt x="3352812" y="67977"/>
                  </a:lnTo>
                  <a:lnTo>
                    <a:pt x="3397913" y="78615"/>
                  </a:lnTo>
                  <a:lnTo>
                    <a:pt x="3442725" y="89992"/>
                  </a:lnTo>
                  <a:lnTo>
                    <a:pt x="3487240" y="102100"/>
                  </a:lnTo>
                  <a:lnTo>
                    <a:pt x="3531452" y="114934"/>
                  </a:lnTo>
                  <a:lnTo>
                    <a:pt x="3575353" y="128487"/>
                  </a:lnTo>
                  <a:lnTo>
                    <a:pt x="3618937" y="142751"/>
                  </a:lnTo>
                  <a:lnTo>
                    <a:pt x="3652774" y="154459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-1586" y="-1587"/>
            <a:ext cx="88900" cy="5151755"/>
            <a:chOff x="-1586" y="-1587"/>
            <a:chExt cx="88900" cy="5151755"/>
          </a:xfrm>
        </p:grpSpPr>
        <p:sp>
          <p:nvSpPr>
            <p:cNvPr id="10" name="object 10"/>
            <p:cNvSpPr/>
            <p:nvPr/>
          </p:nvSpPr>
          <p:spPr>
            <a:xfrm>
              <a:off x="4763" y="4762"/>
              <a:ext cx="76200" cy="5139055"/>
            </a:xfrm>
            <a:custGeom>
              <a:avLst/>
              <a:gdLst/>
              <a:ahLst/>
              <a:cxnLst/>
              <a:rect l="l" t="t" r="r" b="b"/>
              <a:pathLst>
                <a:path w="76200" h="5139055">
                  <a:moveTo>
                    <a:pt x="76200" y="0"/>
                  </a:moveTo>
                  <a:lnTo>
                    <a:pt x="0" y="0"/>
                  </a:lnTo>
                  <a:lnTo>
                    <a:pt x="0" y="5138737"/>
                  </a:lnTo>
                  <a:lnTo>
                    <a:pt x="76200" y="5138737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FFFFFF">
                <a:alpha val="4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763" y="4762"/>
              <a:ext cx="76200" cy="5139055"/>
            </a:xfrm>
            <a:custGeom>
              <a:avLst/>
              <a:gdLst/>
              <a:ahLst/>
              <a:cxnLst/>
              <a:rect l="l" t="t" r="r" b="b"/>
              <a:pathLst>
                <a:path w="76200" h="5139055">
                  <a:moveTo>
                    <a:pt x="76200" y="5138737"/>
                  </a:moveTo>
                  <a:lnTo>
                    <a:pt x="76200" y="0"/>
                  </a:lnTo>
                  <a:lnTo>
                    <a:pt x="0" y="0"/>
                  </a:lnTo>
                  <a:lnTo>
                    <a:pt x="0" y="5138737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45134" y="901382"/>
            <a:ext cx="123952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153795" algn="l"/>
              </a:tabLst>
            </a:pP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100" b="1" spc="2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100" b="1" spc="2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100" b="1" spc="20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100" b="1" spc="2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100" b="1" spc="2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100" b="1" spc="1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spc="-5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11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445134" y="1567497"/>
            <a:ext cx="2313940" cy="11918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0499"/>
              </a:lnSpc>
              <a:spcBef>
                <a:spcPts val="110"/>
              </a:spcBef>
            </a:pPr>
            <a:r>
              <a:rPr sz="3800" dirty="0"/>
              <a:t>Données</a:t>
            </a:r>
            <a:r>
              <a:rPr sz="3800" spc="-135" dirty="0"/>
              <a:t> </a:t>
            </a:r>
            <a:r>
              <a:rPr sz="3800" spc="-50" dirty="0"/>
              <a:t>&amp; </a:t>
            </a:r>
            <a:r>
              <a:rPr sz="3800" spc="-25" dirty="0"/>
              <a:t>Exploration</a:t>
            </a:r>
            <a:endParaRPr sz="3800"/>
          </a:p>
        </p:txBody>
      </p:sp>
      <p:sp>
        <p:nvSpPr>
          <p:cNvPr id="14" name="object 14"/>
          <p:cNvSpPr txBox="1"/>
          <p:nvPr/>
        </p:nvSpPr>
        <p:spPr>
          <a:xfrm>
            <a:off x="445134" y="3313747"/>
            <a:ext cx="3258820" cy="2203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i="1" dirty="0">
                <a:solidFill>
                  <a:srgbClr val="FFFFFF"/>
                </a:solidFill>
                <a:latin typeface="Calibri"/>
                <a:cs typeface="Calibri"/>
              </a:rPr>
              <a:t>Importation</a:t>
            </a:r>
            <a:r>
              <a:rPr sz="1250" i="1" spc="4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sz="1250" i="1" spc="3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FFFFFF"/>
                </a:solidFill>
                <a:latin typeface="Calibri"/>
                <a:cs typeface="Calibri"/>
              </a:rPr>
              <a:t>Nettoyage</a:t>
            </a:r>
            <a:r>
              <a:rPr sz="1250" i="1" spc="3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sz="1250" i="1" spc="4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FFFFFF"/>
                </a:solidFill>
                <a:latin typeface="Calibri"/>
                <a:cs typeface="Calibri"/>
              </a:rPr>
              <a:t>Univariée</a:t>
            </a:r>
            <a:r>
              <a:rPr sz="1250" i="1" spc="4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sz="1250" i="1" spc="3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i="1" spc="-10" dirty="0">
                <a:solidFill>
                  <a:srgbClr val="FFFFFF"/>
                </a:solidFill>
                <a:latin typeface="Calibri"/>
                <a:cs typeface="Calibri"/>
              </a:rPr>
              <a:t>Fiabilité</a:t>
            </a:r>
            <a:endParaRPr sz="1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586" y="-1523"/>
            <a:ext cx="9152255" cy="927100"/>
            <a:chOff x="-1586" y="-1523"/>
            <a:chExt cx="9152255" cy="927100"/>
          </a:xfrm>
        </p:grpSpPr>
        <p:sp>
          <p:nvSpPr>
            <p:cNvPr id="3" name="object 3"/>
            <p:cNvSpPr/>
            <p:nvPr/>
          </p:nvSpPr>
          <p:spPr>
            <a:xfrm>
              <a:off x="4763" y="4826"/>
              <a:ext cx="9139555" cy="914400"/>
            </a:xfrm>
            <a:custGeom>
              <a:avLst/>
              <a:gdLst/>
              <a:ahLst/>
              <a:cxnLst/>
              <a:rect l="l" t="t" r="r" b="b"/>
              <a:pathLst>
                <a:path w="9139555" h="914400">
                  <a:moveTo>
                    <a:pt x="9139236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39236" y="914400"/>
                  </a:lnTo>
                  <a:lnTo>
                    <a:pt x="9139236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763" y="4826"/>
              <a:ext cx="9139555" cy="914400"/>
            </a:xfrm>
            <a:custGeom>
              <a:avLst/>
              <a:gdLst/>
              <a:ahLst/>
              <a:cxnLst/>
              <a:rect l="l" t="t" r="r" b="b"/>
              <a:pathLst>
                <a:path w="9139555" h="914400">
                  <a:moveTo>
                    <a:pt x="9139236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39236" y="914400"/>
                  </a:lnTo>
                </a:path>
              </a:pathLst>
            </a:custGeom>
            <a:ln w="12700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Présentation</a:t>
            </a:r>
            <a:r>
              <a:rPr spc="15" dirty="0"/>
              <a:t> </a:t>
            </a:r>
            <a:r>
              <a:rPr dirty="0"/>
              <a:t>du</a:t>
            </a:r>
            <a:r>
              <a:rPr spc="-50" dirty="0"/>
              <a:t> </a:t>
            </a:r>
            <a:r>
              <a:rPr spc="-10" dirty="0"/>
              <a:t>Dataset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53377" y="612203"/>
            <a:ext cx="217487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i="1" dirty="0">
                <a:solidFill>
                  <a:srgbClr val="FFFFFF"/>
                </a:solidFill>
                <a:latin typeface="Calibri"/>
                <a:cs typeface="Calibri"/>
              </a:rPr>
              <a:t>Student</a:t>
            </a:r>
            <a:r>
              <a:rPr sz="1050" i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FFFFFF"/>
                </a:solidFill>
                <a:latin typeface="Calibri"/>
                <a:cs typeface="Calibri"/>
              </a:rPr>
              <a:t>Performance</a:t>
            </a:r>
            <a:r>
              <a:rPr sz="1050" i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sz="1050" i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FFFFFF"/>
                </a:solidFill>
                <a:latin typeface="Calibri"/>
                <a:cs typeface="Calibri"/>
              </a:rPr>
              <a:t>Source</a:t>
            </a:r>
            <a:r>
              <a:rPr sz="1050" i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1050" i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i="1" spc="-10" dirty="0">
                <a:solidFill>
                  <a:srgbClr val="FFFFFF"/>
                </a:solidFill>
                <a:latin typeface="Calibri"/>
                <a:cs typeface="Calibri"/>
              </a:rPr>
              <a:t>Kaggle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428101" y="93726"/>
            <a:ext cx="612775" cy="603250"/>
            <a:chOff x="8428101" y="93726"/>
            <a:chExt cx="612775" cy="603250"/>
          </a:xfrm>
        </p:grpSpPr>
        <p:sp>
          <p:nvSpPr>
            <p:cNvPr id="8" name="object 8"/>
            <p:cNvSpPr/>
            <p:nvPr/>
          </p:nvSpPr>
          <p:spPr>
            <a:xfrm>
              <a:off x="8434451" y="100076"/>
              <a:ext cx="600075" cy="590550"/>
            </a:xfrm>
            <a:custGeom>
              <a:avLst/>
              <a:gdLst/>
              <a:ahLst/>
              <a:cxnLst/>
              <a:rect l="l" t="t" r="r" b="b"/>
              <a:pathLst>
                <a:path w="600075" h="590550">
                  <a:moveTo>
                    <a:pt x="299974" y="0"/>
                  </a:moveTo>
                  <a:lnTo>
                    <a:pt x="251301" y="3861"/>
                  </a:lnTo>
                  <a:lnTo>
                    <a:pt x="205134" y="15041"/>
                  </a:lnTo>
                  <a:lnTo>
                    <a:pt x="162090" y="32935"/>
                  </a:lnTo>
                  <a:lnTo>
                    <a:pt x="122785" y="56936"/>
                  </a:lnTo>
                  <a:lnTo>
                    <a:pt x="87836" y="86439"/>
                  </a:lnTo>
                  <a:lnTo>
                    <a:pt x="57859" y="120837"/>
                  </a:lnTo>
                  <a:lnTo>
                    <a:pt x="33470" y="159526"/>
                  </a:lnTo>
                  <a:lnTo>
                    <a:pt x="15286" y="201899"/>
                  </a:lnTo>
                  <a:lnTo>
                    <a:pt x="3924" y="247350"/>
                  </a:lnTo>
                  <a:lnTo>
                    <a:pt x="0" y="295275"/>
                  </a:lnTo>
                  <a:lnTo>
                    <a:pt x="3924" y="343168"/>
                  </a:lnTo>
                  <a:lnTo>
                    <a:pt x="15286" y="388601"/>
                  </a:lnTo>
                  <a:lnTo>
                    <a:pt x="33470" y="430967"/>
                  </a:lnTo>
                  <a:lnTo>
                    <a:pt x="57859" y="469657"/>
                  </a:lnTo>
                  <a:lnTo>
                    <a:pt x="87836" y="504063"/>
                  </a:lnTo>
                  <a:lnTo>
                    <a:pt x="122785" y="533576"/>
                  </a:lnTo>
                  <a:lnTo>
                    <a:pt x="162090" y="557590"/>
                  </a:lnTo>
                  <a:lnTo>
                    <a:pt x="205134" y="575495"/>
                  </a:lnTo>
                  <a:lnTo>
                    <a:pt x="251301" y="586685"/>
                  </a:lnTo>
                  <a:lnTo>
                    <a:pt x="299974" y="590550"/>
                  </a:lnTo>
                  <a:lnTo>
                    <a:pt x="348650" y="586685"/>
                  </a:lnTo>
                  <a:lnTo>
                    <a:pt x="394826" y="575495"/>
                  </a:lnTo>
                  <a:lnTo>
                    <a:pt x="437884" y="557590"/>
                  </a:lnTo>
                  <a:lnTo>
                    <a:pt x="477207" y="533576"/>
                  </a:lnTo>
                  <a:lnTo>
                    <a:pt x="512175" y="504063"/>
                  </a:lnTo>
                  <a:lnTo>
                    <a:pt x="542171" y="469657"/>
                  </a:lnTo>
                  <a:lnTo>
                    <a:pt x="566577" y="430967"/>
                  </a:lnTo>
                  <a:lnTo>
                    <a:pt x="584775" y="388601"/>
                  </a:lnTo>
                  <a:lnTo>
                    <a:pt x="596147" y="343168"/>
                  </a:lnTo>
                  <a:lnTo>
                    <a:pt x="600075" y="295275"/>
                  </a:lnTo>
                  <a:lnTo>
                    <a:pt x="596147" y="247350"/>
                  </a:lnTo>
                  <a:lnTo>
                    <a:pt x="584775" y="201899"/>
                  </a:lnTo>
                  <a:lnTo>
                    <a:pt x="566577" y="159526"/>
                  </a:lnTo>
                  <a:lnTo>
                    <a:pt x="542171" y="120837"/>
                  </a:lnTo>
                  <a:lnTo>
                    <a:pt x="512175" y="86439"/>
                  </a:lnTo>
                  <a:lnTo>
                    <a:pt x="477207" y="56936"/>
                  </a:lnTo>
                  <a:lnTo>
                    <a:pt x="437884" y="32935"/>
                  </a:lnTo>
                  <a:lnTo>
                    <a:pt x="394826" y="15041"/>
                  </a:lnTo>
                  <a:lnTo>
                    <a:pt x="348650" y="3861"/>
                  </a:lnTo>
                  <a:lnTo>
                    <a:pt x="2999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434451" y="100076"/>
              <a:ext cx="600075" cy="590550"/>
            </a:xfrm>
            <a:custGeom>
              <a:avLst/>
              <a:gdLst/>
              <a:ahLst/>
              <a:cxnLst/>
              <a:rect l="l" t="t" r="r" b="b"/>
              <a:pathLst>
                <a:path w="600075" h="590550">
                  <a:moveTo>
                    <a:pt x="0" y="295275"/>
                  </a:moveTo>
                  <a:lnTo>
                    <a:pt x="3924" y="247350"/>
                  </a:lnTo>
                  <a:lnTo>
                    <a:pt x="15286" y="201899"/>
                  </a:lnTo>
                  <a:lnTo>
                    <a:pt x="33470" y="159526"/>
                  </a:lnTo>
                  <a:lnTo>
                    <a:pt x="57859" y="120837"/>
                  </a:lnTo>
                  <a:lnTo>
                    <a:pt x="87836" y="86439"/>
                  </a:lnTo>
                  <a:lnTo>
                    <a:pt x="122785" y="56936"/>
                  </a:lnTo>
                  <a:lnTo>
                    <a:pt x="162090" y="32935"/>
                  </a:lnTo>
                  <a:lnTo>
                    <a:pt x="205134" y="15041"/>
                  </a:lnTo>
                  <a:lnTo>
                    <a:pt x="251301" y="3861"/>
                  </a:lnTo>
                  <a:lnTo>
                    <a:pt x="299974" y="0"/>
                  </a:lnTo>
                  <a:lnTo>
                    <a:pt x="348650" y="3861"/>
                  </a:lnTo>
                  <a:lnTo>
                    <a:pt x="394826" y="15041"/>
                  </a:lnTo>
                  <a:lnTo>
                    <a:pt x="437884" y="32935"/>
                  </a:lnTo>
                  <a:lnTo>
                    <a:pt x="477207" y="56936"/>
                  </a:lnTo>
                  <a:lnTo>
                    <a:pt x="512175" y="86439"/>
                  </a:lnTo>
                  <a:lnTo>
                    <a:pt x="542171" y="120837"/>
                  </a:lnTo>
                  <a:lnTo>
                    <a:pt x="566577" y="159526"/>
                  </a:lnTo>
                  <a:lnTo>
                    <a:pt x="584775" y="201899"/>
                  </a:lnTo>
                  <a:lnTo>
                    <a:pt x="596147" y="247350"/>
                  </a:lnTo>
                  <a:lnTo>
                    <a:pt x="600075" y="295275"/>
                  </a:lnTo>
                  <a:lnTo>
                    <a:pt x="596147" y="343168"/>
                  </a:lnTo>
                  <a:lnTo>
                    <a:pt x="584775" y="388601"/>
                  </a:lnTo>
                  <a:lnTo>
                    <a:pt x="566577" y="430967"/>
                  </a:lnTo>
                  <a:lnTo>
                    <a:pt x="542171" y="469657"/>
                  </a:lnTo>
                  <a:lnTo>
                    <a:pt x="512175" y="504063"/>
                  </a:lnTo>
                  <a:lnTo>
                    <a:pt x="477207" y="533576"/>
                  </a:lnTo>
                  <a:lnTo>
                    <a:pt x="437884" y="557590"/>
                  </a:lnTo>
                  <a:lnTo>
                    <a:pt x="394826" y="575495"/>
                  </a:lnTo>
                  <a:lnTo>
                    <a:pt x="348650" y="586685"/>
                  </a:lnTo>
                  <a:lnTo>
                    <a:pt x="299974" y="590550"/>
                  </a:lnTo>
                  <a:lnTo>
                    <a:pt x="251301" y="586685"/>
                  </a:lnTo>
                  <a:lnTo>
                    <a:pt x="205134" y="575495"/>
                  </a:lnTo>
                  <a:lnTo>
                    <a:pt x="162090" y="557590"/>
                  </a:lnTo>
                  <a:lnTo>
                    <a:pt x="122785" y="533576"/>
                  </a:lnTo>
                  <a:lnTo>
                    <a:pt x="87836" y="504063"/>
                  </a:lnTo>
                  <a:lnTo>
                    <a:pt x="57859" y="469657"/>
                  </a:lnTo>
                  <a:lnTo>
                    <a:pt x="33470" y="430967"/>
                  </a:lnTo>
                  <a:lnTo>
                    <a:pt x="15286" y="388601"/>
                  </a:lnTo>
                  <a:lnTo>
                    <a:pt x="3924" y="343168"/>
                  </a:lnTo>
                  <a:lnTo>
                    <a:pt x="0" y="29527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8672576" y="245173"/>
            <a:ext cx="12700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-50" dirty="0">
                <a:solidFill>
                  <a:srgbClr val="7B39EC"/>
                </a:solidFill>
                <a:latin typeface="Calibri"/>
                <a:cs typeface="Calibri"/>
              </a:rPr>
              <a:t>1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71450" y="962025"/>
            <a:ext cx="2138680" cy="1338580"/>
            <a:chOff x="171450" y="962025"/>
            <a:chExt cx="2138680" cy="133858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1450" y="962025"/>
              <a:ext cx="2138426" cy="13381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38137" y="1033526"/>
              <a:ext cx="1905000" cy="1162050"/>
            </a:xfrm>
            <a:custGeom>
              <a:avLst/>
              <a:gdLst/>
              <a:ahLst/>
              <a:cxnLst/>
              <a:rect l="l" t="t" r="r" b="b"/>
              <a:pathLst>
                <a:path w="1905000" h="1162050">
                  <a:moveTo>
                    <a:pt x="0" y="1162050"/>
                  </a:moveTo>
                  <a:lnTo>
                    <a:pt x="1905000" y="1162050"/>
                  </a:lnTo>
                  <a:lnTo>
                    <a:pt x="1905000" y="0"/>
                  </a:lnTo>
                  <a:lnTo>
                    <a:pt x="0" y="0"/>
                  </a:lnTo>
                  <a:lnTo>
                    <a:pt x="0" y="11620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80987" y="1033526"/>
              <a:ext cx="1962150" cy="1162050"/>
            </a:xfrm>
            <a:custGeom>
              <a:avLst/>
              <a:gdLst/>
              <a:ahLst/>
              <a:cxnLst/>
              <a:rect l="l" t="t" r="r" b="b"/>
              <a:pathLst>
                <a:path w="1962150" h="1162050">
                  <a:moveTo>
                    <a:pt x="0" y="1162050"/>
                  </a:moveTo>
                  <a:lnTo>
                    <a:pt x="1962150" y="1162050"/>
                  </a:lnTo>
                  <a:lnTo>
                    <a:pt x="1962150" y="0"/>
                  </a:lnTo>
                  <a:lnTo>
                    <a:pt x="0" y="0"/>
                  </a:lnTo>
                  <a:lnTo>
                    <a:pt x="0" y="1162050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80987" y="1033526"/>
              <a:ext cx="57150" cy="1162050"/>
            </a:xfrm>
            <a:custGeom>
              <a:avLst/>
              <a:gdLst/>
              <a:ahLst/>
              <a:cxnLst/>
              <a:rect l="l" t="t" r="r" b="b"/>
              <a:pathLst>
                <a:path w="57150" h="1162050">
                  <a:moveTo>
                    <a:pt x="57150" y="0"/>
                  </a:moveTo>
                  <a:lnTo>
                    <a:pt x="0" y="0"/>
                  </a:lnTo>
                  <a:lnTo>
                    <a:pt x="0" y="1162050"/>
                  </a:lnTo>
                  <a:lnTo>
                    <a:pt x="57150" y="1162050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80987" y="1033526"/>
              <a:ext cx="57150" cy="1162050"/>
            </a:xfrm>
            <a:custGeom>
              <a:avLst/>
              <a:gdLst/>
              <a:ahLst/>
              <a:cxnLst/>
              <a:rect l="l" t="t" r="r" b="b"/>
              <a:pathLst>
                <a:path w="57150" h="1162050">
                  <a:moveTo>
                    <a:pt x="0" y="1162050"/>
                  </a:moveTo>
                  <a:lnTo>
                    <a:pt x="57150" y="1162050"/>
                  </a:lnTo>
                  <a:lnTo>
                    <a:pt x="57150" y="0"/>
                  </a:lnTo>
                  <a:lnTo>
                    <a:pt x="0" y="0"/>
                  </a:lnTo>
                  <a:lnTo>
                    <a:pt x="0" y="1162050"/>
                  </a:lnTo>
                  <a:close/>
                </a:path>
              </a:pathLst>
            </a:custGeom>
            <a:ln w="12700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44487" y="1177036"/>
            <a:ext cx="1892300" cy="93789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130"/>
              </a:spcBef>
            </a:pPr>
            <a:r>
              <a:rPr sz="2750" b="1" dirty="0">
                <a:solidFill>
                  <a:srgbClr val="7B39EC"/>
                </a:solidFill>
                <a:latin typeface="Calibri"/>
                <a:cs typeface="Calibri"/>
              </a:rPr>
              <a:t>15</a:t>
            </a:r>
            <a:r>
              <a:rPr sz="2750" b="1" spc="7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2750" b="1" spc="-25" dirty="0">
                <a:solidFill>
                  <a:srgbClr val="7B39EC"/>
                </a:solidFill>
                <a:latin typeface="Calibri"/>
                <a:cs typeface="Calibri"/>
              </a:rPr>
              <a:t>000</a:t>
            </a:r>
            <a:endParaRPr sz="2750">
              <a:latin typeface="Calibri"/>
              <a:cs typeface="Calibri"/>
            </a:endParaRPr>
          </a:p>
          <a:p>
            <a:pPr marL="39370" marR="1050290">
              <a:lnSpc>
                <a:spcPts val="1130"/>
              </a:lnSpc>
              <a:spcBef>
                <a:spcPts val="1620"/>
              </a:spcBef>
            </a:pP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Observations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après</a:t>
            </a:r>
            <a:r>
              <a:rPr sz="950" spc="-4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nettoyage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343150" y="962025"/>
            <a:ext cx="2148205" cy="1338580"/>
            <a:chOff x="2343150" y="962025"/>
            <a:chExt cx="2148205" cy="1338580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43150" y="962025"/>
              <a:ext cx="2147951" cy="133819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509901" y="1033526"/>
              <a:ext cx="1914525" cy="1162050"/>
            </a:xfrm>
            <a:custGeom>
              <a:avLst/>
              <a:gdLst/>
              <a:ahLst/>
              <a:cxnLst/>
              <a:rect l="l" t="t" r="r" b="b"/>
              <a:pathLst>
                <a:path w="1914525" h="1162050">
                  <a:moveTo>
                    <a:pt x="0" y="1162050"/>
                  </a:moveTo>
                  <a:lnTo>
                    <a:pt x="1914525" y="1162050"/>
                  </a:lnTo>
                  <a:lnTo>
                    <a:pt x="1914525" y="0"/>
                  </a:lnTo>
                  <a:lnTo>
                    <a:pt x="0" y="0"/>
                  </a:lnTo>
                  <a:lnTo>
                    <a:pt x="0" y="11620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452751" y="1033526"/>
              <a:ext cx="1971675" cy="1162050"/>
            </a:xfrm>
            <a:custGeom>
              <a:avLst/>
              <a:gdLst/>
              <a:ahLst/>
              <a:cxnLst/>
              <a:rect l="l" t="t" r="r" b="b"/>
              <a:pathLst>
                <a:path w="1971675" h="1162050">
                  <a:moveTo>
                    <a:pt x="0" y="1162050"/>
                  </a:moveTo>
                  <a:lnTo>
                    <a:pt x="1971675" y="1162050"/>
                  </a:lnTo>
                  <a:lnTo>
                    <a:pt x="1971675" y="0"/>
                  </a:lnTo>
                  <a:lnTo>
                    <a:pt x="0" y="0"/>
                  </a:lnTo>
                  <a:lnTo>
                    <a:pt x="0" y="1162050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452751" y="1033526"/>
              <a:ext cx="57150" cy="1162050"/>
            </a:xfrm>
            <a:custGeom>
              <a:avLst/>
              <a:gdLst/>
              <a:ahLst/>
              <a:cxnLst/>
              <a:rect l="l" t="t" r="r" b="b"/>
              <a:pathLst>
                <a:path w="57150" h="1162050">
                  <a:moveTo>
                    <a:pt x="57150" y="0"/>
                  </a:moveTo>
                  <a:lnTo>
                    <a:pt x="0" y="0"/>
                  </a:lnTo>
                  <a:lnTo>
                    <a:pt x="0" y="1162050"/>
                  </a:lnTo>
                  <a:lnTo>
                    <a:pt x="57150" y="1162050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0D93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452751" y="1033526"/>
              <a:ext cx="57150" cy="1162050"/>
            </a:xfrm>
            <a:custGeom>
              <a:avLst/>
              <a:gdLst/>
              <a:ahLst/>
              <a:cxnLst/>
              <a:rect l="l" t="t" r="r" b="b"/>
              <a:pathLst>
                <a:path w="57150" h="1162050">
                  <a:moveTo>
                    <a:pt x="0" y="1162050"/>
                  </a:moveTo>
                  <a:lnTo>
                    <a:pt x="57150" y="1162050"/>
                  </a:lnTo>
                  <a:lnTo>
                    <a:pt x="57150" y="0"/>
                  </a:lnTo>
                  <a:lnTo>
                    <a:pt x="0" y="0"/>
                  </a:lnTo>
                  <a:lnTo>
                    <a:pt x="0" y="1162050"/>
                  </a:lnTo>
                  <a:close/>
                </a:path>
              </a:pathLst>
            </a:custGeom>
            <a:ln w="12700">
              <a:solidFill>
                <a:srgbClr val="0D93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516251" y="1177036"/>
            <a:ext cx="1901825" cy="93789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46355">
              <a:lnSpc>
                <a:spcPct val="100000"/>
              </a:lnSpc>
              <a:spcBef>
                <a:spcPts val="130"/>
              </a:spcBef>
            </a:pPr>
            <a:r>
              <a:rPr sz="2750" b="1" spc="-25" dirty="0">
                <a:solidFill>
                  <a:srgbClr val="0D9387"/>
                </a:solidFill>
                <a:latin typeface="Calibri"/>
                <a:cs typeface="Calibri"/>
              </a:rPr>
              <a:t>15</a:t>
            </a:r>
            <a:endParaRPr sz="2750">
              <a:latin typeface="Calibri"/>
              <a:cs typeface="Calibri"/>
            </a:endParaRPr>
          </a:p>
          <a:p>
            <a:pPr marL="46355">
              <a:lnSpc>
                <a:spcPts val="1135"/>
              </a:lnSpc>
              <a:spcBef>
                <a:spcPts val="1575"/>
              </a:spcBef>
            </a:pP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Variables</a:t>
            </a:r>
            <a:endParaRPr sz="950">
              <a:latin typeface="Calibri"/>
              <a:cs typeface="Calibri"/>
            </a:endParaRPr>
          </a:p>
          <a:p>
            <a:pPr marL="46355">
              <a:lnSpc>
                <a:spcPts val="1135"/>
              </a:lnSpc>
            </a:pP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(7</a:t>
            </a:r>
            <a:r>
              <a:rPr sz="950" spc="-2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num.</a:t>
            </a:r>
            <a:r>
              <a:rPr sz="950" spc="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+</a:t>
            </a:r>
            <a:r>
              <a:rPr sz="950" spc="-1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8</a:t>
            </a:r>
            <a:r>
              <a:rPr sz="950" spc="-2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cat.)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524375" y="962025"/>
            <a:ext cx="2138680" cy="1338580"/>
            <a:chOff x="4524375" y="962025"/>
            <a:chExt cx="2138680" cy="1338580"/>
          </a:xfrm>
        </p:grpSpPr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24375" y="962025"/>
              <a:ext cx="2138426" cy="1338199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691126" y="1033526"/>
              <a:ext cx="1905000" cy="1162050"/>
            </a:xfrm>
            <a:custGeom>
              <a:avLst/>
              <a:gdLst/>
              <a:ahLst/>
              <a:cxnLst/>
              <a:rect l="l" t="t" r="r" b="b"/>
              <a:pathLst>
                <a:path w="1905000" h="1162050">
                  <a:moveTo>
                    <a:pt x="0" y="1162050"/>
                  </a:moveTo>
                  <a:lnTo>
                    <a:pt x="1905000" y="1162050"/>
                  </a:lnTo>
                  <a:lnTo>
                    <a:pt x="1905000" y="0"/>
                  </a:lnTo>
                  <a:lnTo>
                    <a:pt x="0" y="0"/>
                  </a:lnTo>
                  <a:lnTo>
                    <a:pt x="0" y="11620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633976" y="1033526"/>
              <a:ext cx="1962150" cy="1162050"/>
            </a:xfrm>
            <a:custGeom>
              <a:avLst/>
              <a:gdLst/>
              <a:ahLst/>
              <a:cxnLst/>
              <a:rect l="l" t="t" r="r" b="b"/>
              <a:pathLst>
                <a:path w="1962150" h="1162050">
                  <a:moveTo>
                    <a:pt x="0" y="1162050"/>
                  </a:moveTo>
                  <a:lnTo>
                    <a:pt x="1962150" y="1162050"/>
                  </a:lnTo>
                  <a:lnTo>
                    <a:pt x="1962150" y="0"/>
                  </a:lnTo>
                  <a:lnTo>
                    <a:pt x="0" y="0"/>
                  </a:lnTo>
                  <a:lnTo>
                    <a:pt x="0" y="1162050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633976" y="1033526"/>
              <a:ext cx="57150" cy="1162050"/>
            </a:xfrm>
            <a:custGeom>
              <a:avLst/>
              <a:gdLst/>
              <a:ahLst/>
              <a:cxnLst/>
              <a:rect l="l" t="t" r="r" b="b"/>
              <a:pathLst>
                <a:path w="57150" h="1162050">
                  <a:moveTo>
                    <a:pt x="57150" y="0"/>
                  </a:moveTo>
                  <a:lnTo>
                    <a:pt x="0" y="0"/>
                  </a:lnTo>
                  <a:lnTo>
                    <a:pt x="0" y="1162050"/>
                  </a:lnTo>
                  <a:lnTo>
                    <a:pt x="57150" y="1162050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EA57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633976" y="1033526"/>
              <a:ext cx="57150" cy="1162050"/>
            </a:xfrm>
            <a:custGeom>
              <a:avLst/>
              <a:gdLst/>
              <a:ahLst/>
              <a:cxnLst/>
              <a:rect l="l" t="t" r="r" b="b"/>
              <a:pathLst>
                <a:path w="57150" h="1162050">
                  <a:moveTo>
                    <a:pt x="0" y="1162050"/>
                  </a:moveTo>
                  <a:lnTo>
                    <a:pt x="57150" y="1162050"/>
                  </a:lnTo>
                  <a:lnTo>
                    <a:pt x="57150" y="0"/>
                  </a:lnTo>
                  <a:lnTo>
                    <a:pt x="0" y="0"/>
                  </a:lnTo>
                  <a:lnTo>
                    <a:pt x="0" y="1162050"/>
                  </a:lnTo>
                  <a:close/>
                </a:path>
              </a:pathLst>
            </a:custGeom>
            <a:ln w="12700">
              <a:solidFill>
                <a:srgbClr val="EA57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4697476" y="1177036"/>
            <a:ext cx="1892300" cy="93789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43815">
              <a:lnSpc>
                <a:spcPct val="100000"/>
              </a:lnSpc>
              <a:spcBef>
                <a:spcPts val="130"/>
              </a:spcBef>
            </a:pPr>
            <a:r>
              <a:rPr sz="2750" b="1" dirty="0">
                <a:solidFill>
                  <a:srgbClr val="EA570C"/>
                </a:solidFill>
                <a:latin typeface="Calibri"/>
                <a:cs typeface="Calibri"/>
              </a:rPr>
              <a:t>10</a:t>
            </a:r>
            <a:r>
              <a:rPr sz="2750" b="1" spc="75" dirty="0">
                <a:solidFill>
                  <a:srgbClr val="EA570C"/>
                </a:solidFill>
                <a:latin typeface="Calibri"/>
                <a:cs typeface="Calibri"/>
              </a:rPr>
              <a:t> </a:t>
            </a:r>
            <a:r>
              <a:rPr sz="2750" b="1" spc="-25" dirty="0">
                <a:solidFill>
                  <a:srgbClr val="EA570C"/>
                </a:solidFill>
                <a:latin typeface="Calibri"/>
                <a:cs typeface="Calibri"/>
              </a:rPr>
              <a:t>000</a:t>
            </a:r>
            <a:endParaRPr sz="2750">
              <a:latin typeface="Calibri"/>
              <a:cs typeface="Calibri"/>
            </a:endParaRPr>
          </a:p>
          <a:p>
            <a:pPr marL="43815" marR="1325245">
              <a:lnSpc>
                <a:spcPts val="1130"/>
              </a:lnSpc>
              <a:spcBef>
                <a:spcPts val="1620"/>
              </a:spcBef>
            </a:pP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Doublons supprimés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696075" y="962025"/>
            <a:ext cx="2148205" cy="1338580"/>
            <a:chOff x="6696075" y="962025"/>
            <a:chExt cx="2148205" cy="1338580"/>
          </a:xfrm>
        </p:grpSpPr>
        <p:pic>
          <p:nvPicPr>
            <p:cNvPr id="33" name="object 3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96075" y="962025"/>
              <a:ext cx="2147951" cy="1338199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6862826" y="1033526"/>
              <a:ext cx="1914525" cy="1162050"/>
            </a:xfrm>
            <a:custGeom>
              <a:avLst/>
              <a:gdLst/>
              <a:ahLst/>
              <a:cxnLst/>
              <a:rect l="l" t="t" r="r" b="b"/>
              <a:pathLst>
                <a:path w="1914525" h="1162050">
                  <a:moveTo>
                    <a:pt x="0" y="1162050"/>
                  </a:moveTo>
                  <a:lnTo>
                    <a:pt x="1914525" y="1162050"/>
                  </a:lnTo>
                  <a:lnTo>
                    <a:pt x="1914525" y="0"/>
                  </a:lnTo>
                  <a:lnTo>
                    <a:pt x="0" y="0"/>
                  </a:lnTo>
                  <a:lnTo>
                    <a:pt x="0" y="11620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805676" y="1033526"/>
              <a:ext cx="1971675" cy="1162050"/>
            </a:xfrm>
            <a:custGeom>
              <a:avLst/>
              <a:gdLst/>
              <a:ahLst/>
              <a:cxnLst/>
              <a:rect l="l" t="t" r="r" b="b"/>
              <a:pathLst>
                <a:path w="1971675" h="1162050">
                  <a:moveTo>
                    <a:pt x="0" y="1162050"/>
                  </a:moveTo>
                  <a:lnTo>
                    <a:pt x="1971675" y="1162050"/>
                  </a:lnTo>
                  <a:lnTo>
                    <a:pt x="1971675" y="0"/>
                  </a:lnTo>
                  <a:lnTo>
                    <a:pt x="0" y="0"/>
                  </a:lnTo>
                  <a:lnTo>
                    <a:pt x="0" y="1162050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805676" y="1033526"/>
              <a:ext cx="57150" cy="1162050"/>
            </a:xfrm>
            <a:custGeom>
              <a:avLst/>
              <a:gdLst/>
              <a:ahLst/>
              <a:cxnLst/>
              <a:rect l="l" t="t" r="r" b="b"/>
              <a:pathLst>
                <a:path w="57150" h="1162050">
                  <a:moveTo>
                    <a:pt x="57150" y="0"/>
                  </a:moveTo>
                  <a:lnTo>
                    <a:pt x="0" y="0"/>
                  </a:lnTo>
                  <a:lnTo>
                    <a:pt x="0" y="1162050"/>
                  </a:lnTo>
                  <a:lnTo>
                    <a:pt x="57150" y="1162050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16A2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805676" y="1033526"/>
              <a:ext cx="57150" cy="1162050"/>
            </a:xfrm>
            <a:custGeom>
              <a:avLst/>
              <a:gdLst/>
              <a:ahLst/>
              <a:cxnLst/>
              <a:rect l="l" t="t" r="r" b="b"/>
              <a:pathLst>
                <a:path w="57150" h="1162050">
                  <a:moveTo>
                    <a:pt x="0" y="1162050"/>
                  </a:moveTo>
                  <a:lnTo>
                    <a:pt x="57150" y="1162050"/>
                  </a:lnTo>
                  <a:lnTo>
                    <a:pt x="57150" y="0"/>
                  </a:lnTo>
                  <a:lnTo>
                    <a:pt x="0" y="0"/>
                  </a:lnTo>
                  <a:lnTo>
                    <a:pt x="0" y="1162050"/>
                  </a:lnTo>
                  <a:close/>
                </a:path>
              </a:pathLst>
            </a:custGeom>
            <a:ln w="12700">
              <a:solidFill>
                <a:srgbClr val="16A24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6869176" y="1177036"/>
            <a:ext cx="1901825" cy="93789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30"/>
              </a:spcBef>
            </a:pPr>
            <a:r>
              <a:rPr sz="2750" b="1" spc="-50" dirty="0">
                <a:solidFill>
                  <a:srgbClr val="16A249"/>
                </a:solidFill>
                <a:latin typeface="Calibri"/>
                <a:cs typeface="Calibri"/>
              </a:rPr>
              <a:t>0</a:t>
            </a:r>
            <a:endParaRPr sz="2750">
              <a:latin typeface="Calibri"/>
              <a:cs typeface="Calibri"/>
            </a:endParaRPr>
          </a:p>
          <a:p>
            <a:pPr marL="50800" marR="1229995">
              <a:lnSpc>
                <a:spcPts val="1130"/>
              </a:lnSpc>
              <a:spcBef>
                <a:spcPts val="1620"/>
              </a:spcBef>
            </a:pP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Valeurs manquantes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61937" y="2257361"/>
            <a:ext cx="130556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0E172A"/>
                </a:solidFill>
                <a:latin typeface="Calibri"/>
                <a:cs typeface="Calibri"/>
              </a:rPr>
              <a:t>Variables</a:t>
            </a:r>
            <a:r>
              <a:rPr sz="1200" b="1" spc="-3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E172A"/>
                </a:solidFill>
                <a:latin typeface="Calibri"/>
                <a:cs typeface="Calibri"/>
              </a:rPr>
              <a:t>du</a:t>
            </a:r>
            <a:r>
              <a:rPr sz="1200" b="1" spc="2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E172A"/>
                </a:solidFill>
                <a:latin typeface="Calibri"/>
                <a:cs typeface="Calibri"/>
              </a:rPr>
              <a:t>dataset</a:t>
            </a:r>
            <a:endParaRPr sz="1200">
              <a:latin typeface="Calibri"/>
              <a:cs typeface="Calibri"/>
            </a:endParaRPr>
          </a:p>
        </p:txBody>
      </p:sp>
      <p:graphicFrame>
        <p:nvGraphicFramePr>
          <p:cNvPr id="40" name="object 40"/>
          <p:cNvGraphicFramePr>
            <a:graphicFrameLocks noGrp="1"/>
          </p:cNvGraphicFramePr>
          <p:nvPr/>
        </p:nvGraphicFramePr>
        <p:xfrm>
          <a:off x="295643" y="2460751"/>
          <a:ext cx="5175883" cy="25139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948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4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61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89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9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Variable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9080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7B39EC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95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Type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9080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7B39EC"/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9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Description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9080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7B39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9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950" spc="-1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final_grade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9080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950" spc="-1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Catégorielle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9080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95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Variable</a:t>
                      </a:r>
                      <a:r>
                        <a:rPr sz="950" spc="-3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cible</a:t>
                      </a:r>
                      <a:r>
                        <a:rPr sz="950" spc="-2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sz="950" spc="-2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950" spc="-2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sz="950" spc="2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B</a:t>
                      </a:r>
                      <a:r>
                        <a:rPr sz="950" spc="1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sz="950" spc="-6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C</a:t>
                      </a:r>
                      <a:r>
                        <a:rPr sz="950" spc="25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sz="950" spc="2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D</a:t>
                      </a:r>
                      <a:r>
                        <a:rPr sz="950" spc="-6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sz="950" spc="15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E</a:t>
                      </a:r>
                      <a:r>
                        <a:rPr sz="950" spc="-5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sz="950" spc="2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5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F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9080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9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950" spc="-1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study_hours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9207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950" spc="-1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Numérique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9207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95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Heures</a:t>
                      </a:r>
                      <a:r>
                        <a:rPr sz="950" spc="-55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d'étude</a:t>
                      </a:r>
                      <a:r>
                        <a:rPr sz="950" spc="-5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par</a:t>
                      </a:r>
                      <a:r>
                        <a:rPr sz="950" spc="-1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jour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9207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89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950" spc="-1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attendance_percentage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9271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950" spc="-1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Numérique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9271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95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Taux</a:t>
                      </a:r>
                      <a:r>
                        <a:rPr sz="950" spc="-45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d'assiduité</a:t>
                      </a:r>
                      <a:r>
                        <a:rPr sz="950" spc="-3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5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(%)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9271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89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95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math</a:t>
                      </a:r>
                      <a:r>
                        <a:rPr sz="950" spc="35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sz="950" spc="2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science</a:t>
                      </a:r>
                      <a:r>
                        <a:rPr sz="950" spc="-15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sz="950" spc="2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english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9334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950" spc="-1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Numérique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9334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95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Scores</a:t>
                      </a:r>
                      <a:r>
                        <a:rPr sz="950" spc="-65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par</a:t>
                      </a:r>
                      <a:r>
                        <a:rPr sz="950" spc="-2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matière</a:t>
                      </a:r>
                      <a:r>
                        <a:rPr sz="950" spc="-15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(0–100)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9334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385">
                <a:tc>
                  <a:txBody>
                    <a:bodyPr/>
                    <a:lstStyle/>
                    <a:p>
                      <a:pPr marL="91440" marR="255270">
                        <a:lnSpc>
                          <a:spcPct val="105400"/>
                        </a:lnSpc>
                        <a:spcBef>
                          <a:spcPts val="310"/>
                        </a:spcBef>
                      </a:pPr>
                      <a:r>
                        <a:rPr sz="95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gender</a:t>
                      </a:r>
                      <a:r>
                        <a:rPr sz="950" spc="-4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sz="950" spc="5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school / internet</a:t>
                      </a:r>
                      <a:r>
                        <a:rPr sz="950" spc="-2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5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sz="950" spc="1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1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parent_education</a:t>
                      </a:r>
                      <a:r>
                        <a:rPr sz="950" spc="16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5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sz="950" spc="-1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study_method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3937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950" spc="-1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Catégorielle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6096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94615">
                        <a:lnSpc>
                          <a:spcPct val="100000"/>
                        </a:lnSpc>
                      </a:pPr>
                      <a:r>
                        <a:rPr sz="95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Profil</a:t>
                      </a:r>
                      <a:r>
                        <a:rPr sz="950" spc="5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socio-scolaire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6096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89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950" spc="-1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performance_score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9080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82575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950" spc="-10" dirty="0">
                          <a:solidFill>
                            <a:srgbClr val="444444"/>
                          </a:solidFill>
                          <a:latin typeface="Calibri"/>
                          <a:cs typeface="Calibri"/>
                        </a:rPr>
                        <a:t>Numérique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9080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950" spc="10" dirty="0">
                          <a:solidFill>
                            <a:srgbClr val="444444"/>
                          </a:solidFill>
                          <a:latin typeface="Calibri"/>
                          <a:cs typeface="Calibri"/>
                        </a:rPr>
                        <a:t>Score</a:t>
                      </a:r>
                      <a:r>
                        <a:rPr sz="950" spc="30" dirty="0">
                          <a:solidFill>
                            <a:srgbClr val="4444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10" dirty="0">
                          <a:solidFill>
                            <a:srgbClr val="444444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sz="950" spc="130" dirty="0">
                          <a:solidFill>
                            <a:srgbClr val="4444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10" dirty="0">
                          <a:solidFill>
                            <a:srgbClr val="444444"/>
                          </a:solidFill>
                          <a:latin typeface="Calibri"/>
                          <a:cs typeface="Calibri"/>
                        </a:rPr>
                        <a:t>performance</a:t>
                      </a:r>
                      <a:r>
                        <a:rPr sz="950" spc="30" dirty="0">
                          <a:solidFill>
                            <a:srgbClr val="4444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solidFill>
                            <a:srgbClr val="444444"/>
                          </a:solidFill>
                          <a:latin typeface="Calibri"/>
                          <a:cs typeface="Calibri"/>
                        </a:rPr>
                        <a:t>global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9080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1" name="object 41"/>
          <p:cNvSpPr txBox="1"/>
          <p:nvPr/>
        </p:nvSpPr>
        <p:spPr>
          <a:xfrm>
            <a:off x="5616575" y="2257361"/>
            <a:ext cx="140398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E172A"/>
                </a:solidFill>
                <a:latin typeface="Calibri"/>
                <a:cs typeface="Calibri"/>
              </a:rPr>
              <a:t>Répartition</a:t>
            </a:r>
            <a:r>
              <a:rPr sz="1200" b="1" spc="-2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E172A"/>
                </a:solidFill>
                <a:latin typeface="Calibri"/>
                <a:cs typeface="Calibri"/>
              </a:rPr>
              <a:t>des</a:t>
            </a:r>
            <a:r>
              <a:rPr sz="1200" b="1" spc="-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200" b="1" spc="-20" dirty="0">
                <a:solidFill>
                  <a:srgbClr val="0E172A"/>
                </a:solidFill>
                <a:latin typeface="Calibri"/>
                <a:cs typeface="Calibri"/>
              </a:rPr>
              <a:t>Notes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5486400" y="2628900"/>
            <a:ext cx="3476625" cy="2247900"/>
            <a:chOff x="5486400" y="2628900"/>
            <a:chExt cx="3476625" cy="2247900"/>
          </a:xfrm>
        </p:grpSpPr>
        <p:sp>
          <p:nvSpPr>
            <p:cNvPr id="43" name="object 43"/>
            <p:cNvSpPr/>
            <p:nvPr/>
          </p:nvSpPr>
          <p:spPr>
            <a:xfrm>
              <a:off x="5486400" y="2628900"/>
              <a:ext cx="3476625" cy="2247900"/>
            </a:xfrm>
            <a:custGeom>
              <a:avLst/>
              <a:gdLst/>
              <a:ahLst/>
              <a:cxnLst/>
              <a:rect l="l" t="t" r="r" b="b"/>
              <a:pathLst>
                <a:path w="3476625" h="2247900">
                  <a:moveTo>
                    <a:pt x="3349244" y="0"/>
                  </a:moveTo>
                  <a:lnTo>
                    <a:pt x="127380" y="0"/>
                  </a:lnTo>
                  <a:lnTo>
                    <a:pt x="77795" y="10009"/>
                  </a:lnTo>
                  <a:lnTo>
                    <a:pt x="37306" y="37306"/>
                  </a:lnTo>
                  <a:lnTo>
                    <a:pt x="10009" y="77795"/>
                  </a:lnTo>
                  <a:lnTo>
                    <a:pt x="0" y="127381"/>
                  </a:lnTo>
                  <a:lnTo>
                    <a:pt x="0" y="2120493"/>
                  </a:lnTo>
                  <a:lnTo>
                    <a:pt x="10009" y="2170083"/>
                  </a:lnTo>
                  <a:lnTo>
                    <a:pt x="37306" y="2210581"/>
                  </a:lnTo>
                  <a:lnTo>
                    <a:pt x="77795" y="2237886"/>
                  </a:lnTo>
                  <a:lnTo>
                    <a:pt x="127380" y="2247900"/>
                  </a:lnTo>
                  <a:lnTo>
                    <a:pt x="3349244" y="2247900"/>
                  </a:lnTo>
                  <a:lnTo>
                    <a:pt x="3398829" y="2237886"/>
                  </a:lnTo>
                  <a:lnTo>
                    <a:pt x="3439318" y="2210581"/>
                  </a:lnTo>
                  <a:lnTo>
                    <a:pt x="3466615" y="2170083"/>
                  </a:lnTo>
                  <a:lnTo>
                    <a:pt x="3476625" y="2120493"/>
                  </a:lnTo>
                  <a:lnTo>
                    <a:pt x="3476625" y="127381"/>
                  </a:lnTo>
                  <a:lnTo>
                    <a:pt x="3466615" y="77795"/>
                  </a:lnTo>
                  <a:lnTo>
                    <a:pt x="3439318" y="37306"/>
                  </a:lnTo>
                  <a:lnTo>
                    <a:pt x="3398829" y="10009"/>
                  </a:lnTo>
                  <a:lnTo>
                    <a:pt x="3349244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038721" y="2773171"/>
              <a:ext cx="292100" cy="980440"/>
            </a:xfrm>
            <a:custGeom>
              <a:avLst/>
              <a:gdLst/>
              <a:ahLst/>
              <a:cxnLst/>
              <a:rect l="l" t="t" r="r" b="b"/>
              <a:pathLst>
                <a:path w="292100" h="980439">
                  <a:moveTo>
                    <a:pt x="0" y="0"/>
                  </a:moveTo>
                  <a:lnTo>
                    <a:pt x="0" y="980439"/>
                  </a:lnTo>
                  <a:lnTo>
                    <a:pt x="291592" y="44322"/>
                  </a:lnTo>
                  <a:lnTo>
                    <a:pt x="244098" y="30853"/>
                  </a:lnTo>
                  <a:lnTo>
                    <a:pt x="196040" y="19793"/>
                  </a:lnTo>
                  <a:lnTo>
                    <a:pt x="147510" y="11160"/>
                  </a:lnTo>
                  <a:lnTo>
                    <a:pt x="98599" y="4971"/>
                  </a:lnTo>
                  <a:lnTo>
                    <a:pt x="49398" y="12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A2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038721" y="2817495"/>
              <a:ext cx="818515" cy="936625"/>
            </a:xfrm>
            <a:custGeom>
              <a:avLst/>
              <a:gdLst/>
              <a:ahLst/>
              <a:cxnLst/>
              <a:rect l="l" t="t" r="r" b="b"/>
              <a:pathLst>
                <a:path w="818515" h="936625">
                  <a:moveTo>
                    <a:pt x="291592" y="0"/>
                  </a:moveTo>
                  <a:lnTo>
                    <a:pt x="0" y="936117"/>
                  </a:lnTo>
                  <a:lnTo>
                    <a:pt x="818387" y="396113"/>
                  </a:lnTo>
                  <a:lnTo>
                    <a:pt x="788533" y="353411"/>
                  </a:lnTo>
                  <a:lnTo>
                    <a:pt x="756586" y="312510"/>
                  </a:lnTo>
                  <a:lnTo>
                    <a:pt x="722633" y="273474"/>
                  </a:lnTo>
                  <a:lnTo>
                    <a:pt x="686758" y="236370"/>
                  </a:lnTo>
                  <a:lnTo>
                    <a:pt x="649049" y="201260"/>
                  </a:lnTo>
                  <a:lnTo>
                    <a:pt x="609590" y="168211"/>
                  </a:lnTo>
                  <a:lnTo>
                    <a:pt x="568468" y="137286"/>
                  </a:lnTo>
                  <a:lnTo>
                    <a:pt x="525767" y="108552"/>
                  </a:lnTo>
                  <a:lnTo>
                    <a:pt x="481574" y="82073"/>
                  </a:lnTo>
                  <a:lnTo>
                    <a:pt x="435975" y="57913"/>
                  </a:lnTo>
                  <a:lnTo>
                    <a:pt x="389054" y="36137"/>
                  </a:lnTo>
                  <a:lnTo>
                    <a:pt x="340898" y="16811"/>
                  </a:lnTo>
                  <a:lnTo>
                    <a:pt x="291592" y="0"/>
                  </a:lnTo>
                  <a:close/>
                </a:path>
              </a:pathLst>
            </a:custGeom>
            <a:solidFill>
              <a:srgbClr val="64A2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038721" y="3213608"/>
              <a:ext cx="981075" cy="1345565"/>
            </a:xfrm>
            <a:custGeom>
              <a:avLst/>
              <a:gdLst/>
              <a:ahLst/>
              <a:cxnLst/>
              <a:rect l="l" t="t" r="r" b="b"/>
              <a:pathLst>
                <a:path w="981075" h="1345564">
                  <a:moveTo>
                    <a:pt x="818387" y="0"/>
                  </a:moveTo>
                  <a:lnTo>
                    <a:pt x="0" y="540004"/>
                  </a:lnTo>
                  <a:lnTo>
                    <a:pt x="559180" y="1345336"/>
                  </a:lnTo>
                  <a:lnTo>
                    <a:pt x="598053" y="1316931"/>
                  </a:lnTo>
                  <a:lnTo>
                    <a:pt x="635135" y="1286983"/>
                  </a:lnTo>
                  <a:lnTo>
                    <a:pt x="670412" y="1255567"/>
                  </a:lnTo>
                  <a:lnTo>
                    <a:pt x="703870" y="1222757"/>
                  </a:lnTo>
                  <a:lnTo>
                    <a:pt x="735495" y="1188627"/>
                  </a:lnTo>
                  <a:lnTo>
                    <a:pt x="765273" y="1153253"/>
                  </a:lnTo>
                  <a:lnTo>
                    <a:pt x="793188" y="1116708"/>
                  </a:lnTo>
                  <a:lnTo>
                    <a:pt x="819227" y="1079068"/>
                  </a:lnTo>
                  <a:lnTo>
                    <a:pt x="843375" y="1040407"/>
                  </a:lnTo>
                  <a:lnTo>
                    <a:pt x="865618" y="1000799"/>
                  </a:lnTo>
                  <a:lnTo>
                    <a:pt x="885942" y="960319"/>
                  </a:lnTo>
                  <a:lnTo>
                    <a:pt x="904332" y="919041"/>
                  </a:lnTo>
                  <a:lnTo>
                    <a:pt x="920774" y="877041"/>
                  </a:lnTo>
                  <a:lnTo>
                    <a:pt x="935253" y="834392"/>
                  </a:lnTo>
                  <a:lnTo>
                    <a:pt x="947755" y="791169"/>
                  </a:lnTo>
                  <a:lnTo>
                    <a:pt x="958266" y="747447"/>
                  </a:lnTo>
                  <a:lnTo>
                    <a:pt x="966772" y="703300"/>
                  </a:lnTo>
                  <a:lnTo>
                    <a:pt x="973257" y="658803"/>
                  </a:lnTo>
                  <a:lnTo>
                    <a:pt x="977709" y="614030"/>
                  </a:lnTo>
                  <a:lnTo>
                    <a:pt x="980111" y="569056"/>
                  </a:lnTo>
                  <a:lnTo>
                    <a:pt x="980451" y="523955"/>
                  </a:lnTo>
                  <a:lnTo>
                    <a:pt x="978713" y="478802"/>
                  </a:lnTo>
                  <a:lnTo>
                    <a:pt x="974884" y="433671"/>
                  </a:lnTo>
                  <a:lnTo>
                    <a:pt x="968948" y="388638"/>
                  </a:lnTo>
                  <a:lnTo>
                    <a:pt x="960892" y="343776"/>
                  </a:lnTo>
                  <a:lnTo>
                    <a:pt x="950702" y="299160"/>
                  </a:lnTo>
                  <a:lnTo>
                    <a:pt x="938362" y="254864"/>
                  </a:lnTo>
                  <a:lnTo>
                    <a:pt x="923859" y="210964"/>
                  </a:lnTo>
                  <a:lnTo>
                    <a:pt x="907178" y="167534"/>
                  </a:lnTo>
                  <a:lnTo>
                    <a:pt x="888304" y="124647"/>
                  </a:lnTo>
                  <a:lnTo>
                    <a:pt x="867224" y="82380"/>
                  </a:lnTo>
                  <a:lnTo>
                    <a:pt x="843924" y="40806"/>
                  </a:lnTo>
                  <a:lnTo>
                    <a:pt x="818387" y="0"/>
                  </a:lnTo>
                  <a:close/>
                </a:path>
              </a:pathLst>
            </a:custGeom>
            <a:solidFill>
              <a:srgbClr val="D9770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229095" y="3753611"/>
              <a:ext cx="1369060" cy="981075"/>
            </a:xfrm>
            <a:custGeom>
              <a:avLst/>
              <a:gdLst/>
              <a:ahLst/>
              <a:cxnLst/>
              <a:rect l="l" t="t" r="r" b="b"/>
              <a:pathLst>
                <a:path w="1369059" h="981075">
                  <a:moveTo>
                    <a:pt x="809625" y="0"/>
                  </a:moveTo>
                  <a:lnTo>
                    <a:pt x="0" y="552843"/>
                  </a:lnTo>
                  <a:lnTo>
                    <a:pt x="32342" y="597568"/>
                  </a:lnTo>
                  <a:lnTo>
                    <a:pt x="61863" y="634193"/>
                  </a:lnTo>
                  <a:lnTo>
                    <a:pt x="92808" y="669056"/>
                  </a:lnTo>
                  <a:lnTo>
                    <a:pt x="125106" y="702144"/>
                  </a:lnTo>
                  <a:lnTo>
                    <a:pt x="158686" y="733444"/>
                  </a:lnTo>
                  <a:lnTo>
                    <a:pt x="193476" y="762942"/>
                  </a:lnTo>
                  <a:lnTo>
                    <a:pt x="229405" y="790627"/>
                  </a:lnTo>
                  <a:lnTo>
                    <a:pt x="266401" y="816484"/>
                  </a:lnTo>
                  <a:lnTo>
                    <a:pt x="304393" y="840502"/>
                  </a:lnTo>
                  <a:lnTo>
                    <a:pt x="343310" y="862668"/>
                  </a:lnTo>
                  <a:lnTo>
                    <a:pt x="383079" y="882968"/>
                  </a:lnTo>
                  <a:lnTo>
                    <a:pt x="423629" y="901389"/>
                  </a:lnTo>
                  <a:lnTo>
                    <a:pt x="464890" y="917919"/>
                  </a:lnTo>
                  <a:lnTo>
                    <a:pt x="506789" y="932545"/>
                  </a:lnTo>
                  <a:lnTo>
                    <a:pt x="549255" y="945254"/>
                  </a:lnTo>
                  <a:lnTo>
                    <a:pt x="592217" y="956033"/>
                  </a:lnTo>
                  <a:lnTo>
                    <a:pt x="635603" y="964869"/>
                  </a:lnTo>
                  <a:lnTo>
                    <a:pt x="679341" y="971750"/>
                  </a:lnTo>
                  <a:lnTo>
                    <a:pt x="723361" y="976661"/>
                  </a:lnTo>
                  <a:lnTo>
                    <a:pt x="767590" y="979591"/>
                  </a:lnTo>
                  <a:lnTo>
                    <a:pt x="811958" y="980527"/>
                  </a:lnTo>
                  <a:lnTo>
                    <a:pt x="856393" y="979456"/>
                  </a:lnTo>
                  <a:lnTo>
                    <a:pt x="900822" y="976364"/>
                  </a:lnTo>
                  <a:lnTo>
                    <a:pt x="945176" y="971239"/>
                  </a:lnTo>
                  <a:lnTo>
                    <a:pt x="989382" y="964068"/>
                  </a:lnTo>
                  <a:lnTo>
                    <a:pt x="1033369" y="954838"/>
                  </a:lnTo>
                  <a:lnTo>
                    <a:pt x="1077066" y="943536"/>
                  </a:lnTo>
                  <a:lnTo>
                    <a:pt x="1120401" y="930150"/>
                  </a:lnTo>
                  <a:lnTo>
                    <a:pt x="1163302" y="914666"/>
                  </a:lnTo>
                  <a:lnTo>
                    <a:pt x="1205698" y="897072"/>
                  </a:lnTo>
                  <a:lnTo>
                    <a:pt x="1247518" y="877354"/>
                  </a:lnTo>
                  <a:lnTo>
                    <a:pt x="1288690" y="855500"/>
                  </a:lnTo>
                  <a:lnTo>
                    <a:pt x="1329143" y="831497"/>
                  </a:lnTo>
                  <a:lnTo>
                    <a:pt x="1368805" y="805332"/>
                  </a:lnTo>
                  <a:lnTo>
                    <a:pt x="809625" y="0"/>
                  </a:lnTo>
                  <a:close/>
                </a:path>
              </a:pathLst>
            </a:custGeom>
            <a:solidFill>
              <a:srgbClr val="EA57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058422" y="3039363"/>
              <a:ext cx="980440" cy="1267460"/>
            </a:xfrm>
            <a:custGeom>
              <a:avLst/>
              <a:gdLst/>
              <a:ahLst/>
              <a:cxnLst/>
              <a:rect l="l" t="t" r="r" b="b"/>
              <a:pathLst>
                <a:path w="980440" h="1267460">
                  <a:moveTo>
                    <a:pt x="308595" y="0"/>
                  </a:moveTo>
                  <a:lnTo>
                    <a:pt x="274407" y="33759"/>
                  </a:lnTo>
                  <a:lnTo>
                    <a:pt x="242182" y="68820"/>
                  </a:lnTo>
                  <a:lnTo>
                    <a:pt x="211927" y="105106"/>
                  </a:lnTo>
                  <a:lnTo>
                    <a:pt x="183652" y="142539"/>
                  </a:lnTo>
                  <a:lnTo>
                    <a:pt x="157364" y="181043"/>
                  </a:lnTo>
                  <a:lnTo>
                    <a:pt x="133073" y="220541"/>
                  </a:lnTo>
                  <a:lnTo>
                    <a:pt x="110785" y="260956"/>
                  </a:lnTo>
                  <a:lnTo>
                    <a:pt x="90511" y="302212"/>
                  </a:lnTo>
                  <a:lnTo>
                    <a:pt x="72258" y="344232"/>
                  </a:lnTo>
                  <a:lnTo>
                    <a:pt x="56034" y="386939"/>
                  </a:lnTo>
                  <a:lnTo>
                    <a:pt x="41848" y="430256"/>
                  </a:lnTo>
                  <a:lnTo>
                    <a:pt x="29709" y="474106"/>
                  </a:lnTo>
                  <a:lnTo>
                    <a:pt x="19624" y="518413"/>
                  </a:lnTo>
                  <a:lnTo>
                    <a:pt x="11602" y="563100"/>
                  </a:lnTo>
                  <a:lnTo>
                    <a:pt x="5652" y="608090"/>
                  </a:lnTo>
                  <a:lnTo>
                    <a:pt x="1782" y="653306"/>
                  </a:lnTo>
                  <a:lnTo>
                    <a:pt x="0" y="698672"/>
                  </a:lnTo>
                  <a:lnTo>
                    <a:pt x="314" y="744110"/>
                  </a:lnTo>
                  <a:lnTo>
                    <a:pt x="2733" y="789544"/>
                  </a:lnTo>
                  <a:lnTo>
                    <a:pt x="7266" y="834897"/>
                  </a:lnTo>
                  <a:lnTo>
                    <a:pt x="13921" y="880093"/>
                  </a:lnTo>
                  <a:lnTo>
                    <a:pt x="22705" y="925055"/>
                  </a:lnTo>
                  <a:lnTo>
                    <a:pt x="33628" y="969705"/>
                  </a:lnTo>
                  <a:lnTo>
                    <a:pt x="46698" y="1013967"/>
                  </a:lnTo>
                  <a:lnTo>
                    <a:pt x="61924" y="1057764"/>
                  </a:lnTo>
                  <a:lnTo>
                    <a:pt x="79313" y="1101020"/>
                  </a:lnTo>
                  <a:lnTo>
                    <a:pt x="98874" y="1143657"/>
                  </a:lnTo>
                  <a:lnTo>
                    <a:pt x="120615" y="1185599"/>
                  </a:lnTo>
                  <a:lnTo>
                    <a:pt x="144545" y="1226770"/>
                  </a:lnTo>
                  <a:lnTo>
                    <a:pt x="170673" y="1267091"/>
                  </a:lnTo>
                  <a:lnTo>
                    <a:pt x="980298" y="714248"/>
                  </a:lnTo>
                  <a:lnTo>
                    <a:pt x="308595" y="0"/>
                  </a:lnTo>
                  <a:close/>
                </a:path>
              </a:pathLst>
            </a:custGeom>
            <a:solidFill>
              <a:srgbClr val="DC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367017" y="2773171"/>
              <a:ext cx="671830" cy="980440"/>
            </a:xfrm>
            <a:custGeom>
              <a:avLst/>
              <a:gdLst/>
              <a:ahLst/>
              <a:cxnLst/>
              <a:rect l="l" t="t" r="r" b="b"/>
              <a:pathLst>
                <a:path w="671829" h="980439">
                  <a:moveTo>
                    <a:pt x="671703" y="0"/>
                  </a:moveTo>
                  <a:lnTo>
                    <a:pt x="621930" y="1264"/>
                  </a:lnTo>
                  <a:lnTo>
                    <a:pt x="572491" y="5033"/>
                  </a:lnTo>
                  <a:lnTo>
                    <a:pt x="523475" y="11273"/>
                  </a:lnTo>
                  <a:lnTo>
                    <a:pt x="474968" y="19949"/>
                  </a:lnTo>
                  <a:lnTo>
                    <a:pt x="427058" y="31025"/>
                  </a:lnTo>
                  <a:lnTo>
                    <a:pt x="379832" y="44468"/>
                  </a:lnTo>
                  <a:lnTo>
                    <a:pt x="333378" y="60242"/>
                  </a:lnTo>
                  <a:lnTo>
                    <a:pt x="287782" y="78312"/>
                  </a:lnTo>
                  <a:lnTo>
                    <a:pt x="243132" y="98645"/>
                  </a:lnTo>
                  <a:lnTo>
                    <a:pt x="199516" y="121205"/>
                  </a:lnTo>
                  <a:lnTo>
                    <a:pt x="157022" y="145956"/>
                  </a:lnTo>
                  <a:lnTo>
                    <a:pt x="115735" y="172866"/>
                  </a:lnTo>
                  <a:lnTo>
                    <a:pt x="75744" y="201898"/>
                  </a:lnTo>
                  <a:lnTo>
                    <a:pt x="37137" y="233018"/>
                  </a:lnTo>
                  <a:lnTo>
                    <a:pt x="0" y="266191"/>
                  </a:lnTo>
                  <a:lnTo>
                    <a:pt x="671703" y="980439"/>
                  </a:lnTo>
                  <a:lnTo>
                    <a:pt x="671703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7062216" y="2826385"/>
            <a:ext cx="1968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FFFFFF"/>
                </a:solidFill>
                <a:latin typeface="Arial MT"/>
                <a:cs typeface="Arial MT"/>
              </a:rPr>
              <a:t>5%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405369" y="3035871"/>
            <a:ext cx="25146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FFFFFF"/>
                </a:solidFill>
                <a:latin typeface="Arial MT"/>
                <a:cs typeface="Arial MT"/>
              </a:rPr>
              <a:t>11%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710551" y="3818254"/>
            <a:ext cx="25146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FFFFFF"/>
                </a:solidFill>
                <a:latin typeface="Arial MT"/>
                <a:cs typeface="Arial MT"/>
              </a:rPr>
              <a:t>25%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108700" y="3589337"/>
            <a:ext cx="25146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FFFFFF"/>
                </a:solidFill>
                <a:latin typeface="Arial MT"/>
                <a:cs typeface="Arial MT"/>
              </a:rPr>
              <a:t>22%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614159" y="2902267"/>
            <a:ext cx="25146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FFFFFF"/>
                </a:solidFill>
                <a:latin typeface="Arial MT"/>
                <a:cs typeface="Arial MT"/>
              </a:rPr>
              <a:t>12%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8658225" y="3143250"/>
            <a:ext cx="66675" cy="1219200"/>
            <a:chOff x="8658225" y="3143250"/>
            <a:chExt cx="66675" cy="1219200"/>
          </a:xfrm>
        </p:grpSpPr>
        <p:sp>
          <p:nvSpPr>
            <p:cNvPr id="56" name="object 56"/>
            <p:cNvSpPr/>
            <p:nvPr/>
          </p:nvSpPr>
          <p:spPr>
            <a:xfrm>
              <a:off x="8658225" y="3143250"/>
              <a:ext cx="66675" cy="66675"/>
            </a:xfrm>
            <a:custGeom>
              <a:avLst/>
              <a:gdLst/>
              <a:ahLst/>
              <a:cxnLst/>
              <a:rect l="l" t="t" r="r" b="b"/>
              <a:pathLst>
                <a:path w="66675" h="66675">
                  <a:moveTo>
                    <a:pt x="66675" y="0"/>
                  </a:moveTo>
                  <a:lnTo>
                    <a:pt x="0" y="0"/>
                  </a:lnTo>
                  <a:lnTo>
                    <a:pt x="0" y="66675"/>
                  </a:lnTo>
                  <a:lnTo>
                    <a:pt x="66675" y="66675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16A2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8658225" y="3371850"/>
              <a:ext cx="66675" cy="76200"/>
            </a:xfrm>
            <a:custGeom>
              <a:avLst/>
              <a:gdLst/>
              <a:ahLst/>
              <a:cxnLst/>
              <a:rect l="l" t="t" r="r" b="b"/>
              <a:pathLst>
                <a:path w="66675" h="76200">
                  <a:moveTo>
                    <a:pt x="66675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66675" y="76200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64A2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8658225" y="3600450"/>
              <a:ext cx="66675" cy="76200"/>
            </a:xfrm>
            <a:custGeom>
              <a:avLst/>
              <a:gdLst/>
              <a:ahLst/>
              <a:cxnLst/>
              <a:rect l="l" t="t" r="r" b="b"/>
              <a:pathLst>
                <a:path w="66675" h="76200">
                  <a:moveTo>
                    <a:pt x="66675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66675" y="76200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D9770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8658225" y="3829050"/>
              <a:ext cx="66675" cy="76200"/>
            </a:xfrm>
            <a:custGeom>
              <a:avLst/>
              <a:gdLst/>
              <a:ahLst/>
              <a:cxnLst/>
              <a:rect l="l" t="t" r="r" b="b"/>
              <a:pathLst>
                <a:path w="66675" h="76200">
                  <a:moveTo>
                    <a:pt x="66675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66675" y="76200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EA57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8658225" y="4067175"/>
              <a:ext cx="66675" cy="66675"/>
            </a:xfrm>
            <a:custGeom>
              <a:avLst/>
              <a:gdLst/>
              <a:ahLst/>
              <a:cxnLst/>
              <a:rect l="l" t="t" r="r" b="b"/>
              <a:pathLst>
                <a:path w="66675" h="66675">
                  <a:moveTo>
                    <a:pt x="66675" y="0"/>
                  </a:moveTo>
                  <a:lnTo>
                    <a:pt x="0" y="0"/>
                  </a:lnTo>
                  <a:lnTo>
                    <a:pt x="0" y="66675"/>
                  </a:lnTo>
                  <a:lnTo>
                    <a:pt x="66675" y="66675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DC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8658225" y="4295775"/>
              <a:ext cx="66675" cy="66675"/>
            </a:xfrm>
            <a:custGeom>
              <a:avLst/>
              <a:gdLst/>
              <a:ahLst/>
              <a:cxnLst/>
              <a:rect l="l" t="t" r="r" b="b"/>
              <a:pathLst>
                <a:path w="66675" h="66675">
                  <a:moveTo>
                    <a:pt x="66675" y="0"/>
                  </a:moveTo>
                  <a:lnTo>
                    <a:pt x="0" y="0"/>
                  </a:lnTo>
                  <a:lnTo>
                    <a:pt x="0" y="66675"/>
                  </a:lnTo>
                  <a:lnTo>
                    <a:pt x="66675" y="66675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8750934" y="3007042"/>
            <a:ext cx="102235" cy="1405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58900"/>
              </a:lnSpc>
              <a:spcBef>
                <a:spcPts val="90"/>
              </a:spcBef>
            </a:pPr>
            <a:r>
              <a:rPr sz="950" spc="-50" dirty="0">
                <a:latin typeface="Calibri"/>
                <a:cs typeface="Calibri"/>
              </a:rPr>
              <a:t>A</a:t>
            </a:r>
            <a:r>
              <a:rPr sz="950" spc="500" dirty="0">
                <a:latin typeface="Calibri"/>
                <a:cs typeface="Calibri"/>
              </a:rPr>
              <a:t> </a:t>
            </a:r>
            <a:r>
              <a:rPr sz="950" spc="-50" dirty="0">
                <a:latin typeface="Calibri"/>
                <a:cs typeface="Calibri"/>
              </a:rPr>
              <a:t>B</a:t>
            </a:r>
            <a:r>
              <a:rPr sz="950" spc="500" dirty="0">
                <a:latin typeface="Calibri"/>
                <a:cs typeface="Calibri"/>
              </a:rPr>
              <a:t> </a:t>
            </a:r>
            <a:r>
              <a:rPr sz="950" spc="-50" dirty="0">
                <a:latin typeface="Calibri"/>
                <a:cs typeface="Calibri"/>
              </a:rPr>
              <a:t>C</a:t>
            </a:r>
            <a:r>
              <a:rPr sz="950" spc="500" dirty="0">
                <a:latin typeface="Calibri"/>
                <a:cs typeface="Calibri"/>
              </a:rPr>
              <a:t> </a:t>
            </a:r>
            <a:r>
              <a:rPr sz="950" spc="-50" dirty="0">
                <a:latin typeface="Calibri"/>
                <a:cs typeface="Calibri"/>
              </a:rPr>
              <a:t>D</a:t>
            </a:r>
            <a:r>
              <a:rPr sz="950" spc="500" dirty="0">
                <a:latin typeface="Calibri"/>
                <a:cs typeface="Calibri"/>
              </a:rPr>
              <a:t> </a:t>
            </a:r>
            <a:r>
              <a:rPr sz="950" spc="-50" dirty="0">
                <a:latin typeface="Calibri"/>
                <a:cs typeface="Calibri"/>
              </a:rPr>
              <a:t>E</a:t>
            </a:r>
            <a:r>
              <a:rPr sz="950" spc="500" dirty="0">
                <a:latin typeface="Calibri"/>
                <a:cs typeface="Calibri"/>
              </a:rPr>
              <a:t> </a:t>
            </a:r>
            <a:r>
              <a:rPr sz="950" spc="-50" dirty="0">
                <a:latin typeface="Calibri"/>
                <a:cs typeface="Calibri"/>
              </a:rPr>
              <a:t>F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6757034" y="4486275"/>
            <a:ext cx="2132965" cy="602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FFFFFF"/>
                </a:solidFill>
                <a:latin typeface="Arial MT"/>
                <a:cs typeface="Arial MT"/>
              </a:rPr>
              <a:t>25%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900">
              <a:latin typeface="Arial MT"/>
              <a:cs typeface="Arial MT"/>
            </a:endParaRPr>
          </a:p>
          <a:p>
            <a:pPr marL="612775">
              <a:lnSpc>
                <a:spcPct val="100000"/>
              </a:lnSpc>
            </a:pPr>
            <a:r>
              <a:rPr sz="800" i="1" dirty="0">
                <a:solidFill>
                  <a:srgbClr val="93A2B8"/>
                </a:solidFill>
                <a:latin typeface="Calibri"/>
                <a:cs typeface="Calibri"/>
              </a:rPr>
              <a:t>Section</a:t>
            </a:r>
            <a:r>
              <a:rPr sz="800" i="1" spc="-20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93A2B8"/>
                </a:solidFill>
                <a:latin typeface="Calibri"/>
                <a:cs typeface="Calibri"/>
              </a:rPr>
              <a:t>1</a:t>
            </a:r>
            <a:r>
              <a:rPr sz="800" i="1" spc="-40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93A2B8"/>
                </a:solidFill>
                <a:latin typeface="Calibri"/>
                <a:cs typeface="Calibri"/>
              </a:rPr>
              <a:t>—</a:t>
            </a:r>
            <a:r>
              <a:rPr sz="800" i="1" spc="-35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93A2B8"/>
                </a:solidFill>
                <a:latin typeface="Calibri"/>
                <a:cs typeface="Calibri"/>
              </a:rPr>
              <a:t>Présentation</a:t>
            </a:r>
            <a:r>
              <a:rPr sz="800" i="1" spc="-15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93A2B8"/>
                </a:solidFill>
                <a:latin typeface="Calibri"/>
                <a:cs typeface="Calibri"/>
              </a:rPr>
              <a:t>du</a:t>
            </a:r>
            <a:r>
              <a:rPr sz="800" i="1" spc="-15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800" i="1" spc="-10" dirty="0">
                <a:solidFill>
                  <a:srgbClr val="93A2B8"/>
                </a:solidFill>
                <a:latin typeface="Calibri"/>
                <a:cs typeface="Calibri"/>
              </a:rPr>
              <a:t>Dataset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586" y="-1523"/>
            <a:ext cx="9152255" cy="927100"/>
            <a:chOff x="-1586" y="-1523"/>
            <a:chExt cx="9152255" cy="927100"/>
          </a:xfrm>
        </p:grpSpPr>
        <p:sp>
          <p:nvSpPr>
            <p:cNvPr id="3" name="object 3"/>
            <p:cNvSpPr/>
            <p:nvPr/>
          </p:nvSpPr>
          <p:spPr>
            <a:xfrm>
              <a:off x="4763" y="4826"/>
              <a:ext cx="9139555" cy="914400"/>
            </a:xfrm>
            <a:custGeom>
              <a:avLst/>
              <a:gdLst/>
              <a:ahLst/>
              <a:cxnLst/>
              <a:rect l="l" t="t" r="r" b="b"/>
              <a:pathLst>
                <a:path w="9139555" h="914400">
                  <a:moveTo>
                    <a:pt x="9139236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39236" y="914400"/>
                  </a:lnTo>
                  <a:lnTo>
                    <a:pt x="9139236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763" y="4826"/>
              <a:ext cx="9139555" cy="914400"/>
            </a:xfrm>
            <a:custGeom>
              <a:avLst/>
              <a:gdLst/>
              <a:ahLst/>
              <a:cxnLst/>
              <a:rect l="l" t="t" r="r" b="b"/>
              <a:pathLst>
                <a:path w="9139555" h="914400">
                  <a:moveTo>
                    <a:pt x="9139236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39236" y="914400"/>
                  </a:lnTo>
                </a:path>
              </a:pathLst>
            </a:custGeom>
            <a:ln w="12700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Statistiques</a:t>
            </a:r>
            <a:r>
              <a:rPr spc="-114" dirty="0"/>
              <a:t> </a:t>
            </a:r>
            <a:r>
              <a:rPr dirty="0"/>
              <a:t>Descriptives</a:t>
            </a:r>
            <a:r>
              <a:rPr spc="-120" dirty="0"/>
              <a:t> </a:t>
            </a:r>
            <a:r>
              <a:rPr spc="-10" dirty="0"/>
              <a:t>Univariées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53377" y="612203"/>
            <a:ext cx="119189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i="1" dirty="0">
                <a:solidFill>
                  <a:srgbClr val="FFFFFF"/>
                </a:solidFill>
                <a:latin typeface="Calibri"/>
                <a:cs typeface="Calibri"/>
              </a:rPr>
              <a:t>Variables</a:t>
            </a:r>
            <a:r>
              <a:rPr sz="1050" i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i="1" spc="-10" dirty="0">
                <a:solidFill>
                  <a:srgbClr val="FFFFFF"/>
                </a:solidFill>
                <a:latin typeface="Calibri"/>
                <a:cs typeface="Calibri"/>
              </a:rPr>
              <a:t>numériques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428101" y="93726"/>
            <a:ext cx="612775" cy="603250"/>
            <a:chOff x="8428101" y="93726"/>
            <a:chExt cx="612775" cy="603250"/>
          </a:xfrm>
        </p:grpSpPr>
        <p:sp>
          <p:nvSpPr>
            <p:cNvPr id="8" name="object 8"/>
            <p:cNvSpPr/>
            <p:nvPr/>
          </p:nvSpPr>
          <p:spPr>
            <a:xfrm>
              <a:off x="8434451" y="100076"/>
              <a:ext cx="600075" cy="590550"/>
            </a:xfrm>
            <a:custGeom>
              <a:avLst/>
              <a:gdLst/>
              <a:ahLst/>
              <a:cxnLst/>
              <a:rect l="l" t="t" r="r" b="b"/>
              <a:pathLst>
                <a:path w="600075" h="590550">
                  <a:moveTo>
                    <a:pt x="299974" y="0"/>
                  </a:moveTo>
                  <a:lnTo>
                    <a:pt x="251301" y="3861"/>
                  </a:lnTo>
                  <a:lnTo>
                    <a:pt x="205134" y="15041"/>
                  </a:lnTo>
                  <a:lnTo>
                    <a:pt x="162090" y="32935"/>
                  </a:lnTo>
                  <a:lnTo>
                    <a:pt x="122785" y="56936"/>
                  </a:lnTo>
                  <a:lnTo>
                    <a:pt x="87836" y="86439"/>
                  </a:lnTo>
                  <a:lnTo>
                    <a:pt x="57859" y="120837"/>
                  </a:lnTo>
                  <a:lnTo>
                    <a:pt x="33470" y="159526"/>
                  </a:lnTo>
                  <a:lnTo>
                    <a:pt x="15286" y="201899"/>
                  </a:lnTo>
                  <a:lnTo>
                    <a:pt x="3924" y="247350"/>
                  </a:lnTo>
                  <a:lnTo>
                    <a:pt x="0" y="295275"/>
                  </a:lnTo>
                  <a:lnTo>
                    <a:pt x="3924" y="343168"/>
                  </a:lnTo>
                  <a:lnTo>
                    <a:pt x="15286" y="388601"/>
                  </a:lnTo>
                  <a:lnTo>
                    <a:pt x="33470" y="430967"/>
                  </a:lnTo>
                  <a:lnTo>
                    <a:pt x="57859" y="469657"/>
                  </a:lnTo>
                  <a:lnTo>
                    <a:pt x="87836" y="504063"/>
                  </a:lnTo>
                  <a:lnTo>
                    <a:pt x="122785" y="533576"/>
                  </a:lnTo>
                  <a:lnTo>
                    <a:pt x="162090" y="557590"/>
                  </a:lnTo>
                  <a:lnTo>
                    <a:pt x="205134" y="575495"/>
                  </a:lnTo>
                  <a:lnTo>
                    <a:pt x="251301" y="586685"/>
                  </a:lnTo>
                  <a:lnTo>
                    <a:pt x="299974" y="590550"/>
                  </a:lnTo>
                  <a:lnTo>
                    <a:pt x="348650" y="586685"/>
                  </a:lnTo>
                  <a:lnTo>
                    <a:pt x="394826" y="575495"/>
                  </a:lnTo>
                  <a:lnTo>
                    <a:pt x="437884" y="557590"/>
                  </a:lnTo>
                  <a:lnTo>
                    <a:pt x="477207" y="533576"/>
                  </a:lnTo>
                  <a:lnTo>
                    <a:pt x="512175" y="504063"/>
                  </a:lnTo>
                  <a:lnTo>
                    <a:pt x="542171" y="469657"/>
                  </a:lnTo>
                  <a:lnTo>
                    <a:pt x="566577" y="430967"/>
                  </a:lnTo>
                  <a:lnTo>
                    <a:pt x="584775" y="388601"/>
                  </a:lnTo>
                  <a:lnTo>
                    <a:pt x="596147" y="343168"/>
                  </a:lnTo>
                  <a:lnTo>
                    <a:pt x="600075" y="295275"/>
                  </a:lnTo>
                  <a:lnTo>
                    <a:pt x="596147" y="247350"/>
                  </a:lnTo>
                  <a:lnTo>
                    <a:pt x="584775" y="201899"/>
                  </a:lnTo>
                  <a:lnTo>
                    <a:pt x="566577" y="159526"/>
                  </a:lnTo>
                  <a:lnTo>
                    <a:pt x="542171" y="120837"/>
                  </a:lnTo>
                  <a:lnTo>
                    <a:pt x="512175" y="86439"/>
                  </a:lnTo>
                  <a:lnTo>
                    <a:pt x="477207" y="56936"/>
                  </a:lnTo>
                  <a:lnTo>
                    <a:pt x="437884" y="32935"/>
                  </a:lnTo>
                  <a:lnTo>
                    <a:pt x="394826" y="15041"/>
                  </a:lnTo>
                  <a:lnTo>
                    <a:pt x="348650" y="3861"/>
                  </a:lnTo>
                  <a:lnTo>
                    <a:pt x="2999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434451" y="100076"/>
              <a:ext cx="600075" cy="590550"/>
            </a:xfrm>
            <a:custGeom>
              <a:avLst/>
              <a:gdLst/>
              <a:ahLst/>
              <a:cxnLst/>
              <a:rect l="l" t="t" r="r" b="b"/>
              <a:pathLst>
                <a:path w="600075" h="590550">
                  <a:moveTo>
                    <a:pt x="0" y="295275"/>
                  </a:moveTo>
                  <a:lnTo>
                    <a:pt x="3924" y="247350"/>
                  </a:lnTo>
                  <a:lnTo>
                    <a:pt x="15286" y="201899"/>
                  </a:lnTo>
                  <a:lnTo>
                    <a:pt x="33470" y="159526"/>
                  </a:lnTo>
                  <a:lnTo>
                    <a:pt x="57859" y="120837"/>
                  </a:lnTo>
                  <a:lnTo>
                    <a:pt x="87836" y="86439"/>
                  </a:lnTo>
                  <a:lnTo>
                    <a:pt x="122785" y="56936"/>
                  </a:lnTo>
                  <a:lnTo>
                    <a:pt x="162090" y="32935"/>
                  </a:lnTo>
                  <a:lnTo>
                    <a:pt x="205134" y="15041"/>
                  </a:lnTo>
                  <a:lnTo>
                    <a:pt x="251301" y="3861"/>
                  </a:lnTo>
                  <a:lnTo>
                    <a:pt x="299974" y="0"/>
                  </a:lnTo>
                  <a:lnTo>
                    <a:pt x="348650" y="3861"/>
                  </a:lnTo>
                  <a:lnTo>
                    <a:pt x="394826" y="15041"/>
                  </a:lnTo>
                  <a:lnTo>
                    <a:pt x="437884" y="32935"/>
                  </a:lnTo>
                  <a:lnTo>
                    <a:pt x="477207" y="56936"/>
                  </a:lnTo>
                  <a:lnTo>
                    <a:pt x="512175" y="86439"/>
                  </a:lnTo>
                  <a:lnTo>
                    <a:pt x="542171" y="120837"/>
                  </a:lnTo>
                  <a:lnTo>
                    <a:pt x="566577" y="159526"/>
                  </a:lnTo>
                  <a:lnTo>
                    <a:pt x="584775" y="201899"/>
                  </a:lnTo>
                  <a:lnTo>
                    <a:pt x="596147" y="247350"/>
                  </a:lnTo>
                  <a:lnTo>
                    <a:pt x="600075" y="295275"/>
                  </a:lnTo>
                  <a:lnTo>
                    <a:pt x="596147" y="343168"/>
                  </a:lnTo>
                  <a:lnTo>
                    <a:pt x="584775" y="388601"/>
                  </a:lnTo>
                  <a:lnTo>
                    <a:pt x="566577" y="430967"/>
                  </a:lnTo>
                  <a:lnTo>
                    <a:pt x="542171" y="469657"/>
                  </a:lnTo>
                  <a:lnTo>
                    <a:pt x="512175" y="504063"/>
                  </a:lnTo>
                  <a:lnTo>
                    <a:pt x="477207" y="533576"/>
                  </a:lnTo>
                  <a:lnTo>
                    <a:pt x="437884" y="557590"/>
                  </a:lnTo>
                  <a:lnTo>
                    <a:pt x="394826" y="575495"/>
                  </a:lnTo>
                  <a:lnTo>
                    <a:pt x="348650" y="586685"/>
                  </a:lnTo>
                  <a:lnTo>
                    <a:pt x="299974" y="590550"/>
                  </a:lnTo>
                  <a:lnTo>
                    <a:pt x="251301" y="586685"/>
                  </a:lnTo>
                  <a:lnTo>
                    <a:pt x="205134" y="575495"/>
                  </a:lnTo>
                  <a:lnTo>
                    <a:pt x="162090" y="557590"/>
                  </a:lnTo>
                  <a:lnTo>
                    <a:pt x="122785" y="533576"/>
                  </a:lnTo>
                  <a:lnTo>
                    <a:pt x="87836" y="504063"/>
                  </a:lnTo>
                  <a:lnTo>
                    <a:pt x="57859" y="469657"/>
                  </a:lnTo>
                  <a:lnTo>
                    <a:pt x="33470" y="430967"/>
                  </a:lnTo>
                  <a:lnTo>
                    <a:pt x="15286" y="388601"/>
                  </a:lnTo>
                  <a:lnTo>
                    <a:pt x="3924" y="343168"/>
                  </a:lnTo>
                  <a:lnTo>
                    <a:pt x="0" y="29527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8672576" y="245173"/>
            <a:ext cx="12700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-50" dirty="0">
                <a:solidFill>
                  <a:srgbClr val="7B39EC"/>
                </a:solidFill>
                <a:latin typeface="Calibri"/>
                <a:cs typeface="Calibri"/>
              </a:rPr>
              <a:t>1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1937" y="1049591"/>
            <a:ext cx="1729739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0E172A"/>
                </a:solidFill>
                <a:latin typeface="Calibri"/>
                <a:cs typeface="Calibri"/>
              </a:rPr>
              <a:t>Scores</a:t>
            </a:r>
            <a:r>
              <a:rPr sz="1200" b="1" spc="-3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E172A"/>
                </a:solidFill>
                <a:latin typeface="Calibri"/>
                <a:cs typeface="Calibri"/>
              </a:rPr>
              <a:t>moyens</a:t>
            </a:r>
            <a:r>
              <a:rPr sz="1200" b="1" spc="-3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E172A"/>
                </a:solidFill>
                <a:latin typeface="Calibri"/>
                <a:cs typeface="Calibri"/>
              </a:rPr>
              <a:t>par</a:t>
            </a:r>
            <a:r>
              <a:rPr sz="1200" b="1" spc="1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E172A"/>
                </a:solidFill>
                <a:latin typeface="Calibri"/>
                <a:cs typeface="Calibri"/>
              </a:rPr>
              <a:t>matière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76225" y="1323975"/>
            <a:ext cx="4114800" cy="1924050"/>
            <a:chOff x="276225" y="1323975"/>
            <a:chExt cx="4114800" cy="1924050"/>
          </a:xfrm>
        </p:grpSpPr>
        <p:sp>
          <p:nvSpPr>
            <p:cNvPr id="13" name="object 13"/>
            <p:cNvSpPr/>
            <p:nvPr/>
          </p:nvSpPr>
          <p:spPr>
            <a:xfrm>
              <a:off x="276225" y="1323975"/>
              <a:ext cx="4114800" cy="1924050"/>
            </a:xfrm>
            <a:custGeom>
              <a:avLst/>
              <a:gdLst/>
              <a:ahLst/>
              <a:cxnLst/>
              <a:rect l="l" t="t" r="r" b="b"/>
              <a:pathLst>
                <a:path w="4114800" h="1924050">
                  <a:moveTo>
                    <a:pt x="3987546" y="0"/>
                  </a:moveTo>
                  <a:lnTo>
                    <a:pt x="127241" y="0"/>
                  </a:lnTo>
                  <a:lnTo>
                    <a:pt x="77715" y="10007"/>
                  </a:lnTo>
                  <a:lnTo>
                    <a:pt x="37269" y="37290"/>
                  </a:lnTo>
                  <a:lnTo>
                    <a:pt x="9999" y="77741"/>
                  </a:lnTo>
                  <a:lnTo>
                    <a:pt x="0" y="127253"/>
                  </a:lnTo>
                  <a:lnTo>
                    <a:pt x="0" y="1796795"/>
                  </a:lnTo>
                  <a:lnTo>
                    <a:pt x="9999" y="1846308"/>
                  </a:lnTo>
                  <a:lnTo>
                    <a:pt x="37269" y="1886759"/>
                  </a:lnTo>
                  <a:lnTo>
                    <a:pt x="77715" y="1914042"/>
                  </a:lnTo>
                  <a:lnTo>
                    <a:pt x="127241" y="1924050"/>
                  </a:lnTo>
                  <a:lnTo>
                    <a:pt x="3987546" y="1924050"/>
                  </a:lnTo>
                  <a:lnTo>
                    <a:pt x="4037058" y="1914042"/>
                  </a:lnTo>
                  <a:lnTo>
                    <a:pt x="4077509" y="1886759"/>
                  </a:lnTo>
                  <a:lnTo>
                    <a:pt x="4104792" y="1846308"/>
                  </a:lnTo>
                  <a:lnTo>
                    <a:pt x="4114800" y="1796795"/>
                  </a:lnTo>
                  <a:lnTo>
                    <a:pt x="4114800" y="127253"/>
                  </a:lnTo>
                  <a:lnTo>
                    <a:pt x="4104792" y="77741"/>
                  </a:lnTo>
                  <a:lnTo>
                    <a:pt x="4077509" y="37290"/>
                  </a:lnTo>
                  <a:lnTo>
                    <a:pt x="4037058" y="10007"/>
                  </a:lnTo>
                  <a:lnTo>
                    <a:pt x="3987546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61987" y="1471676"/>
              <a:ext cx="3591560" cy="952500"/>
            </a:xfrm>
            <a:custGeom>
              <a:avLst/>
              <a:gdLst/>
              <a:ahLst/>
              <a:cxnLst/>
              <a:rect l="l" t="t" r="r" b="b"/>
              <a:pathLst>
                <a:path w="3591560" h="952500">
                  <a:moveTo>
                    <a:pt x="0" y="952500"/>
                  </a:moveTo>
                  <a:lnTo>
                    <a:pt x="261937" y="952500"/>
                  </a:lnTo>
                </a:path>
                <a:path w="3591560" h="952500">
                  <a:moveTo>
                    <a:pt x="623887" y="952500"/>
                  </a:moveTo>
                  <a:lnTo>
                    <a:pt x="1166812" y="952500"/>
                  </a:lnTo>
                </a:path>
                <a:path w="3591560" h="952500">
                  <a:moveTo>
                    <a:pt x="1519237" y="952500"/>
                  </a:moveTo>
                  <a:lnTo>
                    <a:pt x="2062162" y="952500"/>
                  </a:lnTo>
                </a:path>
                <a:path w="3591560" h="952500">
                  <a:moveTo>
                    <a:pt x="2424112" y="952500"/>
                  </a:moveTo>
                  <a:lnTo>
                    <a:pt x="2957512" y="952500"/>
                  </a:lnTo>
                </a:path>
                <a:path w="3591560" h="952500">
                  <a:moveTo>
                    <a:pt x="3319462" y="952500"/>
                  </a:moveTo>
                  <a:lnTo>
                    <a:pt x="3590988" y="952500"/>
                  </a:lnTo>
                </a:path>
                <a:path w="3591560" h="952500">
                  <a:moveTo>
                    <a:pt x="0" y="476250"/>
                  </a:moveTo>
                  <a:lnTo>
                    <a:pt x="3590988" y="476250"/>
                  </a:lnTo>
                </a:path>
                <a:path w="3591560" h="952500">
                  <a:moveTo>
                    <a:pt x="0" y="0"/>
                  </a:moveTo>
                  <a:lnTo>
                    <a:pt x="3590988" y="0"/>
                  </a:lnTo>
                </a:path>
              </a:pathLst>
            </a:custGeom>
            <a:ln w="635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23925" y="2066925"/>
              <a:ext cx="361950" cy="838200"/>
            </a:xfrm>
            <a:custGeom>
              <a:avLst/>
              <a:gdLst/>
              <a:ahLst/>
              <a:cxnLst/>
              <a:rect l="l" t="t" r="r" b="b"/>
              <a:pathLst>
                <a:path w="361950" h="838200">
                  <a:moveTo>
                    <a:pt x="361950" y="0"/>
                  </a:moveTo>
                  <a:lnTo>
                    <a:pt x="0" y="0"/>
                  </a:lnTo>
                  <a:lnTo>
                    <a:pt x="0" y="838200"/>
                  </a:lnTo>
                  <a:lnTo>
                    <a:pt x="361950" y="838200"/>
                  </a:lnTo>
                  <a:lnTo>
                    <a:pt x="361950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828800" y="2066925"/>
              <a:ext cx="352425" cy="838200"/>
            </a:xfrm>
            <a:custGeom>
              <a:avLst/>
              <a:gdLst/>
              <a:ahLst/>
              <a:cxnLst/>
              <a:rect l="l" t="t" r="r" b="b"/>
              <a:pathLst>
                <a:path w="352425" h="838200">
                  <a:moveTo>
                    <a:pt x="352425" y="0"/>
                  </a:moveTo>
                  <a:lnTo>
                    <a:pt x="0" y="0"/>
                  </a:lnTo>
                  <a:lnTo>
                    <a:pt x="0" y="838200"/>
                  </a:lnTo>
                  <a:lnTo>
                    <a:pt x="352425" y="838200"/>
                  </a:lnTo>
                  <a:lnTo>
                    <a:pt x="352425" y="0"/>
                  </a:lnTo>
                  <a:close/>
                </a:path>
              </a:pathLst>
            </a:custGeom>
            <a:solidFill>
              <a:srgbClr val="0D93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724150" y="2076450"/>
              <a:ext cx="361950" cy="828675"/>
            </a:xfrm>
            <a:custGeom>
              <a:avLst/>
              <a:gdLst/>
              <a:ahLst/>
              <a:cxnLst/>
              <a:rect l="l" t="t" r="r" b="b"/>
              <a:pathLst>
                <a:path w="361950" h="828675">
                  <a:moveTo>
                    <a:pt x="361950" y="0"/>
                  </a:moveTo>
                  <a:lnTo>
                    <a:pt x="0" y="0"/>
                  </a:lnTo>
                  <a:lnTo>
                    <a:pt x="0" y="828675"/>
                  </a:lnTo>
                  <a:lnTo>
                    <a:pt x="361950" y="828675"/>
                  </a:lnTo>
                  <a:lnTo>
                    <a:pt x="361950" y="0"/>
                  </a:lnTo>
                  <a:close/>
                </a:path>
              </a:pathLst>
            </a:custGeom>
            <a:solidFill>
              <a:srgbClr val="13B8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619500" y="2047875"/>
              <a:ext cx="361950" cy="857250"/>
            </a:xfrm>
            <a:custGeom>
              <a:avLst/>
              <a:gdLst/>
              <a:ahLst/>
              <a:cxnLst/>
              <a:rect l="l" t="t" r="r" b="b"/>
              <a:pathLst>
                <a:path w="361950" h="857250">
                  <a:moveTo>
                    <a:pt x="361950" y="0"/>
                  </a:moveTo>
                  <a:lnTo>
                    <a:pt x="0" y="0"/>
                  </a:lnTo>
                  <a:lnTo>
                    <a:pt x="0" y="857250"/>
                  </a:lnTo>
                  <a:lnTo>
                    <a:pt x="361950" y="857250"/>
                  </a:lnTo>
                  <a:lnTo>
                    <a:pt x="361950" y="0"/>
                  </a:lnTo>
                  <a:close/>
                </a:path>
              </a:pathLst>
            </a:custGeom>
            <a:solidFill>
              <a:srgbClr val="16A2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14362" y="1471676"/>
              <a:ext cx="3639185" cy="1476375"/>
            </a:xfrm>
            <a:custGeom>
              <a:avLst/>
              <a:gdLst/>
              <a:ahLst/>
              <a:cxnLst/>
              <a:rect l="l" t="t" r="r" b="b"/>
              <a:pathLst>
                <a:path w="3639185" h="1476375">
                  <a:moveTo>
                    <a:pt x="47625" y="1428750"/>
                  </a:moveTo>
                  <a:lnTo>
                    <a:pt x="47625" y="0"/>
                  </a:lnTo>
                </a:path>
                <a:path w="3639185" h="1476375">
                  <a:moveTo>
                    <a:pt x="0" y="1428750"/>
                  </a:moveTo>
                  <a:lnTo>
                    <a:pt x="47625" y="1428750"/>
                  </a:lnTo>
                </a:path>
                <a:path w="3639185" h="1476375">
                  <a:moveTo>
                    <a:pt x="0" y="952500"/>
                  </a:moveTo>
                  <a:lnTo>
                    <a:pt x="47625" y="952500"/>
                  </a:lnTo>
                </a:path>
                <a:path w="3639185" h="1476375">
                  <a:moveTo>
                    <a:pt x="0" y="476250"/>
                  </a:moveTo>
                  <a:lnTo>
                    <a:pt x="47625" y="476250"/>
                  </a:lnTo>
                </a:path>
                <a:path w="3639185" h="1476375">
                  <a:moveTo>
                    <a:pt x="0" y="0"/>
                  </a:moveTo>
                  <a:lnTo>
                    <a:pt x="47625" y="0"/>
                  </a:lnTo>
                </a:path>
                <a:path w="3639185" h="1476375">
                  <a:moveTo>
                    <a:pt x="47625" y="1428750"/>
                  </a:moveTo>
                  <a:lnTo>
                    <a:pt x="3638613" y="1428750"/>
                  </a:lnTo>
                </a:path>
                <a:path w="3639185" h="1476375">
                  <a:moveTo>
                    <a:pt x="47625" y="1428750"/>
                  </a:moveTo>
                  <a:lnTo>
                    <a:pt x="47625" y="1476375"/>
                  </a:lnTo>
                </a:path>
                <a:path w="3639185" h="1476375">
                  <a:moveTo>
                    <a:pt x="943038" y="1428750"/>
                  </a:moveTo>
                  <a:lnTo>
                    <a:pt x="943038" y="1476375"/>
                  </a:lnTo>
                </a:path>
                <a:path w="3639185" h="1476375">
                  <a:moveTo>
                    <a:pt x="1838388" y="1428750"/>
                  </a:moveTo>
                  <a:lnTo>
                    <a:pt x="1838388" y="1476375"/>
                  </a:lnTo>
                </a:path>
                <a:path w="3639185" h="1476375">
                  <a:moveTo>
                    <a:pt x="2733738" y="1428750"/>
                  </a:moveTo>
                  <a:lnTo>
                    <a:pt x="2733738" y="1476375"/>
                  </a:lnTo>
                </a:path>
                <a:path w="3639185" h="1476375">
                  <a:moveTo>
                    <a:pt x="3638613" y="1428750"/>
                  </a:moveTo>
                  <a:lnTo>
                    <a:pt x="3638613" y="1476375"/>
                  </a:lnTo>
                </a:path>
              </a:pathLst>
            </a:custGeom>
            <a:ln w="12700">
              <a:solidFill>
                <a:srgbClr val="8787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031239" y="1856803"/>
            <a:ext cx="15938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0E172A"/>
                </a:solidFill>
                <a:latin typeface="Arial MT"/>
                <a:cs typeface="Arial MT"/>
              </a:rPr>
              <a:t>64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930400" y="1856803"/>
            <a:ext cx="15875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0E172A"/>
                </a:solidFill>
                <a:latin typeface="Arial MT"/>
                <a:cs typeface="Arial MT"/>
              </a:rPr>
              <a:t>64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29305" y="1866328"/>
            <a:ext cx="15875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0E172A"/>
                </a:solidFill>
                <a:latin typeface="Arial MT"/>
                <a:cs typeface="Arial MT"/>
              </a:rPr>
              <a:t>64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728084" y="1837753"/>
            <a:ext cx="15875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0E172A"/>
                </a:solidFill>
                <a:latin typeface="Arial MT"/>
                <a:cs typeface="Arial MT"/>
              </a:rPr>
              <a:t>64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44487" y="2785046"/>
            <a:ext cx="19685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465469"/>
                </a:solidFill>
                <a:latin typeface="Arial MT"/>
                <a:cs typeface="Arial MT"/>
              </a:rPr>
              <a:t>55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44487" y="2308542"/>
            <a:ext cx="19685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465469"/>
                </a:solidFill>
                <a:latin typeface="Arial MT"/>
                <a:cs typeface="Arial MT"/>
              </a:rPr>
              <a:t>60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44487" y="1832610"/>
            <a:ext cx="1968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465469"/>
                </a:solidFill>
                <a:latin typeface="Arial MT"/>
                <a:cs typeface="Arial MT"/>
              </a:rPr>
              <a:t>65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44487" y="1355661"/>
            <a:ext cx="19685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465469"/>
                </a:solidFill>
                <a:latin typeface="Arial MT"/>
                <a:cs typeface="Arial MT"/>
              </a:rPr>
              <a:t>70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25512" y="2967037"/>
            <a:ext cx="36766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465469"/>
                </a:solidFill>
                <a:latin typeface="Arial MT"/>
                <a:cs typeface="Arial MT"/>
              </a:rPr>
              <a:t>Math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722501" y="2967037"/>
            <a:ext cx="56769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465469"/>
                </a:solidFill>
                <a:latin typeface="Arial MT"/>
                <a:cs typeface="Arial MT"/>
              </a:rPr>
              <a:t>Science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642616" y="2967037"/>
            <a:ext cx="52006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465469"/>
                </a:solidFill>
                <a:latin typeface="Arial MT"/>
                <a:cs typeface="Arial MT"/>
              </a:rPr>
              <a:t>Anglais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571240" y="2967037"/>
            <a:ext cx="46799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465469"/>
                </a:solidFill>
                <a:latin typeface="Arial MT"/>
                <a:cs typeface="Arial MT"/>
              </a:rPr>
              <a:t>Global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747259" y="1049591"/>
            <a:ext cx="235458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E172A"/>
                </a:solidFill>
                <a:latin typeface="Calibri"/>
                <a:cs typeface="Calibri"/>
              </a:rPr>
              <a:t>Distribution</a:t>
            </a:r>
            <a:r>
              <a:rPr sz="1200" b="1" spc="-1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E172A"/>
                </a:solidFill>
                <a:latin typeface="Calibri"/>
                <a:cs typeface="Calibri"/>
              </a:rPr>
              <a:t>—</a:t>
            </a:r>
            <a:r>
              <a:rPr sz="1200" b="1" spc="-3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E172A"/>
                </a:solidFill>
                <a:latin typeface="Calibri"/>
                <a:cs typeface="Calibri"/>
              </a:rPr>
              <a:t>Heures</a:t>
            </a:r>
            <a:r>
              <a:rPr sz="1200" b="1" spc="-3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E172A"/>
                </a:solidFill>
                <a:latin typeface="Calibri"/>
                <a:cs typeface="Calibri"/>
              </a:rPr>
              <a:t>d'étude</a:t>
            </a:r>
            <a:r>
              <a:rPr sz="1200" b="1" spc="-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E172A"/>
                </a:solidFill>
                <a:latin typeface="Calibri"/>
                <a:cs typeface="Calibri"/>
              </a:rPr>
              <a:t>/ </a:t>
            </a:r>
            <a:r>
              <a:rPr sz="1200" b="1" spc="-20" dirty="0">
                <a:solidFill>
                  <a:srgbClr val="0E172A"/>
                </a:solidFill>
                <a:latin typeface="Calibri"/>
                <a:cs typeface="Calibri"/>
              </a:rPr>
              <a:t>jour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752975" y="1323975"/>
            <a:ext cx="4114800" cy="1924050"/>
            <a:chOff x="4752975" y="1323975"/>
            <a:chExt cx="4114800" cy="1924050"/>
          </a:xfrm>
        </p:grpSpPr>
        <p:sp>
          <p:nvSpPr>
            <p:cNvPr id="34" name="object 34"/>
            <p:cNvSpPr/>
            <p:nvPr/>
          </p:nvSpPr>
          <p:spPr>
            <a:xfrm>
              <a:off x="4752975" y="1323975"/>
              <a:ext cx="4114800" cy="1924050"/>
            </a:xfrm>
            <a:custGeom>
              <a:avLst/>
              <a:gdLst/>
              <a:ahLst/>
              <a:cxnLst/>
              <a:rect l="l" t="t" r="r" b="b"/>
              <a:pathLst>
                <a:path w="4114800" h="1924050">
                  <a:moveTo>
                    <a:pt x="3987546" y="0"/>
                  </a:moveTo>
                  <a:lnTo>
                    <a:pt x="127253" y="0"/>
                  </a:lnTo>
                  <a:lnTo>
                    <a:pt x="77741" y="10007"/>
                  </a:lnTo>
                  <a:lnTo>
                    <a:pt x="37290" y="37290"/>
                  </a:lnTo>
                  <a:lnTo>
                    <a:pt x="10007" y="77741"/>
                  </a:lnTo>
                  <a:lnTo>
                    <a:pt x="0" y="127253"/>
                  </a:lnTo>
                  <a:lnTo>
                    <a:pt x="0" y="1796795"/>
                  </a:lnTo>
                  <a:lnTo>
                    <a:pt x="10007" y="1846308"/>
                  </a:lnTo>
                  <a:lnTo>
                    <a:pt x="37290" y="1886759"/>
                  </a:lnTo>
                  <a:lnTo>
                    <a:pt x="77741" y="1914042"/>
                  </a:lnTo>
                  <a:lnTo>
                    <a:pt x="127253" y="1924050"/>
                  </a:lnTo>
                  <a:lnTo>
                    <a:pt x="3987546" y="1924050"/>
                  </a:lnTo>
                  <a:lnTo>
                    <a:pt x="4037058" y="1914042"/>
                  </a:lnTo>
                  <a:lnTo>
                    <a:pt x="4077509" y="1886759"/>
                  </a:lnTo>
                  <a:lnTo>
                    <a:pt x="4104792" y="1846308"/>
                  </a:lnTo>
                  <a:lnTo>
                    <a:pt x="4114800" y="1796795"/>
                  </a:lnTo>
                  <a:lnTo>
                    <a:pt x="4114800" y="127253"/>
                  </a:lnTo>
                  <a:lnTo>
                    <a:pt x="4104792" y="77741"/>
                  </a:lnTo>
                  <a:lnTo>
                    <a:pt x="4077509" y="37290"/>
                  </a:lnTo>
                  <a:lnTo>
                    <a:pt x="4037058" y="10007"/>
                  </a:lnTo>
                  <a:lnTo>
                    <a:pt x="3987546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310251" y="1471676"/>
              <a:ext cx="3419475" cy="1190625"/>
            </a:xfrm>
            <a:custGeom>
              <a:avLst/>
              <a:gdLst/>
              <a:ahLst/>
              <a:cxnLst/>
              <a:rect l="l" t="t" r="r" b="b"/>
              <a:pathLst>
                <a:path w="3419475" h="1190625">
                  <a:moveTo>
                    <a:pt x="0" y="1190625"/>
                  </a:moveTo>
                  <a:lnTo>
                    <a:pt x="252349" y="1190625"/>
                  </a:lnTo>
                </a:path>
                <a:path w="3419475" h="1190625">
                  <a:moveTo>
                    <a:pt x="595249" y="1190625"/>
                  </a:moveTo>
                  <a:lnTo>
                    <a:pt x="1109599" y="1190625"/>
                  </a:lnTo>
                </a:path>
                <a:path w="3419475" h="1190625">
                  <a:moveTo>
                    <a:pt x="1452499" y="1190625"/>
                  </a:moveTo>
                  <a:lnTo>
                    <a:pt x="1966849" y="1190625"/>
                  </a:lnTo>
                </a:path>
                <a:path w="3419475" h="1190625">
                  <a:moveTo>
                    <a:pt x="2309749" y="1190625"/>
                  </a:moveTo>
                  <a:lnTo>
                    <a:pt x="2824099" y="1190625"/>
                  </a:lnTo>
                </a:path>
                <a:path w="3419475" h="1190625">
                  <a:moveTo>
                    <a:pt x="3166999" y="1190625"/>
                  </a:moveTo>
                  <a:lnTo>
                    <a:pt x="3419475" y="1190625"/>
                  </a:lnTo>
                </a:path>
                <a:path w="3419475" h="1190625">
                  <a:moveTo>
                    <a:pt x="0" y="952500"/>
                  </a:moveTo>
                  <a:lnTo>
                    <a:pt x="252349" y="952500"/>
                  </a:lnTo>
                </a:path>
                <a:path w="3419475" h="1190625">
                  <a:moveTo>
                    <a:pt x="595249" y="952500"/>
                  </a:moveTo>
                  <a:lnTo>
                    <a:pt x="1109599" y="952500"/>
                  </a:lnTo>
                </a:path>
                <a:path w="3419475" h="1190625">
                  <a:moveTo>
                    <a:pt x="1452499" y="952500"/>
                  </a:moveTo>
                  <a:lnTo>
                    <a:pt x="1966849" y="952500"/>
                  </a:lnTo>
                </a:path>
                <a:path w="3419475" h="1190625">
                  <a:moveTo>
                    <a:pt x="2309749" y="952500"/>
                  </a:moveTo>
                  <a:lnTo>
                    <a:pt x="2824099" y="952500"/>
                  </a:lnTo>
                </a:path>
                <a:path w="3419475" h="1190625">
                  <a:moveTo>
                    <a:pt x="3166999" y="952500"/>
                  </a:moveTo>
                  <a:lnTo>
                    <a:pt x="3419475" y="952500"/>
                  </a:lnTo>
                </a:path>
                <a:path w="3419475" h="1190625">
                  <a:moveTo>
                    <a:pt x="0" y="714375"/>
                  </a:moveTo>
                  <a:lnTo>
                    <a:pt x="1109599" y="714375"/>
                  </a:lnTo>
                </a:path>
                <a:path w="3419475" h="1190625">
                  <a:moveTo>
                    <a:pt x="1452499" y="714375"/>
                  </a:moveTo>
                  <a:lnTo>
                    <a:pt x="1966849" y="714375"/>
                  </a:lnTo>
                </a:path>
                <a:path w="3419475" h="1190625">
                  <a:moveTo>
                    <a:pt x="0" y="476250"/>
                  </a:moveTo>
                  <a:lnTo>
                    <a:pt x="1109599" y="476250"/>
                  </a:lnTo>
                </a:path>
                <a:path w="3419475" h="1190625">
                  <a:moveTo>
                    <a:pt x="1452499" y="476250"/>
                  </a:moveTo>
                  <a:lnTo>
                    <a:pt x="1966849" y="476250"/>
                  </a:lnTo>
                </a:path>
                <a:path w="3419475" h="1190625">
                  <a:moveTo>
                    <a:pt x="2309749" y="476250"/>
                  </a:moveTo>
                  <a:lnTo>
                    <a:pt x="3419475" y="476250"/>
                  </a:lnTo>
                </a:path>
                <a:path w="3419475" h="1190625">
                  <a:moveTo>
                    <a:pt x="0" y="238125"/>
                  </a:moveTo>
                  <a:lnTo>
                    <a:pt x="1109599" y="238125"/>
                  </a:lnTo>
                </a:path>
                <a:path w="3419475" h="1190625">
                  <a:moveTo>
                    <a:pt x="1452499" y="238125"/>
                  </a:moveTo>
                  <a:lnTo>
                    <a:pt x="3419475" y="238125"/>
                  </a:lnTo>
                </a:path>
                <a:path w="3419475" h="1190625">
                  <a:moveTo>
                    <a:pt x="0" y="0"/>
                  </a:moveTo>
                  <a:lnTo>
                    <a:pt x="3419475" y="0"/>
                  </a:lnTo>
                </a:path>
              </a:pathLst>
            </a:custGeom>
            <a:ln w="635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562600" y="2371725"/>
              <a:ext cx="342900" cy="523875"/>
            </a:xfrm>
            <a:custGeom>
              <a:avLst/>
              <a:gdLst/>
              <a:ahLst/>
              <a:cxnLst/>
              <a:rect l="l" t="t" r="r" b="b"/>
              <a:pathLst>
                <a:path w="342900" h="523875">
                  <a:moveTo>
                    <a:pt x="342900" y="0"/>
                  </a:moveTo>
                  <a:lnTo>
                    <a:pt x="0" y="0"/>
                  </a:lnTo>
                  <a:lnTo>
                    <a:pt x="0" y="523875"/>
                  </a:lnTo>
                  <a:lnTo>
                    <a:pt x="342900" y="523875"/>
                  </a:lnTo>
                  <a:lnTo>
                    <a:pt x="342900" y="0"/>
                  </a:lnTo>
                  <a:close/>
                </a:path>
              </a:pathLst>
            </a:custGeom>
            <a:solidFill>
              <a:srgbClr val="DC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419850" y="1685925"/>
              <a:ext cx="342900" cy="1209675"/>
            </a:xfrm>
            <a:custGeom>
              <a:avLst/>
              <a:gdLst/>
              <a:ahLst/>
              <a:cxnLst/>
              <a:rect l="l" t="t" r="r" b="b"/>
              <a:pathLst>
                <a:path w="342900" h="1209675">
                  <a:moveTo>
                    <a:pt x="342900" y="0"/>
                  </a:moveTo>
                  <a:lnTo>
                    <a:pt x="0" y="0"/>
                  </a:lnTo>
                  <a:lnTo>
                    <a:pt x="0" y="1209675"/>
                  </a:lnTo>
                  <a:lnTo>
                    <a:pt x="342900" y="1209675"/>
                  </a:lnTo>
                  <a:lnTo>
                    <a:pt x="342900" y="0"/>
                  </a:lnTo>
                  <a:close/>
                </a:path>
              </a:pathLst>
            </a:custGeom>
            <a:solidFill>
              <a:srgbClr val="EA57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277100" y="1733550"/>
              <a:ext cx="342900" cy="1162050"/>
            </a:xfrm>
            <a:custGeom>
              <a:avLst/>
              <a:gdLst/>
              <a:ahLst/>
              <a:cxnLst/>
              <a:rect l="l" t="t" r="r" b="b"/>
              <a:pathLst>
                <a:path w="342900" h="1162050">
                  <a:moveTo>
                    <a:pt x="342900" y="0"/>
                  </a:moveTo>
                  <a:lnTo>
                    <a:pt x="0" y="0"/>
                  </a:lnTo>
                  <a:lnTo>
                    <a:pt x="0" y="1162050"/>
                  </a:lnTo>
                  <a:lnTo>
                    <a:pt x="342900" y="1162050"/>
                  </a:lnTo>
                  <a:lnTo>
                    <a:pt x="342900" y="0"/>
                  </a:lnTo>
                  <a:close/>
                </a:path>
              </a:pathLst>
            </a:custGeom>
            <a:solidFill>
              <a:srgbClr val="0D93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8134350" y="2228850"/>
              <a:ext cx="342900" cy="666750"/>
            </a:xfrm>
            <a:custGeom>
              <a:avLst/>
              <a:gdLst/>
              <a:ahLst/>
              <a:cxnLst/>
              <a:rect l="l" t="t" r="r" b="b"/>
              <a:pathLst>
                <a:path w="342900" h="666750">
                  <a:moveTo>
                    <a:pt x="342900" y="0"/>
                  </a:moveTo>
                  <a:lnTo>
                    <a:pt x="0" y="0"/>
                  </a:lnTo>
                  <a:lnTo>
                    <a:pt x="0" y="666750"/>
                  </a:lnTo>
                  <a:lnTo>
                    <a:pt x="342900" y="666750"/>
                  </a:lnTo>
                  <a:lnTo>
                    <a:pt x="342900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262626" y="1471676"/>
              <a:ext cx="3467100" cy="1466850"/>
            </a:xfrm>
            <a:custGeom>
              <a:avLst/>
              <a:gdLst/>
              <a:ahLst/>
              <a:cxnLst/>
              <a:rect l="l" t="t" r="r" b="b"/>
              <a:pathLst>
                <a:path w="3467100" h="1466850">
                  <a:moveTo>
                    <a:pt x="47625" y="1428750"/>
                  </a:moveTo>
                  <a:lnTo>
                    <a:pt x="47625" y="0"/>
                  </a:lnTo>
                </a:path>
                <a:path w="3467100" h="1466850">
                  <a:moveTo>
                    <a:pt x="0" y="1428750"/>
                  </a:moveTo>
                  <a:lnTo>
                    <a:pt x="47625" y="1428750"/>
                  </a:lnTo>
                </a:path>
                <a:path w="3467100" h="1466850">
                  <a:moveTo>
                    <a:pt x="0" y="1190625"/>
                  </a:moveTo>
                  <a:lnTo>
                    <a:pt x="47625" y="1190625"/>
                  </a:lnTo>
                </a:path>
                <a:path w="3467100" h="1466850">
                  <a:moveTo>
                    <a:pt x="0" y="952500"/>
                  </a:moveTo>
                  <a:lnTo>
                    <a:pt x="47625" y="952500"/>
                  </a:lnTo>
                </a:path>
                <a:path w="3467100" h="1466850">
                  <a:moveTo>
                    <a:pt x="0" y="714375"/>
                  </a:moveTo>
                  <a:lnTo>
                    <a:pt x="47625" y="714375"/>
                  </a:lnTo>
                </a:path>
                <a:path w="3467100" h="1466850">
                  <a:moveTo>
                    <a:pt x="0" y="476250"/>
                  </a:moveTo>
                  <a:lnTo>
                    <a:pt x="47625" y="476250"/>
                  </a:lnTo>
                </a:path>
                <a:path w="3467100" h="1466850">
                  <a:moveTo>
                    <a:pt x="0" y="238125"/>
                  </a:moveTo>
                  <a:lnTo>
                    <a:pt x="47625" y="238125"/>
                  </a:lnTo>
                </a:path>
                <a:path w="3467100" h="1466850">
                  <a:moveTo>
                    <a:pt x="0" y="0"/>
                  </a:moveTo>
                  <a:lnTo>
                    <a:pt x="47625" y="0"/>
                  </a:lnTo>
                </a:path>
                <a:path w="3467100" h="1466850">
                  <a:moveTo>
                    <a:pt x="47625" y="1428750"/>
                  </a:moveTo>
                  <a:lnTo>
                    <a:pt x="3467100" y="1428750"/>
                  </a:lnTo>
                </a:path>
                <a:path w="3467100" h="1466850">
                  <a:moveTo>
                    <a:pt x="47625" y="1428750"/>
                  </a:moveTo>
                  <a:lnTo>
                    <a:pt x="47625" y="1466850"/>
                  </a:lnTo>
                </a:path>
                <a:path w="3467100" h="1466850">
                  <a:moveTo>
                    <a:pt x="904875" y="1428750"/>
                  </a:moveTo>
                  <a:lnTo>
                    <a:pt x="904875" y="1466850"/>
                  </a:lnTo>
                </a:path>
                <a:path w="3467100" h="1466850">
                  <a:moveTo>
                    <a:pt x="1752600" y="1428750"/>
                  </a:moveTo>
                  <a:lnTo>
                    <a:pt x="1752600" y="1466850"/>
                  </a:lnTo>
                </a:path>
                <a:path w="3467100" h="1466850">
                  <a:moveTo>
                    <a:pt x="2609850" y="1428750"/>
                  </a:moveTo>
                  <a:lnTo>
                    <a:pt x="2609850" y="1466850"/>
                  </a:lnTo>
                </a:path>
                <a:path w="3467100" h="1466850">
                  <a:moveTo>
                    <a:pt x="3467100" y="1428750"/>
                  </a:moveTo>
                  <a:lnTo>
                    <a:pt x="3467100" y="1466850"/>
                  </a:lnTo>
                </a:path>
              </a:pathLst>
            </a:custGeom>
            <a:ln w="12700">
              <a:solidFill>
                <a:srgbClr val="8787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5585459" y="2168525"/>
            <a:ext cx="3079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0E172A"/>
                </a:solidFill>
                <a:latin typeface="Arial MT"/>
                <a:cs typeface="Arial MT"/>
              </a:rPr>
              <a:t>2</a:t>
            </a:r>
            <a:r>
              <a:rPr sz="900" spc="-5" dirty="0">
                <a:solidFill>
                  <a:srgbClr val="0E172A"/>
                </a:solidFill>
                <a:latin typeface="Arial MT"/>
                <a:cs typeface="Arial MT"/>
              </a:rPr>
              <a:t> </a:t>
            </a:r>
            <a:r>
              <a:rPr sz="900" spc="-25" dirty="0">
                <a:solidFill>
                  <a:srgbClr val="0E172A"/>
                </a:solidFill>
                <a:latin typeface="Arial MT"/>
                <a:cs typeface="Arial MT"/>
              </a:rPr>
              <a:t>200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442075" y="1479486"/>
            <a:ext cx="30861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0E172A"/>
                </a:solidFill>
                <a:latin typeface="Arial MT"/>
                <a:cs typeface="Arial MT"/>
              </a:rPr>
              <a:t>5</a:t>
            </a:r>
            <a:r>
              <a:rPr sz="900" spc="-5" dirty="0">
                <a:solidFill>
                  <a:srgbClr val="0E172A"/>
                </a:solidFill>
                <a:latin typeface="Arial MT"/>
                <a:cs typeface="Arial MT"/>
              </a:rPr>
              <a:t> </a:t>
            </a:r>
            <a:r>
              <a:rPr sz="900" spc="-25" dirty="0">
                <a:solidFill>
                  <a:srgbClr val="0E172A"/>
                </a:solidFill>
                <a:latin typeface="Arial MT"/>
                <a:cs typeface="Arial MT"/>
              </a:rPr>
              <a:t>100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298308" y="1527238"/>
            <a:ext cx="30924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0E172A"/>
                </a:solidFill>
                <a:latin typeface="Arial MT"/>
                <a:cs typeface="Arial MT"/>
              </a:rPr>
              <a:t>4</a:t>
            </a:r>
            <a:r>
              <a:rPr sz="900" spc="-5" dirty="0">
                <a:solidFill>
                  <a:srgbClr val="0E172A"/>
                </a:solidFill>
                <a:latin typeface="Arial MT"/>
                <a:cs typeface="Arial MT"/>
              </a:rPr>
              <a:t> </a:t>
            </a:r>
            <a:r>
              <a:rPr sz="900" spc="-25" dirty="0">
                <a:solidFill>
                  <a:srgbClr val="0E172A"/>
                </a:solidFill>
                <a:latin typeface="Arial MT"/>
                <a:cs typeface="Arial MT"/>
              </a:rPr>
              <a:t>900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607300" y="2025586"/>
            <a:ext cx="113538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60070" algn="l"/>
                <a:tab pos="1122045" algn="l"/>
              </a:tabLst>
            </a:pPr>
            <a:r>
              <a:rPr sz="900" u="sng" dirty="0">
                <a:solidFill>
                  <a:srgbClr val="0E172A"/>
                </a:solidFill>
                <a:uFill>
                  <a:solidFill>
                    <a:srgbClr val="E1E8EF"/>
                  </a:solidFill>
                </a:uFill>
                <a:latin typeface="Arial MT"/>
                <a:cs typeface="Arial MT"/>
              </a:rPr>
              <a:t>	2</a:t>
            </a:r>
            <a:r>
              <a:rPr sz="900" u="sng" spc="-15" dirty="0">
                <a:solidFill>
                  <a:srgbClr val="0E172A"/>
                </a:solidFill>
                <a:uFill>
                  <a:solidFill>
                    <a:srgbClr val="E1E8EF"/>
                  </a:solidFill>
                </a:uFill>
                <a:latin typeface="Arial MT"/>
                <a:cs typeface="Arial MT"/>
              </a:rPr>
              <a:t> </a:t>
            </a:r>
            <a:r>
              <a:rPr sz="900" u="sng" spc="-25" dirty="0">
                <a:solidFill>
                  <a:srgbClr val="0E172A"/>
                </a:solidFill>
                <a:uFill>
                  <a:solidFill>
                    <a:srgbClr val="E1E8EF"/>
                  </a:solidFill>
                </a:uFill>
                <a:latin typeface="Arial MT"/>
                <a:cs typeface="Arial MT"/>
              </a:rPr>
              <a:t>800</a:t>
            </a:r>
            <a:r>
              <a:rPr sz="900" u="sng" dirty="0">
                <a:solidFill>
                  <a:srgbClr val="0E172A"/>
                </a:solidFill>
                <a:uFill>
                  <a:solidFill>
                    <a:srgbClr val="E1E8EF"/>
                  </a:solidFill>
                </a:uFill>
                <a:latin typeface="Arial MT"/>
                <a:cs typeface="Arial MT"/>
              </a:rPr>
              <a:t>	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829809" y="1300873"/>
            <a:ext cx="368300" cy="168783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530"/>
              </a:spcBef>
            </a:pPr>
            <a:r>
              <a:rPr sz="1200" spc="-20" dirty="0">
                <a:solidFill>
                  <a:srgbClr val="465469"/>
                </a:solidFill>
                <a:latin typeface="Arial MT"/>
                <a:cs typeface="Arial MT"/>
              </a:rPr>
              <a:t>6000</a:t>
            </a:r>
            <a:endParaRPr sz="120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  <a:spcBef>
                <a:spcPts val="434"/>
              </a:spcBef>
            </a:pPr>
            <a:r>
              <a:rPr sz="1200" spc="-20" dirty="0">
                <a:solidFill>
                  <a:srgbClr val="465469"/>
                </a:solidFill>
                <a:latin typeface="Arial MT"/>
                <a:cs typeface="Arial MT"/>
              </a:rPr>
              <a:t>5000</a:t>
            </a:r>
            <a:endParaRPr sz="120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  <a:spcBef>
                <a:spcPts val="425"/>
              </a:spcBef>
            </a:pPr>
            <a:r>
              <a:rPr sz="1200" spc="-20" dirty="0">
                <a:solidFill>
                  <a:srgbClr val="465469"/>
                </a:solidFill>
                <a:latin typeface="Arial MT"/>
                <a:cs typeface="Arial MT"/>
              </a:rPr>
              <a:t>4000</a:t>
            </a:r>
            <a:endParaRPr sz="120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  <a:spcBef>
                <a:spcPts val="430"/>
              </a:spcBef>
            </a:pPr>
            <a:r>
              <a:rPr sz="1200" spc="-20" dirty="0">
                <a:solidFill>
                  <a:srgbClr val="465469"/>
                </a:solidFill>
                <a:latin typeface="Arial MT"/>
                <a:cs typeface="Arial MT"/>
              </a:rPr>
              <a:t>3000</a:t>
            </a:r>
            <a:endParaRPr sz="120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  <a:spcBef>
                <a:spcPts val="430"/>
              </a:spcBef>
            </a:pPr>
            <a:r>
              <a:rPr sz="1200" spc="-20" dirty="0">
                <a:solidFill>
                  <a:srgbClr val="465469"/>
                </a:solidFill>
                <a:latin typeface="Arial MT"/>
                <a:cs typeface="Arial MT"/>
              </a:rPr>
              <a:t>2000</a:t>
            </a:r>
            <a:endParaRPr sz="120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  <a:spcBef>
                <a:spcPts val="430"/>
              </a:spcBef>
            </a:pPr>
            <a:r>
              <a:rPr sz="1200" spc="-20" dirty="0">
                <a:solidFill>
                  <a:srgbClr val="465469"/>
                </a:solidFill>
                <a:latin typeface="Arial MT"/>
                <a:cs typeface="Arial MT"/>
              </a:rPr>
              <a:t>1000</a:t>
            </a:r>
            <a:endParaRPr sz="1200">
              <a:latin typeface="Arial MT"/>
              <a:cs typeface="Arial MT"/>
            </a:endParaRPr>
          </a:p>
          <a:p>
            <a:pPr marR="8255" algn="r">
              <a:lnSpc>
                <a:spcPct val="100000"/>
              </a:lnSpc>
              <a:spcBef>
                <a:spcPts val="425"/>
              </a:spcBef>
            </a:pPr>
            <a:r>
              <a:rPr sz="1200" spc="-50" dirty="0">
                <a:solidFill>
                  <a:srgbClr val="465469"/>
                </a:solidFill>
                <a:latin typeface="Arial MT"/>
                <a:cs typeface="Arial MT"/>
              </a:rPr>
              <a:t>0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559171" y="2971482"/>
            <a:ext cx="36639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465469"/>
                </a:solidFill>
                <a:latin typeface="Arial MT"/>
                <a:cs typeface="Arial MT"/>
              </a:rPr>
              <a:t>0–2h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415404" y="2971482"/>
            <a:ext cx="36703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465469"/>
                </a:solidFill>
                <a:latin typeface="Arial MT"/>
                <a:cs typeface="Arial MT"/>
              </a:rPr>
              <a:t>2–4h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272019" y="2971482"/>
            <a:ext cx="36639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465469"/>
                </a:solidFill>
                <a:latin typeface="Arial MT"/>
                <a:cs typeface="Arial MT"/>
              </a:rPr>
              <a:t>4–6h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128254" y="2971482"/>
            <a:ext cx="36703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465469"/>
                </a:solidFill>
                <a:latin typeface="Arial MT"/>
                <a:cs typeface="Arial MT"/>
              </a:rPr>
              <a:t>6–8h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171450" y="3333813"/>
            <a:ext cx="2138680" cy="1367155"/>
            <a:chOff x="171450" y="3333813"/>
            <a:chExt cx="2138680" cy="1367155"/>
          </a:xfrm>
        </p:grpSpPr>
        <p:pic>
          <p:nvPicPr>
            <p:cNvPr id="51" name="object 5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1450" y="3333813"/>
              <a:ext cx="2138426" cy="1366774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338137" y="3405187"/>
              <a:ext cx="1905000" cy="1190625"/>
            </a:xfrm>
            <a:custGeom>
              <a:avLst/>
              <a:gdLst/>
              <a:ahLst/>
              <a:cxnLst/>
              <a:rect l="l" t="t" r="r" b="b"/>
              <a:pathLst>
                <a:path w="1905000" h="1190625">
                  <a:moveTo>
                    <a:pt x="0" y="1190625"/>
                  </a:moveTo>
                  <a:lnTo>
                    <a:pt x="1905000" y="1190625"/>
                  </a:lnTo>
                  <a:lnTo>
                    <a:pt x="1905000" y="0"/>
                  </a:lnTo>
                  <a:lnTo>
                    <a:pt x="0" y="0"/>
                  </a:lnTo>
                  <a:lnTo>
                    <a:pt x="0" y="11906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280987" y="3405187"/>
              <a:ext cx="1962150" cy="1190625"/>
            </a:xfrm>
            <a:custGeom>
              <a:avLst/>
              <a:gdLst/>
              <a:ahLst/>
              <a:cxnLst/>
              <a:rect l="l" t="t" r="r" b="b"/>
              <a:pathLst>
                <a:path w="1962150" h="1190625">
                  <a:moveTo>
                    <a:pt x="0" y="1190625"/>
                  </a:moveTo>
                  <a:lnTo>
                    <a:pt x="1962150" y="1190625"/>
                  </a:lnTo>
                  <a:lnTo>
                    <a:pt x="1962150" y="0"/>
                  </a:lnTo>
                  <a:lnTo>
                    <a:pt x="0" y="0"/>
                  </a:lnTo>
                  <a:lnTo>
                    <a:pt x="0" y="1190625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280987" y="3405187"/>
              <a:ext cx="57150" cy="1190625"/>
            </a:xfrm>
            <a:custGeom>
              <a:avLst/>
              <a:gdLst/>
              <a:ahLst/>
              <a:cxnLst/>
              <a:rect l="l" t="t" r="r" b="b"/>
              <a:pathLst>
                <a:path w="57150" h="1190625">
                  <a:moveTo>
                    <a:pt x="57150" y="0"/>
                  </a:moveTo>
                  <a:lnTo>
                    <a:pt x="0" y="0"/>
                  </a:lnTo>
                  <a:lnTo>
                    <a:pt x="0" y="1190625"/>
                  </a:lnTo>
                  <a:lnTo>
                    <a:pt x="57150" y="1190625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280987" y="3405187"/>
              <a:ext cx="57150" cy="1190625"/>
            </a:xfrm>
            <a:custGeom>
              <a:avLst/>
              <a:gdLst/>
              <a:ahLst/>
              <a:cxnLst/>
              <a:rect l="l" t="t" r="r" b="b"/>
              <a:pathLst>
                <a:path w="57150" h="1190625">
                  <a:moveTo>
                    <a:pt x="0" y="1190625"/>
                  </a:moveTo>
                  <a:lnTo>
                    <a:pt x="57150" y="1190625"/>
                  </a:lnTo>
                  <a:lnTo>
                    <a:pt x="57150" y="0"/>
                  </a:lnTo>
                  <a:lnTo>
                    <a:pt x="0" y="0"/>
                  </a:lnTo>
                  <a:lnTo>
                    <a:pt x="0" y="1190625"/>
                  </a:lnTo>
                  <a:close/>
                </a:path>
              </a:pathLst>
            </a:custGeom>
            <a:ln w="12700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344487" y="3563620"/>
            <a:ext cx="1892300" cy="8769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130"/>
              </a:spcBef>
            </a:pPr>
            <a:r>
              <a:rPr sz="2750" b="1" spc="-10" dirty="0">
                <a:solidFill>
                  <a:srgbClr val="7B39EC"/>
                </a:solidFill>
                <a:latin typeface="Calibri"/>
                <a:cs typeface="Calibri"/>
              </a:rPr>
              <a:t>4.3h/j</a:t>
            </a:r>
            <a:endParaRPr sz="2750">
              <a:latin typeface="Calibri"/>
              <a:cs typeface="Calibri"/>
            </a:endParaRPr>
          </a:p>
          <a:p>
            <a:pPr marL="39370">
              <a:lnSpc>
                <a:spcPct val="100000"/>
              </a:lnSpc>
              <a:spcBef>
                <a:spcPts val="2225"/>
              </a:spcBef>
            </a:pP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Heures</a:t>
            </a:r>
            <a:r>
              <a:rPr sz="950" spc="-6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étude</a:t>
            </a:r>
            <a:r>
              <a:rPr sz="950" spc="2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—</a:t>
            </a:r>
            <a:r>
              <a:rPr sz="950" spc="-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465469"/>
                </a:solidFill>
                <a:latin typeface="Calibri"/>
                <a:cs typeface="Calibri"/>
              </a:rPr>
              <a:t>Moy.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2343150" y="3333813"/>
            <a:ext cx="2148205" cy="1367155"/>
            <a:chOff x="2343150" y="3333813"/>
            <a:chExt cx="2148205" cy="1367155"/>
          </a:xfrm>
        </p:grpSpPr>
        <p:pic>
          <p:nvPicPr>
            <p:cNvPr id="58" name="object 5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43150" y="3333813"/>
              <a:ext cx="2147951" cy="1366774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2509901" y="3405187"/>
              <a:ext cx="1914525" cy="1190625"/>
            </a:xfrm>
            <a:custGeom>
              <a:avLst/>
              <a:gdLst/>
              <a:ahLst/>
              <a:cxnLst/>
              <a:rect l="l" t="t" r="r" b="b"/>
              <a:pathLst>
                <a:path w="1914525" h="1190625">
                  <a:moveTo>
                    <a:pt x="0" y="1190625"/>
                  </a:moveTo>
                  <a:lnTo>
                    <a:pt x="1914525" y="1190625"/>
                  </a:lnTo>
                  <a:lnTo>
                    <a:pt x="1914525" y="0"/>
                  </a:lnTo>
                  <a:lnTo>
                    <a:pt x="0" y="0"/>
                  </a:lnTo>
                  <a:lnTo>
                    <a:pt x="0" y="11906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2452751" y="3405187"/>
              <a:ext cx="1971675" cy="1190625"/>
            </a:xfrm>
            <a:custGeom>
              <a:avLst/>
              <a:gdLst/>
              <a:ahLst/>
              <a:cxnLst/>
              <a:rect l="l" t="t" r="r" b="b"/>
              <a:pathLst>
                <a:path w="1971675" h="1190625">
                  <a:moveTo>
                    <a:pt x="0" y="1190625"/>
                  </a:moveTo>
                  <a:lnTo>
                    <a:pt x="1971675" y="1190625"/>
                  </a:lnTo>
                  <a:lnTo>
                    <a:pt x="1971675" y="0"/>
                  </a:lnTo>
                  <a:lnTo>
                    <a:pt x="0" y="0"/>
                  </a:lnTo>
                  <a:lnTo>
                    <a:pt x="0" y="1190625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2452751" y="3405187"/>
              <a:ext cx="57150" cy="1190625"/>
            </a:xfrm>
            <a:custGeom>
              <a:avLst/>
              <a:gdLst/>
              <a:ahLst/>
              <a:cxnLst/>
              <a:rect l="l" t="t" r="r" b="b"/>
              <a:pathLst>
                <a:path w="57150" h="1190625">
                  <a:moveTo>
                    <a:pt x="57150" y="0"/>
                  </a:moveTo>
                  <a:lnTo>
                    <a:pt x="0" y="0"/>
                  </a:lnTo>
                  <a:lnTo>
                    <a:pt x="0" y="1190625"/>
                  </a:lnTo>
                  <a:lnTo>
                    <a:pt x="57150" y="1190625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0D93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2452751" y="3405187"/>
              <a:ext cx="57150" cy="1190625"/>
            </a:xfrm>
            <a:custGeom>
              <a:avLst/>
              <a:gdLst/>
              <a:ahLst/>
              <a:cxnLst/>
              <a:rect l="l" t="t" r="r" b="b"/>
              <a:pathLst>
                <a:path w="57150" h="1190625">
                  <a:moveTo>
                    <a:pt x="0" y="1190625"/>
                  </a:moveTo>
                  <a:lnTo>
                    <a:pt x="57150" y="1190625"/>
                  </a:lnTo>
                  <a:lnTo>
                    <a:pt x="57150" y="0"/>
                  </a:lnTo>
                  <a:lnTo>
                    <a:pt x="0" y="0"/>
                  </a:lnTo>
                  <a:lnTo>
                    <a:pt x="0" y="1190625"/>
                  </a:lnTo>
                  <a:close/>
                </a:path>
              </a:pathLst>
            </a:custGeom>
            <a:ln w="12700">
              <a:solidFill>
                <a:srgbClr val="0D93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2516251" y="3563620"/>
            <a:ext cx="1901825" cy="8769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46355">
              <a:lnSpc>
                <a:spcPct val="100000"/>
              </a:lnSpc>
              <a:spcBef>
                <a:spcPts val="130"/>
              </a:spcBef>
            </a:pPr>
            <a:r>
              <a:rPr sz="2750" b="1" spc="-10" dirty="0">
                <a:solidFill>
                  <a:srgbClr val="0D9387"/>
                </a:solidFill>
                <a:latin typeface="Calibri"/>
                <a:cs typeface="Calibri"/>
              </a:rPr>
              <a:t>75.1%</a:t>
            </a:r>
            <a:endParaRPr sz="2750">
              <a:latin typeface="Calibri"/>
              <a:cs typeface="Calibri"/>
            </a:endParaRPr>
          </a:p>
          <a:p>
            <a:pPr marL="46355">
              <a:lnSpc>
                <a:spcPct val="100000"/>
              </a:lnSpc>
              <a:spcBef>
                <a:spcPts val="2225"/>
              </a:spcBef>
            </a:pP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Assiduité</a:t>
            </a:r>
            <a:r>
              <a:rPr sz="950" spc="-4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—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465469"/>
                </a:solidFill>
                <a:latin typeface="Calibri"/>
                <a:cs typeface="Calibri"/>
              </a:rPr>
              <a:t>Moy.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4524375" y="3333813"/>
            <a:ext cx="2138680" cy="1367155"/>
            <a:chOff x="4524375" y="3333813"/>
            <a:chExt cx="2138680" cy="1367155"/>
          </a:xfrm>
        </p:grpSpPr>
        <p:pic>
          <p:nvPicPr>
            <p:cNvPr id="65" name="object 6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24375" y="3333813"/>
              <a:ext cx="2138426" cy="1366774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4691126" y="3405187"/>
              <a:ext cx="1905000" cy="1190625"/>
            </a:xfrm>
            <a:custGeom>
              <a:avLst/>
              <a:gdLst/>
              <a:ahLst/>
              <a:cxnLst/>
              <a:rect l="l" t="t" r="r" b="b"/>
              <a:pathLst>
                <a:path w="1905000" h="1190625">
                  <a:moveTo>
                    <a:pt x="0" y="1190625"/>
                  </a:moveTo>
                  <a:lnTo>
                    <a:pt x="1905000" y="1190625"/>
                  </a:lnTo>
                  <a:lnTo>
                    <a:pt x="1905000" y="0"/>
                  </a:lnTo>
                  <a:lnTo>
                    <a:pt x="0" y="0"/>
                  </a:lnTo>
                  <a:lnTo>
                    <a:pt x="0" y="11906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633976" y="3405187"/>
              <a:ext cx="1962150" cy="1190625"/>
            </a:xfrm>
            <a:custGeom>
              <a:avLst/>
              <a:gdLst/>
              <a:ahLst/>
              <a:cxnLst/>
              <a:rect l="l" t="t" r="r" b="b"/>
              <a:pathLst>
                <a:path w="1962150" h="1190625">
                  <a:moveTo>
                    <a:pt x="0" y="1190625"/>
                  </a:moveTo>
                  <a:lnTo>
                    <a:pt x="1962150" y="1190625"/>
                  </a:lnTo>
                  <a:lnTo>
                    <a:pt x="1962150" y="0"/>
                  </a:lnTo>
                  <a:lnTo>
                    <a:pt x="0" y="0"/>
                  </a:lnTo>
                  <a:lnTo>
                    <a:pt x="0" y="1190625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633976" y="3405187"/>
              <a:ext cx="57150" cy="1190625"/>
            </a:xfrm>
            <a:custGeom>
              <a:avLst/>
              <a:gdLst/>
              <a:ahLst/>
              <a:cxnLst/>
              <a:rect l="l" t="t" r="r" b="b"/>
              <a:pathLst>
                <a:path w="57150" h="1190625">
                  <a:moveTo>
                    <a:pt x="57150" y="0"/>
                  </a:moveTo>
                  <a:lnTo>
                    <a:pt x="0" y="0"/>
                  </a:lnTo>
                  <a:lnTo>
                    <a:pt x="0" y="1190625"/>
                  </a:lnTo>
                  <a:lnTo>
                    <a:pt x="57150" y="1190625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16A2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633976" y="3405187"/>
              <a:ext cx="57150" cy="1190625"/>
            </a:xfrm>
            <a:custGeom>
              <a:avLst/>
              <a:gdLst/>
              <a:ahLst/>
              <a:cxnLst/>
              <a:rect l="l" t="t" r="r" b="b"/>
              <a:pathLst>
                <a:path w="57150" h="1190625">
                  <a:moveTo>
                    <a:pt x="0" y="1190625"/>
                  </a:moveTo>
                  <a:lnTo>
                    <a:pt x="57150" y="1190625"/>
                  </a:lnTo>
                  <a:lnTo>
                    <a:pt x="57150" y="0"/>
                  </a:lnTo>
                  <a:lnTo>
                    <a:pt x="0" y="0"/>
                  </a:lnTo>
                  <a:lnTo>
                    <a:pt x="0" y="1190625"/>
                  </a:lnTo>
                  <a:close/>
                </a:path>
              </a:pathLst>
            </a:custGeom>
            <a:ln w="12700">
              <a:solidFill>
                <a:srgbClr val="16A24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4697476" y="3563620"/>
            <a:ext cx="1892300" cy="8769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43815">
              <a:lnSpc>
                <a:spcPct val="100000"/>
              </a:lnSpc>
              <a:spcBef>
                <a:spcPts val="130"/>
              </a:spcBef>
            </a:pPr>
            <a:r>
              <a:rPr sz="2750" b="1" spc="-20" dirty="0">
                <a:solidFill>
                  <a:srgbClr val="16A249"/>
                </a:solidFill>
                <a:latin typeface="Calibri"/>
                <a:cs typeface="Calibri"/>
              </a:rPr>
              <a:t>64.2</a:t>
            </a:r>
            <a:endParaRPr sz="2750">
              <a:latin typeface="Calibri"/>
              <a:cs typeface="Calibri"/>
            </a:endParaRPr>
          </a:p>
          <a:p>
            <a:pPr marL="43815">
              <a:lnSpc>
                <a:spcPct val="100000"/>
              </a:lnSpc>
              <a:spcBef>
                <a:spcPts val="2225"/>
              </a:spcBef>
            </a:pP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Score</a:t>
            </a:r>
            <a:r>
              <a:rPr sz="950" spc="-2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global</a:t>
            </a:r>
            <a:r>
              <a:rPr sz="950" spc="-3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—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465469"/>
                </a:solidFill>
                <a:latin typeface="Calibri"/>
                <a:cs typeface="Calibri"/>
              </a:rPr>
              <a:t>Med.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6696075" y="3333813"/>
            <a:ext cx="2148205" cy="1367155"/>
            <a:chOff x="6696075" y="3333813"/>
            <a:chExt cx="2148205" cy="1367155"/>
          </a:xfrm>
        </p:grpSpPr>
        <p:pic>
          <p:nvPicPr>
            <p:cNvPr id="72" name="object 7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96075" y="3333813"/>
              <a:ext cx="2147951" cy="1366774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6862826" y="3405187"/>
              <a:ext cx="1914525" cy="1190625"/>
            </a:xfrm>
            <a:custGeom>
              <a:avLst/>
              <a:gdLst/>
              <a:ahLst/>
              <a:cxnLst/>
              <a:rect l="l" t="t" r="r" b="b"/>
              <a:pathLst>
                <a:path w="1914525" h="1190625">
                  <a:moveTo>
                    <a:pt x="0" y="1190625"/>
                  </a:moveTo>
                  <a:lnTo>
                    <a:pt x="1914525" y="1190625"/>
                  </a:lnTo>
                  <a:lnTo>
                    <a:pt x="1914525" y="0"/>
                  </a:lnTo>
                  <a:lnTo>
                    <a:pt x="0" y="0"/>
                  </a:lnTo>
                  <a:lnTo>
                    <a:pt x="0" y="11906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6805676" y="3405187"/>
              <a:ext cx="1971675" cy="1190625"/>
            </a:xfrm>
            <a:custGeom>
              <a:avLst/>
              <a:gdLst/>
              <a:ahLst/>
              <a:cxnLst/>
              <a:rect l="l" t="t" r="r" b="b"/>
              <a:pathLst>
                <a:path w="1971675" h="1190625">
                  <a:moveTo>
                    <a:pt x="0" y="1190625"/>
                  </a:moveTo>
                  <a:lnTo>
                    <a:pt x="1971675" y="1190625"/>
                  </a:lnTo>
                  <a:lnTo>
                    <a:pt x="1971675" y="0"/>
                  </a:lnTo>
                  <a:lnTo>
                    <a:pt x="0" y="0"/>
                  </a:lnTo>
                  <a:lnTo>
                    <a:pt x="0" y="1190625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6805676" y="3405187"/>
              <a:ext cx="57150" cy="1190625"/>
            </a:xfrm>
            <a:custGeom>
              <a:avLst/>
              <a:gdLst/>
              <a:ahLst/>
              <a:cxnLst/>
              <a:rect l="l" t="t" r="r" b="b"/>
              <a:pathLst>
                <a:path w="57150" h="1190625">
                  <a:moveTo>
                    <a:pt x="57150" y="0"/>
                  </a:moveTo>
                  <a:lnTo>
                    <a:pt x="0" y="0"/>
                  </a:lnTo>
                  <a:lnTo>
                    <a:pt x="0" y="1190625"/>
                  </a:lnTo>
                  <a:lnTo>
                    <a:pt x="57150" y="1190625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D9770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6805676" y="3405187"/>
              <a:ext cx="57150" cy="1190625"/>
            </a:xfrm>
            <a:custGeom>
              <a:avLst/>
              <a:gdLst/>
              <a:ahLst/>
              <a:cxnLst/>
              <a:rect l="l" t="t" r="r" b="b"/>
              <a:pathLst>
                <a:path w="57150" h="1190625">
                  <a:moveTo>
                    <a:pt x="0" y="1190625"/>
                  </a:moveTo>
                  <a:lnTo>
                    <a:pt x="57150" y="1190625"/>
                  </a:lnTo>
                  <a:lnTo>
                    <a:pt x="57150" y="0"/>
                  </a:lnTo>
                  <a:lnTo>
                    <a:pt x="0" y="0"/>
                  </a:lnTo>
                  <a:lnTo>
                    <a:pt x="0" y="1190625"/>
                  </a:lnTo>
                  <a:close/>
                </a:path>
              </a:pathLst>
            </a:custGeom>
            <a:ln w="12700">
              <a:solidFill>
                <a:srgbClr val="D9770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7" name="object 77"/>
          <p:cNvSpPr txBox="1"/>
          <p:nvPr/>
        </p:nvSpPr>
        <p:spPr>
          <a:xfrm>
            <a:off x="6869176" y="3563620"/>
            <a:ext cx="1901825" cy="8769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30"/>
              </a:spcBef>
            </a:pPr>
            <a:r>
              <a:rPr sz="2750" b="1" dirty="0">
                <a:solidFill>
                  <a:srgbClr val="D97705"/>
                </a:solidFill>
                <a:latin typeface="Calibri"/>
                <a:cs typeface="Calibri"/>
              </a:rPr>
              <a:t>14–19</a:t>
            </a:r>
            <a:r>
              <a:rPr sz="2750" b="1" spc="120" dirty="0">
                <a:solidFill>
                  <a:srgbClr val="D97705"/>
                </a:solidFill>
                <a:latin typeface="Calibri"/>
                <a:cs typeface="Calibri"/>
              </a:rPr>
              <a:t> </a:t>
            </a:r>
            <a:r>
              <a:rPr sz="2750" b="1" spc="-25" dirty="0">
                <a:solidFill>
                  <a:srgbClr val="D97705"/>
                </a:solidFill>
                <a:latin typeface="Calibri"/>
                <a:cs typeface="Calibri"/>
              </a:rPr>
              <a:t>ans</a:t>
            </a:r>
            <a:endParaRPr sz="275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2225"/>
              </a:spcBef>
            </a:pP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Plage</a:t>
            </a:r>
            <a:r>
              <a:rPr sz="950" spc="2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d'âge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6896734" y="4936807"/>
            <a:ext cx="1994535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i="1" dirty="0">
                <a:solidFill>
                  <a:srgbClr val="93A2B8"/>
                </a:solidFill>
                <a:latin typeface="Calibri"/>
                <a:cs typeface="Calibri"/>
              </a:rPr>
              <a:t>Section 1</a:t>
            </a:r>
            <a:r>
              <a:rPr sz="800" i="1" spc="-30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93A2B8"/>
                </a:solidFill>
                <a:latin typeface="Calibri"/>
                <a:cs typeface="Calibri"/>
              </a:rPr>
              <a:t>—</a:t>
            </a:r>
            <a:r>
              <a:rPr sz="800" i="1" spc="-20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93A2B8"/>
                </a:solidFill>
                <a:latin typeface="Calibri"/>
                <a:cs typeface="Calibri"/>
              </a:rPr>
              <a:t>Statistiques</a:t>
            </a:r>
            <a:r>
              <a:rPr sz="800" i="1" spc="35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800" i="1" spc="-10" dirty="0">
                <a:solidFill>
                  <a:srgbClr val="93A2B8"/>
                </a:solidFill>
                <a:latin typeface="Calibri"/>
                <a:cs typeface="Calibri"/>
              </a:rPr>
              <a:t>Descriptives</a:t>
            </a:r>
            <a:r>
              <a:rPr sz="800" i="1" spc="-50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800" i="1" spc="-10" dirty="0">
                <a:solidFill>
                  <a:srgbClr val="93A2B8"/>
                </a:solidFill>
                <a:latin typeface="Calibri"/>
                <a:cs typeface="Calibri"/>
              </a:rPr>
              <a:t>Univariées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586" y="-1523"/>
            <a:ext cx="9152255" cy="927100"/>
            <a:chOff x="-1586" y="-1523"/>
            <a:chExt cx="9152255" cy="927100"/>
          </a:xfrm>
        </p:grpSpPr>
        <p:sp>
          <p:nvSpPr>
            <p:cNvPr id="3" name="object 3"/>
            <p:cNvSpPr/>
            <p:nvPr/>
          </p:nvSpPr>
          <p:spPr>
            <a:xfrm>
              <a:off x="4763" y="4826"/>
              <a:ext cx="9139555" cy="914400"/>
            </a:xfrm>
            <a:custGeom>
              <a:avLst/>
              <a:gdLst/>
              <a:ahLst/>
              <a:cxnLst/>
              <a:rect l="l" t="t" r="r" b="b"/>
              <a:pathLst>
                <a:path w="9139555" h="914400">
                  <a:moveTo>
                    <a:pt x="9139236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39236" y="914400"/>
                  </a:lnTo>
                  <a:lnTo>
                    <a:pt x="9139236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763" y="4826"/>
              <a:ext cx="9139555" cy="914400"/>
            </a:xfrm>
            <a:custGeom>
              <a:avLst/>
              <a:gdLst/>
              <a:ahLst/>
              <a:cxnLst/>
              <a:rect l="l" t="t" r="r" b="b"/>
              <a:pathLst>
                <a:path w="9139555" h="914400">
                  <a:moveTo>
                    <a:pt x="9139236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39236" y="914400"/>
                  </a:lnTo>
                </a:path>
              </a:pathLst>
            </a:custGeom>
            <a:ln w="12700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Statistiques</a:t>
            </a:r>
            <a:r>
              <a:rPr spc="-70" dirty="0"/>
              <a:t> </a:t>
            </a:r>
            <a:r>
              <a:rPr dirty="0"/>
              <a:t>Univariées</a:t>
            </a:r>
            <a:r>
              <a:rPr spc="-110" dirty="0"/>
              <a:t> </a:t>
            </a:r>
            <a:r>
              <a:rPr dirty="0"/>
              <a:t>—</a:t>
            </a:r>
            <a:r>
              <a:rPr spc="-90" dirty="0"/>
              <a:t> </a:t>
            </a:r>
            <a:r>
              <a:rPr spc="-10" dirty="0"/>
              <a:t>Variables</a:t>
            </a:r>
            <a:r>
              <a:rPr spc="-55" dirty="0"/>
              <a:t> </a:t>
            </a:r>
            <a:r>
              <a:rPr spc="-10" dirty="0"/>
              <a:t>Catégorielles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8428101" y="93726"/>
            <a:ext cx="612775" cy="603250"/>
            <a:chOff x="8428101" y="93726"/>
            <a:chExt cx="612775" cy="603250"/>
          </a:xfrm>
        </p:grpSpPr>
        <p:sp>
          <p:nvSpPr>
            <p:cNvPr id="7" name="object 7"/>
            <p:cNvSpPr/>
            <p:nvPr/>
          </p:nvSpPr>
          <p:spPr>
            <a:xfrm>
              <a:off x="8434451" y="100076"/>
              <a:ext cx="600075" cy="590550"/>
            </a:xfrm>
            <a:custGeom>
              <a:avLst/>
              <a:gdLst/>
              <a:ahLst/>
              <a:cxnLst/>
              <a:rect l="l" t="t" r="r" b="b"/>
              <a:pathLst>
                <a:path w="600075" h="590550">
                  <a:moveTo>
                    <a:pt x="299974" y="0"/>
                  </a:moveTo>
                  <a:lnTo>
                    <a:pt x="251301" y="3861"/>
                  </a:lnTo>
                  <a:lnTo>
                    <a:pt x="205134" y="15041"/>
                  </a:lnTo>
                  <a:lnTo>
                    <a:pt x="162090" y="32935"/>
                  </a:lnTo>
                  <a:lnTo>
                    <a:pt x="122785" y="56936"/>
                  </a:lnTo>
                  <a:lnTo>
                    <a:pt x="87836" y="86439"/>
                  </a:lnTo>
                  <a:lnTo>
                    <a:pt x="57859" y="120837"/>
                  </a:lnTo>
                  <a:lnTo>
                    <a:pt x="33470" y="159526"/>
                  </a:lnTo>
                  <a:lnTo>
                    <a:pt x="15286" y="201899"/>
                  </a:lnTo>
                  <a:lnTo>
                    <a:pt x="3924" y="247350"/>
                  </a:lnTo>
                  <a:lnTo>
                    <a:pt x="0" y="295275"/>
                  </a:lnTo>
                  <a:lnTo>
                    <a:pt x="3924" y="343168"/>
                  </a:lnTo>
                  <a:lnTo>
                    <a:pt x="15286" y="388601"/>
                  </a:lnTo>
                  <a:lnTo>
                    <a:pt x="33470" y="430967"/>
                  </a:lnTo>
                  <a:lnTo>
                    <a:pt x="57859" y="469657"/>
                  </a:lnTo>
                  <a:lnTo>
                    <a:pt x="87836" y="504063"/>
                  </a:lnTo>
                  <a:lnTo>
                    <a:pt x="122785" y="533576"/>
                  </a:lnTo>
                  <a:lnTo>
                    <a:pt x="162090" y="557590"/>
                  </a:lnTo>
                  <a:lnTo>
                    <a:pt x="205134" y="575495"/>
                  </a:lnTo>
                  <a:lnTo>
                    <a:pt x="251301" y="586685"/>
                  </a:lnTo>
                  <a:lnTo>
                    <a:pt x="299974" y="590550"/>
                  </a:lnTo>
                  <a:lnTo>
                    <a:pt x="348650" y="586685"/>
                  </a:lnTo>
                  <a:lnTo>
                    <a:pt x="394826" y="575495"/>
                  </a:lnTo>
                  <a:lnTo>
                    <a:pt x="437884" y="557590"/>
                  </a:lnTo>
                  <a:lnTo>
                    <a:pt x="477207" y="533576"/>
                  </a:lnTo>
                  <a:lnTo>
                    <a:pt x="512175" y="504063"/>
                  </a:lnTo>
                  <a:lnTo>
                    <a:pt x="542171" y="469657"/>
                  </a:lnTo>
                  <a:lnTo>
                    <a:pt x="566577" y="430967"/>
                  </a:lnTo>
                  <a:lnTo>
                    <a:pt x="584775" y="388601"/>
                  </a:lnTo>
                  <a:lnTo>
                    <a:pt x="596147" y="343168"/>
                  </a:lnTo>
                  <a:lnTo>
                    <a:pt x="600075" y="295275"/>
                  </a:lnTo>
                  <a:lnTo>
                    <a:pt x="596147" y="247350"/>
                  </a:lnTo>
                  <a:lnTo>
                    <a:pt x="584775" y="201899"/>
                  </a:lnTo>
                  <a:lnTo>
                    <a:pt x="566577" y="159526"/>
                  </a:lnTo>
                  <a:lnTo>
                    <a:pt x="542171" y="120837"/>
                  </a:lnTo>
                  <a:lnTo>
                    <a:pt x="512175" y="86439"/>
                  </a:lnTo>
                  <a:lnTo>
                    <a:pt x="477207" y="56936"/>
                  </a:lnTo>
                  <a:lnTo>
                    <a:pt x="437884" y="32935"/>
                  </a:lnTo>
                  <a:lnTo>
                    <a:pt x="394826" y="15041"/>
                  </a:lnTo>
                  <a:lnTo>
                    <a:pt x="348650" y="3861"/>
                  </a:lnTo>
                  <a:lnTo>
                    <a:pt x="2999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434451" y="100076"/>
              <a:ext cx="600075" cy="590550"/>
            </a:xfrm>
            <a:custGeom>
              <a:avLst/>
              <a:gdLst/>
              <a:ahLst/>
              <a:cxnLst/>
              <a:rect l="l" t="t" r="r" b="b"/>
              <a:pathLst>
                <a:path w="600075" h="590550">
                  <a:moveTo>
                    <a:pt x="0" y="295275"/>
                  </a:moveTo>
                  <a:lnTo>
                    <a:pt x="3924" y="247350"/>
                  </a:lnTo>
                  <a:lnTo>
                    <a:pt x="15286" y="201899"/>
                  </a:lnTo>
                  <a:lnTo>
                    <a:pt x="33470" y="159526"/>
                  </a:lnTo>
                  <a:lnTo>
                    <a:pt x="57859" y="120837"/>
                  </a:lnTo>
                  <a:lnTo>
                    <a:pt x="87836" y="86439"/>
                  </a:lnTo>
                  <a:lnTo>
                    <a:pt x="122785" y="56936"/>
                  </a:lnTo>
                  <a:lnTo>
                    <a:pt x="162090" y="32935"/>
                  </a:lnTo>
                  <a:lnTo>
                    <a:pt x="205134" y="15041"/>
                  </a:lnTo>
                  <a:lnTo>
                    <a:pt x="251301" y="3861"/>
                  </a:lnTo>
                  <a:lnTo>
                    <a:pt x="299974" y="0"/>
                  </a:lnTo>
                  <a:lnTo>
                    <a:pt x="348650" y="3861"/>
                  </a:lnTo>
                  <a:lnTo>
                    <a:pt x="394826" y="15041"/>
                  </a:lnTo>
                  <a:lnTo>
                    <a:pt x="437884" y="32935"/>
                  </a:lnTo>
                  <a:lnTo>
                    <a:pt x="477207" y="56936"/>
                  </a:lnTo>
                  <a:lnTo>
                    <a:pt x="512175" y="86439"/>
                  </a:lnTo>
                  <a:lnTo>
                    <a:pt x="542171" y="120837"/>
                  </a:lnTo>
                  <a:lnTo>
                    <a:pt x="566577" y="159526"/>
                  </a:lnTo>
                  <a:lnTo>
                    <a:pt x="584775" y="201899"/>
                  </a:lnTo>
                  <a:lnTo>
                    <a:pt x="596147" y="247350"/>
                  </a:lnTo>
                  <a:lnTo>
                    <a:pt x="600075" y="295275"/>
                  </a:lnTo>
                  <a:lnTo>
                    <a:pt x="596147" y="343168"/>
                  </a:lnTo>
                  <a:lnTo>
                    <a:pt x="584775" y="388601"/>
                  </a:lnTo>
                  <a:lnTo>
                    <a:pt x="566577" y="430967"/>
                  </a:lnTo>
                  <a:lnTo>
                    <a:pt x="542171" y="469657"/>
                  </a:lnTo>
                  <a:lnTo>
                    <a:pt x="512175" y="504063"/>
                  </a:lnTo>
                  <a:lnTo>
                    <a:pt x="477207" y="533576"/>
                  </a:lnTo>
                  <a:lnTo>
                    <a:pt x="437884" y="557590"/>
                  </a:lnTo>
                  <a:lnTo>
                    <a:pt x="394826" y="575495"/>
                  </a:lnTo>
                  <a:lnTo>
                    <a:pt x="348650" y="586685"/>
                  </a:lnTo>
                  <a:lnTo>
                    <a:pt x="299974" y="590550"/>
                  </a:lnTo>
                  <a:lnTo>
                    <a:pt x="251301" y="586685"/>
                  </a:lnTo>
                  <a:lnTo>
                    <a:pt x="205134" y="575495"/>
                  </a:lnTo>
                  <a:lnTo>
                    <a:pt x="162090" y="557590"/>
                  </a:lnTo>
                  <a:lnTo>
                    <a:pt x="122785" y="533576"/>
                  </a:lnTo>
                  <a:lnTo>
                    <a:pt x="87836" y="504063"/>
                  </a:lnTo>
                  <a:lnTo>
                    <a:pt x="57859" y="469657"/>
                  </a:lnTo>
                  <a:lnTo>
                    <a:pt x="33470" y="430967"/>
                  </a:lnTo>
                  <a:lnTo>
                    <a:pt x="15286" y="388601"/>
                  </a:lnTo>
                  <a:lnTo>
                    <a:pt x="3924" y="343168"/>
                  </a:lnTo>
                  <a:lnTo>
                    <a:pt x="0" y="29527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8672576" y="245173"/>
            <a:ext cx="12700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-50" dirty="0">
                <a:solidFill>
                  <a:srgbClr val="7B39EC"/>
                </a:solidFill>
                <a:latin typeface="Calibri"/>
                <a:cs typeface="Calibri"/>
              </a:rPr>
              <a:t>1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1937" y="1038923"/>
            <a:ext cx="38354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spc="-10" dirty="0">
                <a:solidFill>
                  <a:srgbClr val="0E172A"/>
                </a:solidFill>
                <a:latin typeface="Calibri"/>
                <a:cs typeface="Calibri"/>
              </a:rPr>
              <a:t>Genre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76225" y="1295400"/>
            <a:ext cx="2647950" cy="1743075"/>
            <a:chOff x="276225" y="1295400"/>
            <a:chExt cx="2647950" cy="1743075"/>
          </a:xfrm>
        </p:grpSpPr>
        <p:sp>
          <p:nvSpPr>
            <p:cNvPr id="12" name="object 12"/>
            <p:cNvSpPr/>
            <p:nvPr/>
          </p:nvSpPr>
          <p:spPr>
            <a:xfrm>
              <a:off x="276225" y="1295400"/>
              <a:ext cx="2647950" cy="1743075"/>
            </a:xfrm>
            <a:custGeom>
              <a:avLst/>
              <a:gdLst/>
              <a:ahLst/>
              <a:cxnLst/>
              <a:rect l="l" t="t" r="r" b="b"/>
              <a:pathLst>
                <a:path w="2647950" h="1743075">
                  <a:moveTo>
                    <a:pt x="2520569" y="0"/>
                  </a:moveTo>
                  <a:lnTo>
                    <a:pt x="127406" y="0"/>
                  </a:lnTo>
                  <a:lnTo>
                    <a:pt x="77811" y="10009"/>
                  </a:lnTo>
                  <a:lnTo>
                    <a:pt x="37314" y="37306"/>
                  </a:lnTo>
                  <a:lnTo>
                    <a:pt x="10011" y="77795"/>
                  </a:lnTo>
                  <a:lnTo>
                    <a:pt x="0" y="127380"/>
                  </a:lnTo>
                  <a:lnTo>
                    <a:pt x="0" y="1615694"/>
                  </a:lnTo>
                  <a:lnTo>
                    <a:pt x="10011" y="1665279"/>
                  </a:lnTo>
                  <a:lnTo>
                    <a:pt x="37314" y="1705768"/>
                  </a:lnTo>
                  <a:lnTo>
                    <a:pt x="77811" y="1733065"/>
                  </a:lnTo>
                  <a:lnTo>
                    <a:pt x="127406" y="1743075"/>
                  </a:lnTo>
                  <a:lnTo>
                    <a:pt x="2520569" y="1743075"/>
                  </a:lnTo>
                  <a:lnTo>
                    <a:pt x="2570154" y="1733065"/>
                  </a:lnTo>
                  <a:lnTo>
                    <a:pt x="2610643" y="1705768"/>
                  </a:lnTo>
                  <a:lnTo>
                    <a:pt x="2637940" y="1665279"/>
                  </a:lnTo>
                  <a:lnTo>
                    <a:pt x="2647950" y="1615694"/>
                  </a:lnTo>
                  <a:lnTo>
                    <a:pt x="2647950" y="127380"/>
                  </a:lnTo>
                  <a:lnTo>
                    <a:pt x="2637940" y="77795"/>
                  </a:lnTo>
                  <a:lnTo>
                    <a:pt x="2610643" y="37306"/>
                  </a:lnTo>
                  <a:lnTo>
                    <a:pt x="2570154" y="10009"/>
                  </a:lnTo>
                  <a:lnTo>
                    <a:pt x="2520569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600200" y="1438147"/>
              <a:ext cx="576580" cy="885190"/>
            </a:xfrm>
            <a:custGeom>
              <a:avLst/>
              <a:gdLst/>
              <a:ahLst/>
              <a:cxnLst/>
              <a:rect l="l" t="t" r="r" b="b"/>
              <a:pathLst>
                <a:path w="576580" h="885189">
                  <a:moveTo>
                    <a:pt x="0" y="0"/>
                  </a:moveTo>
                  <a:lnTo>
                    <a:pt x="0" y="576071"/>
                  </a:lnTo>
                  <a:lnTo>
                    <a:pt x="486410" y="884682"/>
                  </a:lnTo>
                  <a:lnTo>
                    <a:pt x="513380" y="837400"/>
                  </a:lnTo>
                  <a:lnTo>
                    <a:pt x="535676" y="787992"/>
                  </a:lnTo>
                  <a:lnTo>
                    <a:pt x="553196" y="736806"/>
                  </a:lnTo>
                  <a:lnTo>
                    <a:pt x="565836" y="684191"/>
                  </a:lnTo>
                  <a:lnTo>
                    <a:pt x="573496" y="630496"/>
                  </a:lnTo>
                  <a:lnTo>
                    <a:pt x="576072" y="576071"/>
                  </a:lnTo>
                  <a:lnTo>
                    <a:pt x="574162" y="528827"/>
                  </a:lnTo>
                  <a:lnTo>
                    <a:pt x="568531" y="482635"/>
                  </a:lnTo>
                  <a:lnTo>
                    <a:pt x="559328" y="437641"/>
                  </a:lnTo>
                  <a:lnTo>
                    <a:pt x="546701" y="393996"/>
                  </a:lnTo>
                  <a:lnTo>
                    <a:pt x="530798" y="351847"/>
                  </a:lnTo>
                  <a:lnTo>
                    <a:pt x="511767" y="311342"/>
                  </a:lnTo>
                  <a:lnTo>
                    <a:pt x="489758" y="272631"/>
                  </a:lnTo>
                  <a:lnTo>
                    <a:pt x="464917" y="235860"/>
                  </a:lnTo>
                  <a:lnTo>
                    <a:pt x="437394" y="201179"/>
                  </a:lnTo>
                  <a:lnTo>
                    <a:pt x="407336" y="168735"/>
                  </a:lnTo>
                  <a:lnTo>
                    <a:pt x="374892" y="138677"/>
                  </a:lnTo>
                  <a:lnTo>
                    <a:pt x="340211" y="111154"/>
                  </a:lnTo>
                  <a:lnTo>
                    <a:pt x="303440" y="86313"/>
                  </a:lnTo>
                  <a:lnTo>
                    <a:pt x="264729" y="64304"/>
                  </a:lnTo>
                  <a:lnTo>
                    <a:pt x="224224" y="45273"/>
                  </a:lnTo>
                  <a:lnTo>
                    <a:pt x="182075" y="29370"/>
                  </a:lnTo>
                  <a:lnTo>
                    <a:pt x="138430" y="16743"/>
                  </a:lnTo>
                  <a:lnTo>
                    <a:pt x="93436" y="7540"/>
                  </a:lnTo>
                  <a:lnTo>
                    <a:pt x="47244" y="19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83691" y="2014219"/>
              <a:ext cx="1003300" cy="576580"/>
            </a:xfrm>
            <a:custGeom>
              <a:avLst/>
              <a:gdLst/>
              <a:ahLst/>
              <a:cxnLst/>
              <a:rect l="l" t="t" r="r" b="b"/>
              <a:pathLst>
                <a:path w="1003300" h="576580">
                  <a:moveTo>
                    <a:pt x="516509" y="0"/>
                  </a:moveTo>
                  <a:lnTo>
                    <a:pt x="0" y="255016"/>
                  </a:lnTo>
                  <a:lnTo>
                    <a:pt x="25439" y="301119"/>
                  </a:lnTo>
                  <a:lnTo>
                    <a:pt x="54853" y="344527"/>
                  </a:lnTo>
                  <a:lnTo>
                    <a:pt x="88023" y="385000"/>
                  </a:lnTo>
                  <a:lnTo>
                    <a:pt x="124732" y="422298"/>
                  </a:lnTo>
                  <a:lnTo>
                    <a:pt x="164763" y="456181"/>
                  </a:lnTo>
                  <a:lnTo>
                    <a:pt x="207899" y="486410"/>
                  </a:lnTo>
                  <a:lnTo>
                    <a:pt x="248810" y="510107"/>
                  </a:lnTo>
                  <a:lnTo>
                    <a:pt x="290825" y="530099"/>
                  </a:lnTo>
                  <a:lnTo>
                    <a:pt x="333740" y="546432"/>
                  </a:lnTo>
                  <a:lnTo>
                    <a:pt x="377351" y="559151"/>
                  </a:lnTo>
                  <a:lnTo>
                    <a:pt x="421453" y="568303"/>
                  </a:lnTo>
                  <a:lnTo>
                    <a:pt x="465842" y="573932"/>
                  </a:lnTo>
                  <a:lnTo>
                    <a:pt x="510313" y="576086"/>
                  </a:lnTo>
                  <a:lnTo>
                    <a:pt x="554661" y="574810"/>
                  </a:lnTo>
                  <a:lnTo>
                    <a:pt x="598684" y="570149"/>
                  </a:lnTo>
                  <a:lnTo>
                    <a:pt x="642175" y="562149"/>
                  </a:lnTo>
                  <a:lnTo>
                    <a:pt x="684931" y="550857"/>
                  </a:lnTo>
                  <a:lnTo>
                    <a:pt x="726747" y="536317"/>
                  </a:lnTo>
                  <a:lnTo>
                    <a:pt x="767420" y="518577"/>
                  </a:lnTo>
                  <a:lnTo>
                    <a:pt x="806743" y="497681"/>
                  </a:lnTo>
                  <a:lnTo>
                    <a:pt x="844514" y="473676"/>
                  </a:lnTo>
                  <a:lnTo>
                    <a:pt x="880527" y="446607"/>
                  </a:lnTo>
                  <a:lnTo>
                    <a:pt x="914579" y="416520"/>
                  </a:lnTo>
                  <a:lnTo>
                    <a:pt x="946464" y="383461"/>
                  </a:lnTo>
                  <a:lnTo>
                    <a:pt x="975979" y="347475"/>
                  </a:lnTo>
                  <a:lnTo>
                    <a:pt x="1002919" y="308610"/>
                  </a:lnTo>
                  <a:lnTo>
                    <a:pt x="516509" y="0"/>
                  </a:lnTo>
                  <a:close/>
                </a:path>
              </a:pathLst>
            </a:custGeom>
            <a:solidFill>
              <a:srgbClr val="0D93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24130" y="1438147"/>
              <a:ext cx="576580" cy="831215"/>
            </a:xfrm>
            <a:custGeom>
              <a:avLst/>
              <a:gdLst/>
              <a:ahLst/>
              <a:cxnLst/>
              <a:rect l="l" t="t" r="r" b="b"/>
              <a:pathLst>
                <a:path w="576580" h="831214">
                  <a:moveTo>
                    <a:pt x="576069" y="0"/>
                  </a:moveTo>
                  <a:lnTo>
                    <a:pt x="523164" y="2427"/>
                  </a:lnTo>
                  <a:lnTo>
                    <a:pt x="470887" y="9664"/>
                  </a:lnTo>
                  <a:lnTo>
                    <a:pt x="419561" y="21643"/>
                  </a:lnTo>
                  <a:lnTo>
                    <a:pt x="369508" y="38299"/>
                  </a:lnTo>
                  <a:lnTo>
                    <a:pt x="321053" y="59562"/>
                  </a:lnTo>
                  <a:lnTo>
                    <a:pt x="279532" y="82190"/>
                  </a:lnTo>
                  <a:lnTo>
                    <a:pt x="240602" y="107689"/>
                  </a:lnTo>
                  <a:lnTo>
                    <a:pt x="204329" y="135858"/>
                  </a:lnTo>
                  <a:lnTo>
                    <a:pt x="170782" y="166502"/>
                  </a:lnTo>
                  <a:lnTo>
                    <a:pt x="140028" y="199419"/>
                  </a:lnTo>
                  <a:lnTo>
                    <a:pt x="112133" y="234413"/>
                  </a:lnTo>
                  <a:lnTo>
                    <a:pt x="87165" y="271284"/>
                  </a:lnTo>
                  <a:lnTo>
                    <a:pt x="65191" y="309834"/>
                  </a:lnTo>
                  <a:lnTo>
                    <a:pt x="46279" y="349864"/>
                  </a:lnTo>
                  <a:lnTo>
                    <a:pt x="30496" y="391175"/>
                  </a:lnTo>
                  <a:lnTo>
                    <a:pt x="17910" y="433570"/>
                  </a:lnTo>
                  <a:lnTo>
                    <a:pt x="8586" y="476849"/>
                  </a:lnTo>
                  <a:lnTo>
                    <a:pt x="2594" y="520814"/>
                  </a:lnTo>
                  <a:lnTo>
                    <a:pt x="0" y="565266"/>
                  </a:lnTo>
                  <a:lnTo>
                    <a:pt x="870" y="610006"/>
                  </a:lnTo>
                  <a:lnTo>
                    <a:pt x="5274" y="654837"/>
                  </a:lnTo>
                  <a:lnTo>
                    <a:pt x="13278" y="699559"/>
                  </a:lnTo>
                  <a:lnTo>
                    <a:pt x="24948" y="743974"/>
                  </a:lnTo>
                  <a:lnTo>
                    <a:pt x="40353" y="787883"/>
                  </a:lnTo>
                  <a:lnTo>
                    <a:pt x="59560" y="831088"/>
                  </a:lnTo>
                  <a:lnTo>
                    <a:pt x="576069" y="576071"/>
                  </a:lnTo>
                  <a:lnTo>
                    <a:pt x="576069" y="0"/>
                  </a:lnTo>
                  <a:close/>
                </a:path>
              </a:pathLst>
            </a:custGeom>
            <a:solidFill>
              <a:srgbClr val="93A2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816100" y="1736978"/>
            <a:ext cx="2508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FFFFFF"/>
                </a:solidFill>
                <a:latin typeface="Arial MT"/>
                <a:cs typeface="Arial MT"/>
              </a:rPr>
              <a:t>34%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44244" y="2356802"/>
            <a:ext cx="25146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FFFFFF"/>
                </a:solidFill>
                <a:latin typeface="Arial MT"/>
                <a:cs typeface="Arial MT"/>
              </a:rPr>
              <a:t>34%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29664" y="1726882"/>
            <a:ext cx="25146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FFFFFF"/>
                </a:solidFill>
                <a:latin typeface="Arial MT"/>
                <a:cs typeface="Arial MT"/>
              </a:rPr>
              <a:t>32%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71525" y="2809875"/>
            <a:ext cx="66675" cy="66675"/>
          </a:xfrm>
          <a:custGeom>
            <a:avLst/>
            <a:gdLst/>
            <a:ahLst/>
            <a:cxnLst/>
            <a:rect l="l" t="t" r="r" b="b"/>
            <a:pathLst>
              <a:path w="66675" h="66675">
                <a:moveTo>
                  <a:pt x="66675" y="0"/>
                </a:moveTo>
                <a:lnTo>
                  <a:pt x="0" y="0"/>
                </a:lnTo>
                <a:lnTo>
                  <a:pt x="0" y="66675"/>
                </a:lnTo>
                <a:lnTo>
                  <a:pt x="66675" y="66675"/>
                </a:lnTo>
                <a:lnTo>
                  <a:pt x="66675" y="0"/>
                </a:lnTo>
                <a:close/>
              </a:path>
            </a:pathLst>
          </a:custGeom>
          <a:solidFill>
            <a:srgbClr val="7B39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859155" y="2752979"/>
            <a:ext cx="49022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latin typeface="Calibri"/>
                <a:cs typeface="Calibri"/>
              </a:rPr>
              <a:t>Masculin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457325" y="2809875"/>
            <a:ext cx="66675" cy="66675"/>
          </a:xfrm>
          <a:custGeom>
            <a:avLst/>
            <a:gdLst/>
            <a:ahLst/>
            <a:cxnLst/>
            <a:rect l="l" t="t" r="r" b="b"/>
            <a:pathLst>
              <a:path w="66675" h="66675">
                <a:moveTo>
                  <a:pt x="66675" y="0"/>
                </a:moveTo>
                <a:lnTo>
                  <a:pt x="0" y="0"/>
                </a:lnTo>
                <a:lnTo>
                  <a:pt x="0" y="66675"/>
                </a:lnTo>
                <a:lnTo>
                  <a:pt x="66675" y="66675"/>
                </a:lnTo>
                <a:lnTo>
                  <a:pt x="66675" y="0"/>
                </a:lnTo>
                <a:close/>
              </a:path>
            </a:pathLst>
          </a:custGeom>
          <a:solidFill>
            <a:srgbClr val="0D93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543303" y="2752979"/>
            <a:ext cx="44259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latin typeface="Calibri"/>
                <a:cs typeface="Calibri"/>
              </a:rPr>
              <a:t>Féminin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085975" y="2809875"/>
            <a:ext cx="76200" cy="66675"/>
          </a:xfrm>
          <a:custGeom>
            <a:avLst/>
            <a:gdLst/>
            <a:ahLst/>
            <a:cxnLst/>
            <a:rect l="l" t="t" r="r" b="b"/>
            <a:pathLst>
              <a:path w="76200" h="66675">
                <a:moveTo>
                  <a:pt x="76200" y="0"/>
                </a:moveTo>
                <a:lnTo>
                  <a:pt x="0" y="0"/>
                </a:lnTo>
                <a:lnTo>
                  <a:pt x="0" y="66675"/>
                </a:lnTo>
                <a:lnTo>
                  <a:pt x="76200" y="66675"/>
                </a:lnTo>
                <a:lnTo>
                  <a:pt x="76200" y="0"/>
                </a:lnTo>
                <a:close/>
              </a:path>
            </a:pathLst>
          </a:custGeom>
          <a:solidFill>
            <a:srgbClr val="93A2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177795" y="2752979"/>
            <a:ext cx="31559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latin typeface="Calibri"/>
                <a:cs typeface="Calibri"/>
              </a:rPr>
              <a:t>Autre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236976" y="1038923"/>
            <a:ext cx="75501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dirty="0">
                <a:solidFill>
                  <a:srgbClr val="0E172A"/>
                </a:solidFill>
                <a:latin typeface="Calibri"/>
                <a:cs typeface="Calibri"/>
              </a:rPr>
              <a:t>Type</a:t>
            </a:r>
            <a:r>
              <a:rPr sz="1100" b="1" spc="-1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0E172A"/>
                </a:solidFill>
                <a:latin typeface="Calibri"/>
                <a:cs typeface="Calibri"/>
              </a:rPr>
              <a:t>d'école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248025" y="1295400"/>
            <a:ext cx="2647950" cy="1743075"/>
            <a:chOff x="3248025" y="1295400"/>
            <a:chExt cx="2647950" cy="1743075"/>
          </a:xfrm>
        </p:grpSpPr>
        <p:sp>
          <p:nvSpPr>
            <p:cNvPr id="27" name="object 27"/>
            <p:cNvSpPr/>
            <p:nvPr/>
          </p:nvSpPr>
          <p:spPr>
            <a:xfrm>
              <a:off x="3248025" y="1295400"/>
              <a:ext cx="2647950" cy="1743075"/>
            </a:xfrm>
            <a:custGeom>
              <a:avLst/>
              <a:gdLst/>
              <a:ahLst/>
              <a:cxnLst/>
              <a:rect l="l" t="t" r="r" b="b"/>
              <a:pathLst>
                <a:path w="2647950" h="1743075">
                  <a:moveTo>
                    <a:pt x="2520569" y="0"/>
                  </a:moveTo>
                  <a:lnTo>
                    <a:pt x="127380" y="0"/>
                  </a:lnTo>
                  <a:lnTo>
                    <a:pt x="77795" y="10009"/>
                  </a:lnTo>
                  <a:lnTo>
                    <a:pt x="37306" y="37306"/>
                  </a:lnTo>
                  <a:lnTo>
                    <a:pt x="10009" y="77795"/>
                  </a:lnTo>
                  <a:lnTo>
                    <a:pt x="0" y="127380"/>
                  </a:lnTo>
                  <a:lnTo>
                    <a:pt x="0" y="1615694"/>
                  </a:lnTo>
                  <a:lnTo>
                    <a:pt x="10009" y="1665279"/>
                  </a:lnTo>
                  <a:lnTo>
                    <a:pt x="37306" y="1705768"/>
                  </a:lnTo>
                  <a:lnTo>
                    <a:pt x="77795" y="1733065"/>
                  </a:lnTo>
                  <a:lnTo>
                    <a:pt x="127380" y="1743075"/>
                  </a:lnTo>
                  <a:lnTo>
                    <a:pt x="2520569" y="1743075"/>
                  </a:lnTo>
                  <a:lnTo>
                    <a:pt x="2570154" y="1733065"/>
                  </a:lnTo>
                  <a:lnTo>
                    <a:pt x="2610643" y="1705768"/>
                  </a:lnTo>
                  <a:lnTo>
                    <a:pt x="2637940" y="1665279"/>
                  </a:lnTo>
                  <a:lnTo>
                    <a:pt x="2647950" y="1615694"/>
                  </a:lnTo>
                  <a:lnTo>
                    <a:pt x="2647950" y="127380"/>
                  </a:lnTo>
                  <a:lnTo>
                    <a:pt x="2637940" y="77795"/>
                  </a:lnTo>
                  <a:lnTo>
                    <a:pt x="2610643" y="37306"/>
                  </a:lnTo>
                  <a:lnTo>
                    <a:pt x="2570154" y="10009"/>
                  </a:lnTo>
                  <a:lnTo>
                    <a:pt x="2520569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067175" y="1438147"/>
              <a:ext cx="1081405" cy="1152525"/>
            </a:xfrm>
            <a:custGeom>
              <a:avLst/>
              <a:gdLst/>
              <a:ahLst/>
              <a:cxnLst/>
              <a:rect l="l" t="t" r="r" b="b"/>
              <a:pathLst>
                <a:path w="1081404" h="1152525">
                  <a:moveTo>
                    <a:pt x="504825" y="0"/>
                  </a:moveTo>
                  <a:lnTo>
                    <a:pt x="504825" y="576071"/>
                  </a:lnTo>
                  <a:lnTo>
                    <a:pt x="0" y="853566"/>
                  </a:lnTo>
                  <a:lnTo>
                    <a:pt x="24962" y="894805"/>
                  </a:lnTo>
                  <a:lnTo>
                    <a:pt x="52996" y="933445"/>
                  </a:lnTo>
                  <a:lnTo>
                    <a:pt x="83893" y="969366"/>
                  </a:lnTo>
                  <a:lnTo>
                    <a:pt x="117447" y="1002446"/>
                  </a:lnTo>
                  <a:lnTo>
                    <a:pt x="153451" y="1032562"/>
                  </a:lnTo>
                  <a:lnTo>
                    <a:pt x="191698" y="1059592"/>
                  </a:lnTo>
                  <a:lnTo>
                    <a:pt x="231980" y="1083414"/>
                  </a:lnTo>
                  <a:lnTo>
                    <a:pt x="274091" y="1103906"/>
                  </a:lnTo>
                  <a:lnTo>
                    <a:pt x="317823" y="1120946"/>
                  </a:lnTo>
                  <a:lnTo>
                    <a:pt x="362969" y="1134412"/>
                  </a:lnTo>
                  <a:lnTo>
                    <a:pt x="409323" y="1144181"/>
                  </a:lnTo>
                  <a:lnTo>
                    <a:pt x="456677" y="1150133"/>
                  </a:lnTo>
                  <a:lnTo>
                    <a:pt x="504825" y="1152144"/>
                  </a:lnTo>
                  <a:lnTo>
                    <a:pt x="552069" y="1150234"/>
                  </a:lnTo>
                  <a:lnTo>
                    <a:pt x="598261" y="1144603"/>
                  </a:lnTo>
                  <a:lnTo>
                    <a:pt x="643255" y="1135400"/>
                  </a:lnTo>
                  <a:lnTo>
                    <a:pt x="686900" y="1122773"/>
                  </a:lnTo>
                  <a:lnTo>
                    <a:pt x="729049" y="1106870"/>
                  </a:lnTo>
                  <a:lnTo>
                    <a:pt x="769554" y="1087839"/>
                  </a:lnTo>
                  <a:lnTo>
                    <a:pt x="808265" y="1065830"/>
                  </a:lnTo>
                  <a:lnTo>
                    <a:pt x="845036" y="1040989"/>
                  </a:lnTo>
                  <a:lnTo>
                    <a:pt x="879717" y="1013466"/>
                  </a:lnTo>
                  <a:lnTo>
                    <a:pt x="912161" y="983408"/>
                  </a:lnTo>
                  <a:lnTo>
                    <a:pt x="942219" y="950964"/>
                  </a:lnTo>
                  <a:lnTo>
                    <a:pt x="969742" y="916283"/>
                  </a:lnTo>
                  <a:lnTo>
                    <a:pt x="994583" y="879512"/>
                  </a:lnTo>
                  <a:lnTo>
                    <a:pt x="1016592" y="840801"/>
                  </a:lnTo>
                  <a:lnTo>
                    <a:pt x="1035623" y="800296"/>
                  </a:lnTo>
                  <a:lnTo>
                    <a:pt x="1051526" y="758147"/>
                  </a:lnTo>
                  <a:lnTo>
                    <a:pt x="1064153" y="714502"/>
                  </a:lnTo>
                  <a:lnTo>
                    <a:pt x="1073356" y="669508"/>
                  </a:lnTo>
                  <a:lnTo>
                    <a:pt x="1078987" y="623316"/>
                  </a:lnTo>
                  <a:lnTo>
                    <a:pt x="1080897" y="576071"/>
                  </a:lnTo>
                  <a:lnTo>
                    <a:pt x="1078987" y="528827"/>
                  </a:lnTo>
                  <a:lnTo>
                    <a:pt x="1073356" y="482635"/>
                  </a:lnTo>
                  <a:lnTo>
                    <a:pt x="1064153" y="437641"/>
                  </a:lnTo>
                  <a:lnTo>
                    <a:pt x="1051526" y="393996"/>
                  </a:lnTo>
                  <a:lnTo>
                    <a:pt x="1035623" y="351847"/>
                  </a:lnTo>
                  <a:lnTo>
                    <a:pt x="1016592" y="311342"/>
                  </a:lnTo>
                  <a:lnTo>
                    <a:pt x="994583" y="272631"/>
                  </a:lnTo>
                  <a:lnTo>
                    <a:pt x="969742" y="235860"/>
                  </a:lnTo>
                  <a:lnTo>
                    <a:pt x="942219" y="201179"/>
                  </a:lnTo>
                  <a:lnTo>
                    <a:pt x="912161" y="168735"/>
                  </a:lnTo>
                  <a:lnTo>
                    <a:pt x="879717" y="138677"/>
                  </a:lnTo>
                  <a:lnTo>
                    <a:pt x="845036" y="111154"/>
                  </a:lnTo>
                  <a:lnTo>
                    <a:pt x="808265" y="86313"/>
                  </a:lnTo>
                  <a:lnTo>
                    <a:pt x="769554" y="64304"/>
                  </a:lnTo>
                  <a:lnTo>
                    <a:pt x="729049" y="45273"/>
                  </a:lnTo>
                  <a:lnTo>
                    <a:pt x="686900" y="29370"/>
                  </a:lnTo>
                  <a:lnTo>
                    <a:pt x="643255" y="16743"/>
                  </a:lnTo>
                  <a:lnTo>
                    <a:pt x="598261" y="7540"/>
                  </a:lnTo>
                  <a:lnTo>
                    <a:pt x="552069" y="1909"/>
                  </a:lnTo>
                  <a:lnTo>
                    <a:pt x="504825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995991" y="1438147"/>
              <a:ext cx="576580" cy="854075"/>
            </a:xfrm>
            <a:custGeom>
              <a:avLst/>
              <a:gdLst/>
              <a:ahLst/>
              <a:cxnLst/>
              <a:rect l="l" t="t" r="r" b="b"/>
              <a:pathLst>
                <a:path w="576579" h="854075">
                  <a:moveTo>
                    <a:pt x="576008" y="0"/>
                  </a:moveTo>
                  <a:lnTo>
                    <a:pt x="527663" y="2031"/>
                  </a:lnTo>
                  <a:lnTo>
                    <a:pt x="479822" y="8085"/>
                  </a:lnTo>
                  <a:lnTo>
                    <a:pt x="432736" y="18097"/>
                  </a:lnTo>
                  <a:lnTo>
                    <a:pt x="386656" y="32004"/>
                  </a:lnTo>
                  <a:lnTo>
                    <a:pt x="341831" y="49741"/>
                  </a:lnTo>
                  <a:lnTo>
                    <a:pt x="298513" y="71247"/>
                  </a:lnTo>
                  <a:lnTo>
                    <a:pt x="258035" y="95684"/>
                  </a:lnTo>
                  <a:lnTo>
                    <a:pt x="220269" y="122874"/>
                  </a:lnTo>
                  <a:lnTo>
                    <a:pt x="185275" y="152616"/>
                  </a:lnTo>
                  <a:lnTo>
                    <a:pt x="153109" y="184709"/>
                  </a:lnTo>
                  <a:lnTo>
                    <a:pt x="123833" y="218951"/>
                  </a:lnTo>
                  <a:lnTo>
                    <a:pt x="97503" y="255141"/>
                  </a:lnTo>
                  <a:lnTo>
                    <a:pt x="74179" y="293078"/>
                  </a:lnTo>
                  <a:lnTo>
                    <a:pt x="53919" y="332560"/>
                  </a:lnTo>
                  <a:lnTo>
                    <a:pt x="36783" y="373385"/>
                  </a:lnTo>
                  <a:lnTo>
                    <a:pt x="22828" y="415353"/>
                  </a:lnTo>
                  <a:lnTo>
                    <a:pt x="12114" y="458262"/>
                  </a:lnTo>
                  <a:lnTo>
                    <a:pt x="4698" y="501911"/>
                  </a:lnTo>
                  <a:lnTo>
                    <a:pt x="641" y="546098"/>
                  </a:lnTo>
                  <a:lnTo>
                    <a:pt x="0" y="590622"/>
                  </a:lnTo>
                  <a:lnTo>
                    <a:pt x="2833" y="635281"/>
                  </a:lnTo>
                  <a:lnTo>
                    <a:pt x="9201" y="679875"/>
                  </a:lnTo>
                  <a:lnTo>
                    <a:pt x="19161" y="724202"/>
                  </a:lnTo>
                  <a:lnTo>
                    <a:pt x="32773" y="768060"/>
                  </a:lnTo>
                  <a:lnTo>
                    <a:pt x="50094" y="811249"/>
                  </a:lnTo>
                  <a:lnTo>
                    <a:pt x="71183" y="853566"/>
                  </a:lnTo>
                  <a:lnTo>
                    <a:pt x="576008" y="576071"/>
                  </a:lnTo>
                  <a:lnTo>
                    <a:pt x="576008" y="0"/>
                  </a:lnTo>
                  <a:close/>
                </a:path>
              </a:pathLst>
            </a:custGeom>
            <a:solidFill>
              <a:srgbClr val="13B8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762500" y="2127821"/>
            <a:ext cx="278765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25" dirty="0">
                <a:latin typeface="Arial MT"/>
                <a:cs typeface="Arial MT"/>
              </a:rPr>
              <a:t>67%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104259" y="1736978"/>
            <a:ext cx="2794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25" dirty="0">
                <a:latin typeface="Arial MT"/>
                <a:cs typeface="Arial MT"/>
              </a:rPr>
              <a:t>33%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4057650" y="2809875"/>
            <a:ext cx="66675" cy="66675"/>
          </a:xfrm>
          <a:custGeom>
            <a:avLst/>
            <a:gdLst/>
            <a:ahLst/>
            <a:cxnLst/>
            <a:rect l="l" t="t" r="r" b="b"/>
            <a:pathLst>
              <a:path w="66675" h="66675">
                <a:moveTo>
                  <a:pt x="66675" y="0"/>
                </a:moveTo>
                <a:lnTo>
                  <a:pt x="0" y="0"/>
                </a:lnTo>
                <a:lnTo>
                  <a:pt x="0" y="66675"/>
                </a:lnTo>
                <a:lnTo>
                  <a:pt x="66675" y="66675"/>
                </a:lnTo>
                <a:lnTo>
                  <a:pt x="66675" y="0"/>
                </a:lnTo>
                <a:close/>
              </a:path>
            </a:pathLst>
          </a:custGeom>
          <a:solidFill>
            <a:srgbClr val="7B39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4145026" y="2752979"/>
            <a:ext cx="476884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latin typeface="Calibri"/>
                <a:cs typeface="Calibri"/>
              </a:rPr>
              <a:t>Publique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4714875" y="2809875"/>
            <a:ext cx="76200" cy="66675"/>
          </a:xfrm>
          <a:custGeom>
            <a:avLst/>
            <a:gdLst/>
            <a:ahLst/>
            <a:cxnLst/>
            <a:rect l="l" t="t" r="r" b="b"/>
            <a:pathLst>
              <a:path w="76200" h="66675">
                <a:moveTo>
                  <a:pt x="76200" y="0"/>
                </a:moveTo>
                <a:lnTo>
                  <a:pt x="0" y="0"/>
                </a:lnTo>
                <a:lnTo>
                  <a:pt x="0" y="66675"/>
                </a:lnTo>
                <a:lnTo>
                  <a:pt x="76200" y="66675"/>
                </a:lnTo>
                <a:lnTo>
                  <a:pt x="76200" y="0"/>
                </a:lnTo>
                <a:close/>
              </a:path>
            </a:pathLst>
          </a:custGeom>
          <a:solidFill>
            <a:srgbClr val="13B8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4809490" y="2752979"/>
            <a:ext cx="34417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latin typeface="Calibri"/>
                <a:cs typeface="Calibri"/>
              </a:rPr>
              <a:t>Privée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211570" y="1038923"/>
            <a:ext cx="85661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dirty="0">
                <a:solidFill>
                  <a:srgbClr val="0E172A"/>
                </a:solidFill>
                <a:latin typeface="Calibri"/>
                <a:cs typeface="Calibri"/>
              </a:rPr>
              <a:t>Accès</a:t>
            </a:r>
            <a:r>
              <a:rPr sz="1100" b="1" spc="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0E172A"/>
                </a:solidFill>
                <a:latin typeface="Calibri"/>
                <a:cs typeface="Calibri"/>
              </a:rPr>
              <a:t>Internet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6219825" y="1295400"/>
            <a:ext cx="2647950" cy="1743075"/>
            <a:chOff x="6219825" y="1295400"/>
            <a:chExt cx="2647950" cy="1743075"/>
          </a:xfrm>
        </p:grpSpPr>
        <p:sp>
          <p:nvSpPr>
            <p:cNvPr id="38" name="object 38"/>
            <p:cNvSpPr/>
            <p:nvPr/>
          </p:nvSpPr>
          <p:spPr>
            <a:xfrm>
              <a:off x="6219825" y="1295400"/>
              <a:ext cx="2647950" cy="1743075"/>
            </a:xfrm>
            <a:custGeom>
              <a:avLst/>
              <a:gdLst/>
              <a:ahLst/>
              <a:cxnLst/>
              <a:rect l="l" t="t" r="r" b="b"/>
              <a:pathLst>
                <a:path w="2647950" h="1743075">
                  <a:moveTo>
                    <a:pt x="2520569" y="0"/>
                  </a:moveTo>
                  <a:lnTo>
                    <a:pt x="127380" y="0"/>
                  </a:lnTo>
                  <a:lnTo>
                    <a:pt x="77795" y="10009"/>
                  </a:lnTo>
                  <a:lnTo>
                    <a:pt x="37306" y="37306"/>
                  </a:lnTo>
                  <a:lnTo>
                    <a:pt x="10009" y="77795"/>
                  </a:lnTo>
                  <a:lnTo>
                    <a:pt x="0" y="127380"/>
                  </a:lnTo>
                  <a:lnTo>
                    <a:pt x="0" y="1615694"/>
                  </a:lnTo>
                  <a:lnTo>
                    <a:pt x="10009" y="1665279"/>
                  </a:lnTo>
                  <a:lnTo>
                    <a:pt x="37306" y="1705768"/>
                  </a:lnTo>
                  <a:lnTo>
                    <a:pt x="77795" y="1733065"/>
                  </a:lnTo>
                  <a:lnTo>
                    <a:pt x="127380" y="1743075"/>
                  </a:lnTo>
                  <a:lnTo>
                    <a:pt x="2520569" y="1743075"/>
                  </a:lnTo>
                  <a:lnTo>
                    <a:pt x="2570154" y="1733065"/>
                  </a:lnTo>
                  <a:lnTo>
                    <a:pt x="2610643" y="1705768"/>
                  </a:lnTo>
                  <a:lnTo>
                    <a:pt x="2637940" y="1665279"/>
                  </a:lnTo>
                  <a:lnTo>
                    <a:pt x="2647950" y="1615694"/>
                  </a:lnTo>
                  <a:lnTo>
                    <a:pt x="2647950" y="127380"/>
                  </a:lnTo>
                  <a:lnTo>
                    <a:pt x="2637940" y="77795"/>
                  </a:lnTo>
                  <a:lnTo>
                    <a:pt x="2610643" y="37306"/>
                  </a:lnTo>
                  <a:lnTo>
                    <a:pt x="2570154" y="10009"/>
                  </a:lnTo>
                  <a:lnTo>
                    <a:pt x="2520569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149464" y="1438147"/>
              <a:ext cx="970915" cy="1152525"/>
            </a:xfrm>
            <a:custGeom>
              <a:avLst/>
              <a:gdLst/>
              <a:ahLst/>
              <a:cxnLst/>
              <a:rect l="l" t="t" r="r" b="b"/>
              <a:pathLst>
                <a:path w="970915" h="1152525">
                  <a:moveTo>
                    <a:pt x="394334" y="0"/>
                  </a:moveTo>
                  <a:lnTo>
                    <a:pt x="394334" y="576071"/>
                  </a:lnTo>
                  <a:lnTo>
                    <a:pt x="0" y="995933"/>
                  </a:lnTo>
                  <a:lnTo>
                    <a:pt x="36828" y="1027715"/>
                  </a:lnTo>
                  <a:lnTo>
                    <a:pt x="75952" y="1056110"/>
                  </a:lnTo>
                  <a:lnTo>
                    <a:pt x="117136" y="1081024"/>
                  </a:lnTo>
                  <a:lnTo>
                    <a:pt x="160145" y="1102363"/>
                  </a:lnTo>
                  <a:lnTo>
                    <a:pt x="204744" y="1120033"/>
                  </a:lnTo>
                  <a:lnTo>
                    <a:pt x="250698" y="1133940"/>
                  </a:lnTo>
                  <a:lnTo>
                    <a:pt x="297771" y="1143990"/>
                  </a:lnTo>
                  <a:lnTo>
                    <a:pt x="345728" y="1150090"/>
                  </a:lnTo>
                  <a:lnTo>
                    <a:pt x="394334" y="1152144"/>
                  </a:lnTo>
                  <a:lnTo>
                    <a:pt x="441579" y="1150234"/>
                  </a:lnTo>
                  <a:lnTo>
                    <a:pt x="487771" y="1144603"/>
                  </a:lnTo>
                  <a:lnTo>
                    <a:pt x="532765" y="1135400"/>
                  </a:lnTo>
                  <a:lnTo>
                    <a:pt x="576410" y="1122773"/>
                  </a:lnTo>
                  <a:lnTo>
                    <a:pt x="618559" y="1106870"/>
                  </a:lnTo>
                  <a:lnTo>
                    <a:pt x="659064" y="1087839"/>
                  </a:lnTo>
                  <a:lnTo>
                    <a:pt x="697775" y="1065830"/>
                  </a:lnTo>
                  <a:lnTo>
                    <a:pt x="734546" y="1040989"/>
                  </a:lnTo>
                  <a:lnTo>
                    <a:pt x="769227" y="1013466"/>
                  </a:lnTo>
                  <a:lnTo>
                    <a:pt x="801671" y="983408"/>
                  </a:lnTo>
                  <a:lnTo>
                    <a:pt x="831729" y="950964"/>
                  </a:lnTo>
                  <a:lnTo>
                    <a:pt x="859252" y="916283"/>
                  </a:lnTo>
                  <a:lnTo>
                    <a:pt x="884093" y="879512"/>
                  </a:lnTo>
                  <a:lnTo>
                    <a:pt x="906102" y="840801"/>
                  </a:lnTo>
                  <a:lnTo>
                    <a:pt x="925133" y="800296"/>
                  </a:lnTo>
                  <a:lnTo>
                    <a:pt x="941036" y="758147"/>
                  </a:lnTo>
                  <a:lnTo>
                    <a:pt x="953663" y="714502"/>
                  </a:lnTo>
                  <a:lnTo>
                    <a:pt x="962866" y="669508"/>
                  </a:lnTo>
                  <a:lnTo>
                    <a:pt x="968497" y="623316"/>
                  </a:lnTo>
                  <a:lnTo>
                    <a:pt x="970406" y="576071"/>
                  </a:lnTo>
                  <a:lnTo>
                    <a:pt x="968497" y="528827"/>
                  </a:lnTo>
                  <a:lnTo>
                    <a:pt x="962866" y="482635"/>
                  </a:lnTo>
                  <a:lnTo>
                    <a:pt x="953663" y="437641"/>
                  </a:lnTo>
                  <a:lnTo>
                    <a:pt x="941036" y="393996"/>
                  </a:lnTo>
                  <a:lnTo>
                    <a:pt x="925133" y="351847"/>
                  </a:lnTo>
                  <a:lnTo>
                    <a:pt x="906102" y="311342"/>
                  </a:lnTo>
                  <a:lnTo>
                    <a:pt x="884093" y="272631"/>
                  </a:lnTo>
                  <a:lnTo>
                    <a:pt x="859252" y="235860"/>
                  </a:lnTo>
                  <a:lnTo>
                    <a:pt x="831729" y="201179"/>
                  </a:lnTo>
                  <a:lnTo>
                    <a:pt x="801671" y="168735"/>
                  </a:lnTo>
                  <a:lnTo>
                    <a:pt x="769227" y="138677"/>
                  </a:lnTo>
                  <a:lnTo>
                    <a:pt x="734546" y="111154"/>
                  </a:lnTo>
                  <a:lnTo>
                    <a:pt x="697775" y="86313"/>
                  </a:lnTo>
                  <a:lnTo>
                    <a:pt x="659064" y="64304"/>
                  </a:lnTo>
                  <a:lnTo>
                    <a:pt x="618559" y="45273"/>
                  </a:lnTo>
                  <a:lnTo>
                    <a:pt x="576410" y="29370"/>
                  </a:lnTo>
                  <a:lnTo>
                    <a:pt x="532765" y="16743"/>
                  </a:lnTo>
                  <a:lnTo>
                    <a:pt x="487771" y="7540"/>
                  </a:lnTo>
                  <a:lnTo>
                    <a:pt x="441579" y="1909"/>
                  </a:lnTo>
                  <a:lnTo>
                    <a:pt x="394334" y="0"/>
                  </a:lnTo>
                  <a:close/>
                </a:path>
              </a:pathLst>
            </a:custGeom>
            <a:solidFill>
              <a:srgbClr val="16A2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968061" y="1438147"/>
              <a:ext cx="575945" cy="996315"/>
            </a:xfrm>
            <a:custGeom>
              <a:avLst/>
              <a:gdLst/>
              <a:ahLst/>
              <a:cxnLst/>
              <a:rect l="l" t="t" r="r" b="b"/>
              <a:pathLst>
                <a:path w="575945" h="996314">
                  <a:moveTo>
                    <a:pt x="575738" y="0"/>
                  </a:moveTo>
                  <a:lnTo>
                    <a:pt x="528283" y="1957"/>
                  </a:lnTo>
                  <a:lnTo>
                    <a:pt x="481463" y="7769"/>
                  </a:lnTo>
                  <a:lnTo>
                    <a:pt x="435498" y="17340"/>
                  </a:lnTo>
                  <a:lnTo>
                    <a:pt x="390603" y="30577"/>
                  </a:lnTo>
                  <a:lnTo>
                    <a:pt x="346995" y="47386"/>
                  </a:lnTo>
                  <a:lnTo>
                    <a:pt x="304893" y="67674"/>
                  </a:lnTo>
                  <a:lnTo>
                    <a:pt x="264513" y="91347"/>
                  </a:lnTo>
                  <a:lnTo>
                    <a:pt x="226072" y="118311"/>
                  </a:lnTo>
                  <a:lnTo>
                    <a:pt x="189787" y="148472"/>
                  </a:lnTo>
                  <a:lnTo>
                    <a:pt x="155876" y="181737"/>
                  </a:lnTo>
                  <a:lnTo>
                    <a:pt x="124924" y="217481"/>
                  </a:lnTo>
                  <a:lnTo>
                    <a:pt x="97403" y="255005"/>
                  </a:lnTo>
                  <a:lnTo>
                    <a:pt x="73308" y="294100"/>
                  </a:lnTo>
                  <a:lnTo>
                    <a:pt x="52631" y="334554"/>
                  </a:lnTo>
                  <a:lnTo>
                    <a:pt x="35367" y="376160"/>
                  </a:lnTo>
                  <a:lnTo>
                    <a:pt x="21508" y="418707"/>
                  </a:lnTo>
                  <a:lnTo>
                    <a:pt x="11049" y="461986"/>
                  </a:lnTo>
                  <a:lnTo>
                    <a:pt x="3982" y="505788"/>
                  </a:lnTo>
                  <a:lnTo>
                    <a:pt x="301" y="549903"/>
                  </a:lnTo>
                  <a:lnTo>
                    <a:pt x="0" y="594121"/>
                  </a:lnTo>
                  <a:lnTo>
                    <a:pt x="3071" y="638234"/>
                  </a:lnTo>
                  <a:lnTo>
                    <a:pt x="9508" y="682032"/>
                  </a:lnTo>
                  <a:lnTo>
                    <a:pt x="19305" y="725305"/>
                  </a:lnTo>
                  <a:lnTo>
                    <a:pt x="32455" y="767844"/>
                  </a:lnTo>
                  <a:lnTo>
                    <a:pt x="48952" y="809440"/>
                  </a:lnTo>
                  <a:lnTo>
                    <a:pt x="68789" y="849882"/>
                  </a:lnTo>
                  <a:lnTo>
                    <a:pt x="91959" y="888963"/>
                  </a:lnTo>
                  <a:lnTo>
                    <a:pt x="118455" y="926471"/>
                  </a:lnTo>
                  <a:lnTo>
                    <a:pt x="148272" y="962198"/>
                  </a:lnTo>
                  <a:lnTo>
                    <a:pt x="181403" y="995933"/>
                  </a:lnTo>
                  <a:lnTo>
                    <a:pt x="575738" y="576071"/>
                  </a:lnTo>
                  <a:lnTo>
                    <a:pt x="575738" y="0"/>
                  </a:lnTo>
                  <a:close/>
                </a:path>
              </a:pathLst>
            </a:custGeom>
            <a:solidFill>
              <a:srgbClr val="DC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7756143" y="2090166"/>
            <a:ext cx="2794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25" dirty="0">
                <a:latin typeface="Arial MT"/>
                <a:cs typeface="Arial MT"/>
              </a:rPr>
              <a:t>62%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060183" y="1774888"/>
            <a:ext cx="278765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25" dirty="0">
                <a:latin typeface="Arial MT"/>
                <a:cs typeface="Arial MT"/>
              </a:rPr>
              <a:t>38%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7229475" y="2809875"/>
            <a:ext cx="428625" cy="66675"/>
            <a:chOff x="7229475" y="2809875"/>
            <a:chExt cx="428625" cy="66675"/>
          </a:xfrm>
        </p:grpSpPr>
        <p:sp>
          <p:nvSpPr>
            <p:cNvPr id="44" name="object 44"/>
            <p:cNvSpPr/>
            <p:nvPr/>
          </p:nvSpPr>
          <p:spPr>
            <a:xfrm>
              <a:off x="7229475" y="2809875"/>
              <a:ext cx="66675" cy="66675"/>
            </a:xfrm>
            <a:custGeom>
              <a:avLst/>
              <a:gdLst/>
              <a:ahLst/>
              <a:cxnLst/>
              <a:rect l="l" t="t" r="r" b="b"/>
              <a:pathLst>
                <a:path w="66675" h="66675">
                  <a:moveTo>
                    <a:pt x="66675" y="0"/>
                  </a:moveTo>
                  <a:lnTo>
                    <a:pt x="0" y="0"/>
                  </a:lnTo>
                  <a:lnTo>
                    <a:pt x="0" y="66675"/>
                  </a:lnTo>
                  <a:lnTo>
                    <a:pt x="66675" y="66675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16A2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591425" y="2809875"/>
              <a:ext cx="66675" cy="66675"/>
            </a:xfrm>
            <a:custGeom>
              <a:avLst/>
              <a:gdLst/>
              <a:ahLst/>
              <a:cxnLst/>
              <a:rect l="l" t="t" r="r" b="b"/>
              <a:pathLst>
                <a:path w="66675" h="66675">
                  <a:moveTo>
                    <a:pt x="66675" y="0"/>
                  </a:moveTo>
                  <a:lnTo>
                    <a:pt x="0" y="0"/>
                  </a:lnTo>
                  <a:lnTo>
                    <a:pt x="0" y="66675"/>
                  </a:lnTo>
                  <a:lnTo>
                    <a:pt x="66675" y="66675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DC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7323201" y="2752979"/>
            <a:ext cx="60769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77190" algn="l"/>
              </a:tabLst>
            </a:pPr>
            <a:r>
              <a:rPr sz="950" spc="-25" dirty="0">
                <a:latin typeface="Calibri"/>
                <a:cs typeface="Calibri"/>
              </a:rPr>
              <a:t>Oui</a:t>
            </a:r>
            <a:r>
              <a:rPr sz="950" dirty="0">
                <a:latin typeface="Calibri"/>
                <a:cs typeface="Calibri"/>
              </a:rPr>
              <a:t>	</a:t>
            </a:r>
            <a:r>
              <a:rPr sz="950" spc="-25" dirty="0">
                <a:latin typeface="Calibri"/>
                <a:cs typeface="Calibri"/>
              </a:rPr>
              <a:t>Non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61937" y="3193097"/>
            <a:ext cx="295783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0E172A"/>
                </a:solidFill>
                <a:latin typeface="Calibri"/>
                <a:cs typeface="Calibri"/>
              </a:rPr>
              <a:t>Distribution</a:t>
            </a:r>
            <a:r>
              <a:rPr sz="1200" b="1" spc="-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E172A"/>
                </a:solidFill>
                <a:latin typeface="Calibri"/>
                <a:cs typeface="Calibri"/>
              </a:rPr>
              <a:t>de</a:t>
            </a:r>
            <a:r>
              <a:rPr sz="1200" b="1" spc="4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E172A"/>
                </a:solidFill>
                <a:latin typeface="Calibri"/>
                <a:cs typeface="Calibri"/>
              </a:rPr>
              <a:t>la</a:t>
            </a:r>
            <a:r>
              <a:rPr sz="1200" b="1" spc="-3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E172A"/>
                </a:solidFill>
                <a:latin typeface="Calibri"/>
                <a:cs typeface="Calibri"/>
              </a:rPr>
              <a:t>Variable</a:t>
            </a:r>
            <a:r>
              <a:rPr sz="1200" b="1" spc="-4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E172A"/>
                </a:solidFill>
                <a:latin typeface="Calibri"/>
                <a:cs typeface="Calibri"/>
              </a:rPr>
              <a:t>Cible</a:t>
            </a:r>
            <a:r>
              <a:rPr sz="1200" b="1" spc="3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E172A"/>
                </a:solidFill>
                <a:latin typeface="Calibri"/>
                <a:cs typeface="Calibri"/>
              </a:rPr>
              <a:t>—</a:t>
            </a:r>
            <a:r>
              <a:rPr sz="1200" b="1" spc="2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E172A"/>
                </a:solidFill>
                <a:latin typeface="Calibri"/>
                <a:cs typeface="Calibri"/>
              </a:rPr>
              <a:t>final_grade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276225" y="3476625"/>
            <a:ext cx="8591550" cy="1371600"/>
            <a:chOff x="276225" y="3476625"/>
            <a:chExt cx="8591550" cy="1371600"/>
          </a:xfrm>
        </p:grpSpPr>
        <p:sp>
          <p:nvSpPr>
            <p:cNvPr id="49" name="object 49"/>
            <p:cNvSpPr/>
            <p:nvPr/>
          </p:nvSpPr>
          <p:spPr>
            <a:xfrm>
              <a:off x="276225" y="3476625"/>
              <a:ext cx="8591550" cy="1371600"/>
            </a:xfrm>
            <a:custGeom>
              <a:avLst/>
              <a:gdLst/>
              <a:ahLst/>
              <a:cxnLst/>
              <a:rect l="l" t="t" r="r" b="b"/>
              <a:pathLst>
                <a:path w="8591550" h="1371600">
                  <a:moveTo>
                    <a:pt x="8464550" y="0"/>
                  </a:moveTo>
                  <a:lnTo>
                    <a:pt x="127000" y="0"/>
                  </a:lnTo>
                  <a:lnTo>
                    <a:pt x="77565" y="9985"/>
                  </a:lnTo>
                  <a:lnTo>
                    <a:pt x="37196" y="37211"/>
                  </a:lnTo>
                  <a:lnTo>
                    <a:pt x="9980" y="77581"/>
                  </a:lnTo>
                  <a:lnTo>
                    <a:pt x="0" y="127000"/>
                  </a:lnTo>
                  <a:lnTo>
                    <a:pt x="0" y="1244600"/>
                  </a:lnTo>
                  <a:lnTo>
                    <a:pt x="9980" y="1294034"/>
                  </a:lnTo>
                  <a:lnTo>
                    <a:pt x="37196" y="1334403"/>
                  </a:lnTo>
                  <a:lnTo>
                    <a:pt x="77565" y="1361619"/>
                  </a:lnTo>
                  <a:lnTo>
                    <a:pt x="127000" y="1371600"/>
                  </a:lnTo>
                  <a:lnTo>
                    <a:pt x="8464550" y="1371600"/>
                  </a:lnTo>
                  <a:lnTo>
                    <a:pt x="8513968" y="1361619"/>
                  </a:lnTo>
                  <a:lnTo>
                    <a:pt x="8554339" y="1334403"/>
                  </a:lnTo>
                  <a:lnTo>
                    <a:pt x="8581564" y="1294034"/>
                  </a:lnTo>
                  <a:lnTo>
                    <a:pt x="8591550" y="1244600"/>
                  </a:lnTo>
                  <a:lnTo>
                    <a:pt x="8591550" y="127000"/>
                  </a:lnTo>
                  <a:lnTo>
                    <a:pt x="8581564" y="77581"/>
                  </a:lnTo>
                  <a:lnTo>
                    <a:pt x="8554339" y="37211"/>
                  </a:lnTo>
                  <a:lnTo>
                    <a:pt x="8513968" y="9985"/>
                  </a:lnTo>
                  <a:lnTo>
                    <a:pt x="8464550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61987" y="3624326"/>
              <a:ext cx="8068309" cy="581025"/>
            </a:xfrm>
            <a:custGeom>
              <a:avLst/>
              <a:gdLst/>
              <a:ahLst/>
              <a:cxnLst/>
              <a:rect l="l" t="t" r="r" b="b"/>
              <a:pathLst>
                <a:path w="8068309" h="581025">
                  <a:moveTo>
                    <a:pt x="0" y="580961"/>
                  </a:moveTo>
                  <a:lnTo>
                    <a:pt x="1747837" y="580961"/>
                  </a:lnTo>
                </a:path>
                <a:path w="8068309" h="581025">
                  <a:moveTo>
                    <a:pt x="2281237" y="580961"/>
                  </a:moveTo>
                  <a:lnTo>
                    <a:pt x="3090862" y="580961"/>
                  </a:lnTo>
                </a:path>
                <a:path w="8068309" h="581025">
                  <a:moveTo>
                    <a:pt x="3624262" y="580961"/>
                  </a:moveTo>
                  <a:lnTo>
                    <a:pt x="4433887" y="580961"/>
                  </a:lnTo>
                </a:path>
                <a:path w="8068309" h="581025">
                  <a:moveTo>
                    <a:pt x="4976812" y="580961"/>
                  </a:moveTo>
                  <a:lnTo>
                    <a:pt x="5776912" y="580961"/>
                  </a:lnTo>
                </a:path>
                <a:path w="8068309" h="581025">
                  <a:moveTo>
                    <a:pt x="6319837" y="580961"/>
                  </a:moveTo>
                  <a:lnTo>
                    <a:pt x="7129462" y="580961"/>
                  </a:lnTo>
                </a:path>
                <a:path w="8068309" h="581025">
                  <a:moveTo>
                    <a:pt x="7662862" y="580961"/>
                  </a:moveTo>
                  <a:lnTo>
                    <a:pt x="8067738" y="580961"/>
                  </a:lnTo>
                </a:path>
                <a:path w="8068309" h="581025">
                  <a:moveTo>
                    <a:pt x="0" y="295211"/>
                  </a:moveTo>
                  <a:lnTo>
                    <a:pt x="3090862" y="295211"/>
                  </a:lnTo>
                </a:path>
                <a:path w="8068309" h="581025">
                  <a:moveTo>
                    <a:pt x="3624262" y="295211"/>
                  </a:moveTo>
                  <a:lnTo>
                    <a:pt x="4433887" y="295211"/>
                  </a:lnTo>
                </a:path>
                <a:path w="8068309" h="581025">
                  <a:moveTo>
                    <a:pt x="4976812" y="295211"/>
                  </a:moveTo>
                  <a:lnTo>
                    <a:pt x="5776912" y="295211"/>
                  </a:lnTo>
                </a:path>
                <a:path w="8068309" h="581025">
                  <a:moveTo>
                    <a:pt x="6319837" y="295211"/>
                  </a:moveTo>
                  <a:lnTo>
                    <a:pt x="8067738" y="295211"/>
                  </a:lnTo>
                </a:path>
                <a:path w="8068309" h="581025">
                  <a:moveTo>
                    <a:pt x="0" y="0"/>
                  </a:moveTo>
                  <a:lnTo>
                    <a:pt x="8067738" y="0"/>
                  </a:lnTo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057275" y="4362450"/>
              <a:ext cx="542925" cy="142875"/>
            </a:xfrm>
            <a:custGeom>
              <a:avLst/>
              <a:gdLst/>
              <a:ahLst/>
              <a:cxnLst/>
              <a:rect l="l" t="t" r="r" b="b"/>
              <a:pathLst>
                <a:path w="542925" h="142875">
                  <a:moveTo>
                    <a:pt x="542925" y="0"/>
                  </a:moveTo>
                  <a:lnTo>
                    <a:pt x="0" y="0"/>
                  </a:lnTo>
                  <a:lnTo>
                    <a:pt x="0" y="142875"/>
                  </a:lnTo>
                  <a:lnTo>
                    <a:pt x="542925" y="142875"/>
                  </a:lnTo>
                  <a:lnTo>
                    <a:pt x="542925" y="0"/>
                  </a:lnTo>
                  <a:close/>
                </a:path>
              </a:pathLst>
            </a:custGeom>
            <a:solidFill>
              <a:srgbClr val="16A2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409825" y="4181475"/>
              <a:ext cx="533400" cy="323850"/>
            </a:xfrm>
            <a:custGeom>
              <a:avLst/>
              <a:gdLst/>
              <a:ahLst/>
              <a:cxnLst/>
              <a:rect l="l" t="t" r="r" b="b"/>
              <a:pathLst>
                <a:path w="533400" h="323850">
                  <a:moveTo>
                    <a:pt x="533400" y="0"/>
                  </a:moveTo>
                  <a:lnTo>
                    <a:pt x="0" y="0"/>
                  </a:lnTo>
                  <a:lnTo>
                    <a:pt x="0" y="323850"/>
                  </a:lnTo>
                  <a:lnTo>
                    <a:pt x="533400" y="323850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64A2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752850" y="3781425"/>
              <a:ext cx="533400" cy="723900"/>
            </a:xfrm>
            <a:custGeom>
              <a:avLst/>
              <a:gdLst/>
              <a:ahLst/>
              <a:cxnLst/>
              <a:rect l="l" t="t" r="r" b="b"/>
              <a:pathLst>
                <a:path w="533400" h="723900">
                  <a:moveTo>
                    <a:pt x="5334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533400" y="723900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D9770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5095875" y="3762375"/>
              <a:ext cx="542925" cy="742950"/>
            </a:xfrm>
            <a:custGeom>
              <a:avLst/>
              <a:gdLst/>
              <a:ahLst/>
              <a:cxnLst/>
              <a:rect l="l" t="t" r="r" b="b"/>
              <a:pathLst>
                <a:path w="542925" h="742950">
                  <a:moveTo>
                    <a:pt x="542925" y="0"/>
                  </a:moveTo>
                  <a:lnTo>
                    <a:pt x="0" y="0"/>
                  </a:lnTo>
                  <a:lnTo>
                    <a:pt x="0" y="742950"/>
                  </a:lnTo>
                  <a:lnTo>
                    <a:pt x="542925" y="742950"/>
                  </a:lnTo>
                  <a:lnTo>
                    <a:pt x="542925" y="0"/>
                  </a:lnTo>
                  <a:close/>
                </a:path>
              </a:pathLst>
            </a:custGeom>
            <a:solidFill>
              <a:srgbClr val="EA57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438900" y="3838575"/>
              <a:ext cx="542925" cy="666750"/>
            </a:xfrm>
            <a:custGeom>
              <a:avLst/>
              <a:gdLst/>
              <a:ahLst/>
              <a:cxnLst/>
              <a:rect l="l" t="t" r="r" b="b"/>
              <a:pathLst>
                <a:path w="542925" h="666750">
                  <a:moveTo>
                    <a:pt x="542925" y="0"/>
                  </a:moveTo>
                  <a:lnTo>
                    <a:pt x="0" y="0"/>
                  </a:lnTo>
                  <a:lnTo>
                    <a:pt x="0" y="666750"/>
                  </a:lnTo>
                  <a:lnTo>
                    <a:pt x="542925" y="666750"/>
                  </a:lnTo>
                  <a:lnTo>
                    <a:pt x="542925" y="0"/>
                  </a:lnTo>
                  <a:close/>
                </a:path>
              </a:pathLst>
            </a:custGeom>
            <a:solidFill>
              <a:srgbClr val="DC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7791450" y="4152900"/>
              <a:ext cx="533400" cy="352425"/>
            </a:xfrm>
            <a:custGeom>
              <a:avLst/>
              <a:gdLst/>
              <a:ahLst/>
              <a:cxnLst/>
              <a:rect l="l" t="t" r="r" b="b"/>
              <a:pathLst>
                <a:path w="533400" h="352425">
                  <a:moveTo>
                    <a:pt x="533400" y="0"/>
                  </a:moveTo>
                  <a:lnTo>
                    <a:pt x="0" y="0"/>
                  </a:lnTo>
                  <a:lnTo>
                    <a:pt x="0" y="352425"/>
                  </a:lnTo>
                  <a:lnTo>
                    <a:pt x="533400" y="352425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14362" y="3624326"/>
              <a:ext cx="8115934" cy="923925"/>
            </a:xfrm>
            <a:custGeom>
              <a:avLst/>
              <a:gdLst/>
              <a:ahLst/>
              <a:cxnLst/>
              <a:rect l="l" t="t" r="r" b="b"/>
              <a:pathLst>
                <a:path w="8115934" h="923925">
                  <a:moveTo>
                    <a:pt x="47625" y="876236"/>
                  </a:moveTo>
                  <a:lnTo>
                    <a:pt x="47625" y="0"/>
                  </a:lnTo>
                </a:path>
                <a:path w="8115934" h="923925">
                  <a:moveTo>
                    <a:pt x="0" y="876236"/>
                  </a:moveTo>
                  <a:lnTo>
                    <a:pt x="47625" y="876236"/>
                  </a:lnTo>
                </a:path>
                <a:path w="8115934" h="923925">
                  <a:moveTo>
                    <a:pt x="0" y="580961"/>
                  </a:moveTo>
                  <a:lnTo>
                    <a:pt x="47625" y="580961"/>
                  </a:lnTo>
                </a:path>
                <a:path w="8115934" h="923925">
                  <a:moveTo>
                    <a:pt x="0" y="295211"/>
                  </a:moveTo>
                  <a:lnTo>
                    <a:pt x="47625" y="295211"/>
                  </a:lnTo>
                </a:path>
                <a:path w="8115934" h="923925">
                  <a:moveTo>
                    <a:pt x="0" y="0"/>
                  </a:moveTo>
                  <a:lnTo>
                    <a:pt x="47625" y="0"/>
                  </a:lnTo>
                </a:path>
                <a:path w="8115934" h="923925">
                  <a:moveTo>
                    <a:pt x="47625" y="876236"/>
                  </a:moveTo>
                  <a:lnTo>
                    <a:pt x="8115363" y="876236"/>
                  </a:lnTo>
                </a:path>
                <a:path w="8115934" h="923925">
                  <a:moveTo>
                    <a:pt x="47625" y="876236"/>
                  </a:moveTo>
                  <a:lnTo>
                    <a:pt x="47625" y="923861"/>
                  </a:lnTo>
                </a:path>
                <a:path w="8115934" h="923925">
                  <a:moveTo>
                    <a:pt x="1390713" y="876236"/>
                  </a:moveTo>
                  <a:lnTo>
                    <a:pt x="1390713" y="923861"/>
                  </a:lnTo>
                </a:path>
                <a:path w="8115934" h="923925">
                  <a:moveTo>
                    <a:pt x="2733738" y="876236"/>
                  </a:moveTo>
                  <a:lnTo>
                    <a:pt x="2733738" y="923861"/>
                  </a:lnTo>
                </a:path>
                <a:path w="8115934" h="923925">
                  <a:moveTo>
                    <a:pt x="4076763" y="876236"/>
                  </a:moveTo>
                  <a:lnTo>
                    <a:pt x="4076763" y="923861"/>
                  </a:lnTo>
                </a:path>
                <a:path w="8115934" h="923925">
                  <a:moveTo>
                    <a:pt x="5429313" y="876236"/>
                  </a:moveTo>
                  <a:lnTo>
                    <a:pt x="5429313" y="923861"/>
                  </a:lnTo>
                </a:path>
                <a:path w="8115934" h="923925">
                  <a:moveTo>
                    <a:pt x="6772338" y="876236"/>
                  </a:moveTo>
                  <a:lnTo>
                    <a:pt x="6772338" y="923861"/>
                  </a:lnTo>
                </a:path>
                <a:path w="8115934" h="923925">
                  <a:moveTo>
                    <a:pt x="8115363" y="876236"/>
                  </a:moveTo>
                  <a:lnTo>
                    <a:pt x="8115363" y="923861"/>
                  </a:lnTo>
                </a:path>
              </a:pathLst>
            </a:custGeom>
            <a:ln w="12700">
              <a:solidFill>
                <a:srgbClr val="8787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1287144" y="4158297"/>
            <a:ext cx="89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latin typeface="Arial MT"/>
                <a:cs typeface="Arial MT"/>
              </a:rPr>
              <a:t>5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2602229" y="3978909"/>
            <a:ext cx="15875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 MT"/>
                <a:cs typeface="Arial MT"/>
              </a:rPr>
              <a:t>11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3949065" y="3577272"/>
            <a:ext cx="15875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 MT"/>
                <a:cs typeface="Arial MT"/>
              </a:rPr>
              <a:t>25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5295519" y="3562984"/>
            <a:ext cx="1593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 MT"/>
                <a:cs typeface="Arial MT"/>
              </a:rPr>
              <a:t>25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642354" y="3638867"/>
            <a:ext cx="15875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 MT"/>
                <a:cs typeface="Arial MT"/>
              </a:rPr>
              <a:t>23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7989189" y="3947159"/>
            <a:ext cx="1587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 MT"/>
                <a:cs typeface="Arial MT"/>
              </a:rPr>
              <a:t>12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344487" y="3508311"/>
            <a:ext cx="196850" cy="1089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465469"/>
                </a:solidFill>
                <a:latin typeface="Arial MT"/>
                <a:cs typeface="Arial MT"/>
              </a:rPr>
              <a:t>30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sz="1200" spc="-25" dirty="0">
                <a:solidFill>
                  <a:srgbClr val="465469"/>
                </a:solidFill>
                <a:latin typeface="Arial MT"/>
                <a:cs typeface="Arial MT"/>
              </a:rPr>
              <a:t>20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sz="1200" spc="-25" dirty="0">
                <a:solidFill>
                  <a:srgbClr val="465469"/>
                </a:solidFill>
                <a:latin typeface="Arial MT"/>
                <a:cs typeface="Arial MT"/>
              </a:rPr>
              <a:t>10</a:t>
            </a:r>
            <a:endParaRPr sz="1200">
              <a:latin typeface="Arial MT"/>
              <a:cs typeface="Arial MT"/>
            </a:endParaRPr>
          </a:p>
          <a:p>
            <a:pPr marL="97155">
              <a:lnSpc>
                <a:spcPct val="100000"/>
              </a:lnSpc>
              <a:spcBef>
                <a:spcPts val="869"/>
              </a:spcBef>
            </a:pPr>
            <a:r>
              <a:rPr sz="1200" spc="-50" dirty="0">
                <a:solidFill>
                  <a:srgbClr val="465469"/>
                </a:solidFill>
                <a:latin typeface="Arial MT"/>
                <a:cs typeface="Arial MT"/>
              </a:rPr>
              <a:t>0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268094" y="4570095"/>
            <a:ext cx="12763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465469"/>
                </a:solidFill>
                <a:latin typeface="Arial MT"/>
                <a:cs typeface="Arial MT"/>
              </a:rPr>
              <a:t>A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2614929" y="4570095"/>
            <a:ext cx="12763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465469"/>
                </a:solidFill>
                <a:latin typeface="Arial MT"/>
                <a:cs typeface="Arial MT"/>
              </a:rPr>
              <a:t>B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3957320" y="4570095"/>
            <a:ext cx="13589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465469"/>
                </a:solidFill>
                <a:latin typeface="Arial MT"/>
                <a:cs typeface="Arial MT"/>
              </a:rPr>
              <a:t>C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5304154" y="4570095"/>
            <a:ext cx="13589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465469"/>
                </a:solidFill>
                <a:latin typeface="Arial MT"/>
                <a:cs typeface="Arial MT"/>
              </a:rPr>
              <a:t>D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6655181" y="4570095"/>
            <a:ext cx="12763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465469"/>
                </a:solidFill>
                <a:latin typeface="Arial MT"/>
                <a:cs typeface="Arial MT"/>
              </a:rPr>
              <a:t>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8006333" y="4570095"/>
            <a:ext cx="11874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465469"/>
                </a:solidFill>
                <a:latin typeface="Arial MT"/>
                <a:cs typeface="Arial MT"/>
              </a:rPr>
              <a:t>F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7409815" y="4936807"/>
            <a:ext cx="1480820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i="1" dirty="0">
                <a:solidFill>
                  <a:srgbClr val="93A2B8"/>
                </a:solidFill>
                <a:latin typeface="Calibri"/>
                <a:cs typeface="Calibri"/>
              </a:rPr>
              <a:t>Section</a:t>
            </a:r>
            <a:r>
              <a:rPr sz="800" i="1" spc="-20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93A2B8"/>
                </a:solidFill>
                <a:latin typeface="Calibri"/>
                <a:cs typeface="Calibri"/>
              </a:rPr>
              <a:t>1</a:t>
            </a:r>
            <a:r>
              <a:rPr sz="800" i="1" spc="-40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93A2B8"/>
                </a:solidFill>
                <a:latin typeface="Calibri"/>
                <a:cs typeface="Calibri"/>
              </a:rPr>
              <a:t>—</a:t>
            </a:r>
            <a:r>
              <a:rPr sz="800" i="1" spc="-40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93A2B8"/>
                </a:solidFill>
                <a:latin typeface="Calibri"/>
                <a:cs typeface="Calibri"/>
              </a:rPr>
              <a:t>Variables</a:t>
            </a:r>
            <a:r>
              <a:rPr sz="800" i="1" spc="15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800" i="1" spc="-10" dirty="0">
                <a:solidFill>
                  <a:srgbClr val="93A2B8"/>
                </a:solidFill>
                <a:latin typeface="Calibri"/>
                <a:cs typeface="Calibri"/>
              </a:rPr>
              <a:t>Catégorielles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3377" y="128269"/>
            <a:ext cx="4623435" cy="6699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b="1" dirty="0">
                <a:solidFill>
                  <a:srgbClr val="FFFFFF"/>
                </a:solidFill>
                <a:latin typeface="Calibri"/>
                <a:cs typeface="Calibri"/>
              </a:rPr>
              <a:t>Analyse</a:t>
            </a:r>
            <a:r>
              <a:rPr sz="21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b="1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21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b="1" dirty="0">
                <a:solidFill>
                  <a:srgbClr val="FFFFFF"/>
                </a:solidFill>
                <a:latin typeface="Calibri"/>
                <a:cs typeface="Calibri"/>
              </a:rPr>
              <a:t>Fiabilité</a:t>
            </a:r>
            <a:r>
              <a:rPr sz="21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b="1" dirty="0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sz="21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b="1" dirty="0">
                <a:solidFill>
                  <a:srgbClr val="FFFFFF"/>
                </a:solidFill>
                <a:latin typeface="Calibri"/>
                <a:cs typeface="Calibri"/>
              </a:rPr>
              <a:t>Alpha</a:t>
            </a:r>
            <a:r>
              <a:rPr sz="21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b="1" dirty="0">
                <a:solidFill>
                  <a:srgbClr val="FFFFFF"/>
                </a:solidFill>
                <a:latin typeface="Calibri"/>
                <a:cs typeface="Calibri"/>
              </a:rPr>
              <a:t>de </a:t>
            </a:r>
            <a:r>
              <a:rPr sz="2100" b="1" spc="-10" dirty="0">
                <a:solidFill>
                  <a:srgbClr val="FFFFFF"/>
                </a:solidFill>
                <a:latin typeface="Calibri"/>
                <a:cs typeface="Calibri"/>
              </a:rPr>
              <a:t>Cronbach</a:t>
            </a:r>
            <a:endParaRPr sz="2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85"/>
              </a:spcBef>
            </a:pPr>
            <a:r>
              <a:rPr sz="1050" i="1" dirty="0">
                <a:solidFill>
                  <a:srgbClr val="FFFFFF"/>
                </a:solidFill>
                <a:latin typeface="Calibri"/>
                <a:cs typeface="Calibri"/>
              </a:rPr>
              <a:t>Les</a:t>
            </a:r>
            <a:r>
              <a:rPr sz="1050" i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r>
              <a:rPr sz="1050" i="1" spc="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i="1" spc="-10" dirty="0">
                <a:solidFill>
                  <a:srgbClr val="FFFFFF"/>
                </a:solidFill>
                <a:latin typeface="Calibri"/>
                <a:cs typeface="Calibri"/>
              </a:rPr>
              <a:t>matières</a:t>
            </a:r>
            <a:r>
              <a:rPr sz="1050" i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i="1" spc="-10" dirty="0">
                <a:solidFill>
                  <a:srgbClr val="FFFFFF"/>
                </a:solidFill>
                <a:latin typeface="Calibri"/>
                <a:cs typeface="Calibri"/>
              </a:rPr>
              <a:t>mesurent-</a:t>
            </a:r>
            <a:r>
              <a:rPr sz="1050" i="1" dirty="0">
                <a:solidFill>
                  <a:srgbClr val="FFFFFF"/>
                </a:solidFill>
                <a:latin typeface="Calibri"/>
                <a:cs typeface="Calibri"/>
              </a:rPr>
              <a:t>elles</a:t>
            </a:r>
            <a:r>
              <a:rPr sz="1050" i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FFFFFF"/>
                </a:solidFill>
                <a:latin typeface="Calibri"/>
                <a:cs typeface="Calibri"/>
              </a:rPr>
              <a:t>un</a:t>
            </a:r>
            <a:r>
              <a:rPr sz="1050" i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FFFFFF"/>
                </a:solidFill>
                <a:latin typeface="Calibri"/>
                <a:cs typeface="Calibri"/>
              </a:rPr>
              <a:t>concept</a:t>
            </a:r>
            <a:r>
              <a:rPr sz="1050" i="1" spc="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i="1" spc="-10" dirty="0">
                <a:solidFill>
                  <a:srgbClr val="FFFFFF"/>
                </a:solidFill>
                <a:latin typeface="Calibri"/>
                <a:cs typeface="Calibri"/>
              </a:rPr>
              <a:t>commun </a:t>
            </a:r>
            <a:r>
              <a:rPr sz="1050" i="1" spc="-50" dirty="0">
                <a:solidFill>
                  <a:srgbClr val="FFFFFF"/>
                </a:solidFill>
                <a:latin typeface="Calibri"/>
                <a:cs typeface="Calibri"/>
              </a:rPr>
              <a:t>?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428101" y="93726"/>
            <a:ext cx="612775" cy="603250"/>
            <a:chOff x="8428101" y="93726"/>
            <a:chExt cx="612775" cy="603250"/>
          </a:xfrm>
        </p:grpSpPr>
        <p:sp>
          <p:nvSpPr>
            <p:cNvPr id="4" name="object 4"/>
            <p:cNvSpPr/>
            <p:nvPr/>
          </p:nvSpPr>
          <p:spPr>
            <a:xfrm>
              <a:off x="8434451" y="100076"/>
              <a:ext cx="600075" cy="590550"/>
            </a:xfrm>
            <a:custGeom>
              <a:avLst/>
              <a:gdLst/>
              <a:ahLst/>
              <a:cxnLst/>
              <a:rect l="l" t="t" r="r" b="b"/>
              <a:pathLst>
                <a:path w="600075" h="590550">
                  <a:moveTo>
                    <a:pt x="299974" y="0"/>
                  </a:moveTo>
                  <a:lnTo>
                    <a:pt x="251301" y="3861"/>
                  </a:lnTo>
                  <a:lnTo>
                    <a:pt x="205134" y="15041"/>
                  </a:lnTo>
                  <a:lnTo>
                    <a:pt x="162090" y="32935"/>
                  </a:lnTo>
                  <a:lnTo>
                    <a:pt x="122785" y="56936"/>
                  </a:lnTo>
                  <a:lnTo>
                    <a:pt x="87836" y="86439"/>
                  </a:lnTo>
                  <a:lnTo>
                    <a:pt x="57859" y="120837"/>
                  </a:lnTo>
                  <a:lnTo>
                    <a:pt x="33470" y="159526"/>
                  </a:lnTo>
                  <a:lnTo>
                    <a:pt x="15286" y="201899"/>
                  </a:lnTo>
                  <a:lnTo>
                    <a:pt x="3924" y="247350"/>
                  </a:lnTo>
                  <a:lnTo>
                    <a:pt x="0" y="295275"/>
                  </a:lnTo>
                  <a:lnTo>
                    <a:pt x="3924" y="343168"/>
                  </a:lnTo>
                  <a:lnTo>
                    <a:pt x="15286" y="388601"/>
                  </a:lnTo>
                  <a:lnTo>
                    <a:pt x="33470" y="430967"/>
                  </a:lnTo>
                  <a:lnTo>
                    <a:pt x="57859" y="469657"/>
                  </a:lnTo>
                  <a:lnTo>
                    <a:pt x="87836" y="504063"/>
                  </a:lnTo>
                  <a:lnTo>
                    <a:pt x="122785" y="533576"/>
                  </a:lnTo>
                  <a:lnTo>
                    <a:pt x="162090" y="557590"/>
                  </a:lnTo>
                  <a:lnTo>
                    <a:pt x="205134" y="575495"/>
                  </a:lnTo>
                  <a:lnTo>
                    <a:pt x="251301" y="586685"/>
                  </a:lnTo>
                  <a:lnTo>
                    <a:pt x="299974" y="590550"/>
                  </a:lnTo>
                  <a:lnTo>
                    <a:pt x="348650" y="586685"/>
                  </a:lnTo>
                  <a:lnTo>
                    <a:pt x="394826" y="575495"/>
                  </a:lnTo>
                  <a:lnTo>
                    <a:pt x="437884" y="557590"/>
                  </a:lnTo>
                  <a:lnTo>
                    <a:pt x="477207" y="533576"/>
                  </a:lnTo>
                  <a:lnTo>
                    <a:pt x="512175" y="504063"/>
                  </a:lnTo>
                  <a:lnTo>
                    <a:pt x="542171" y="469657"/>
                  </a:lnTo>
                  <a:lnTo>
                    <a:pt x="566577" y="430967"/>
                  </a:lnTo>
                  <a:lnTo>
                    <a:pt x="584775" y="388601"/>
                  </a:lnTo>
                  <a:lnTo>
                    <a:pt x="596147" y="343168"/>
                  </a:lnTo>
                  <a:lnTo>
                    <a:pt x="600075" y="295275"/>
                  </a:lnTo>
                  <a:lnTo>
                    <a:pt x="596147" y="247350"/>
                  </a:lnTo>
                  <a:lnTo>
                    <a:pt x="584775" y="201899"/>
                  </a:lnTo>
                  <a:lnTo>
                    <a:pt x="566577" y="159526"/>
                  </a:lnTo>
                  <a:lnTo>
                    <a:pt x="542171" y="120837"/>
                  </a:lnTo>
                  <a:lnTo>
                    <a:pt x="512175" y="86439"/>
                  </a:lnTo>
                  <a:lnTo>
                    <a:pt x="477207" y="56936"/>
                  </a:lnTo>
                  <a:lnTo>
                    <a:pt x="437884" y="32935"/>
                  </a:lnTo>
                  <a:lnTo>
                    <a:pt x="394826" y="15041"/>
                  </a:lnTo>
                  <a:lnTo>
                    <a:pt x="348650" y="3861"/>
                  </a:lnTo>
                  <a:lnTo>
                    <a:pt x="2999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434451" y="100076"/>
              <a:ext cx="600075" cy="590550"/>
            </a:xfrm>
            <a:custGeom>
              <a:avLst/>
              <a:gdLst/>
              <a:ahLst/>
              <a:cxnLst/>
              <a:rect l="l" t="t" r="r" b="b"/>
              <a:pathLst>
                <a:path w="600075" h="590550">
                  <a:moveTo>
                    <a:pt x="0" y="295275"/>
                  </a:moveTo>
                  <a:lnTo>
                    <a:pt x="3924" y="247350"/>
                  </a:lnTo>
                  <a:lnTo>
                    <a:pt x="15286" y="201899"/>
                  </a:lnTo>
                  <a:lnTo>
                    <a:pt x="33470" y="159526"/>
                  </a:lnTo>
                  <a:lnTo>
                    <a:pt x="57859" y="120837"/>
                  </a:lnTo>
                  <a:lnTo>
                    <a:pt x="87836" y="86439"/>
                  </a:lnTo>
                  <a:lnTo>
                    <a:pt x="122785" y="56936"/>
                  </a:lnTo>
                  <a:lnTo>
                    <a:pt x="162090" y="32935"/>
                  </a:lnTo>
                  <a:lnTo>
                    <a:pt x="205134" y="15041"/>
                  </a:lnTo>
                  <a:lnTo>
                    <a:pt x="251301" y="3861"/>
                  </a:lnTo>
                  <a:lnTo>
                    <a:pt x="299974" y="0"/>
                  </a:lnTo>
                  <a:lnTo>
                    <a:pt x="348650" y="3861"/>
                  </a:lnTo>
                  <a:lnTo>
                    <a:pt x="394826" y="15041"/>
                  </a:lnTo>
                  <a:lnTo>
                    <a:pt x="437884" y="32935"/>
                  </a:lnTo>
                  <a:lnTo>
                    <a:pt x="477207" y="56936"/>
                  </a:lnTo>
                  <a:lnTo>
                    <a:pt x="512175" y="86439"/>
                  </a:lnTo>
                  <a:lnTo>
                    <a:pt x="542171" y="120837"/>
                  </a:lnTo>
                  <a:lnTo>
                    <a:pt x="566577" y="159526"/>
                  </a:lnTo>
                  <a:lnTo>
                    <a:pt x="584775" y="201899"/>
                  </a:lnTo>
                  <a:lnTo>
                    <a:pt x="596147" y="247350"/>
                  </a:lnTo>
                  <a:lnTo>
                    <a:pt x="600075" y="295275"/>
                  </a:lnTo>
                  <a:lnTo>
                    <a:pt x="596147" y="343168"/>
                  </a:lnTo>
                  <a:lnTo>
                    <a:pt x="584775" y="388601"/>
                  </a:lnTo>
                  <a:lnTo>
                    <a:pt x="566577" y="430967"/>
                  </a:lnTo>
                  <a:lnTo>
                    <a:pt x="542171" y="469657"/>
                  </a:lnTo>
                  <a:lnTo>
                    <a:pt x="512175" y="504063"/>
                  </a:lnTo>
                  <a:lnTo>
                    <a:pt x="477207" y="533576"/>
                  </a:lnTo>
                  <a:lnTo>
                    <a:pt x="437884" y="557590"/>
                  </a:lnTo>
                  <a:lnTo>
                    <a:pt x="394826" y="575495"/>
                  </a:lnTo>
                  <a:lnTo>
                    <a:pt x="348650" y="586685"/>
                  </a:lnTo>
                  <a:lnTo>
                    <a:pt x="299974" y="590550"/>
                  </a:lnTo>
                  <a:lnTo>
                    <a:pt x="251301" y="586685"/>
                  </a:lnTo>
                  <a:lnTo>
                    <a:pt x="205134" y="575495"/>
                  </a:lnTo>
                  <a:lnTo>
                    <a:pt x="162090" y="557590"/>
                  </a:lnTo>
                  <a:lnTo>
                    <a:pt x="122785" y="533576"/>
                  </a:lnTo>
                  <a:lnTo>
                    <a:pt x="87836" y="504063"/>
                  </a:lnTo>
                  <a:lnTo>
                    <a:pt x="57859" y="469657"/>
                  </a:lnTo>
                  <a:lnTo>
                    <a:pt x="33470" y="430967"/>
                  </a:lnTo>
                  <a:lnTo>
                    <a:pt x="15286" y="388601"/>
                  </a:lnTo>
                  <a:lnTo>
                    <a:pt x="3924" y="343168"/>
                  </a:lnTo>
                  <a:lnTo>
                    <a:pt x="0" y="29527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672576" y="245173"/>
            <a:ext cx="12700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-50" dirty="0">
                <a:solidFill>
                  <a:srgbClr val="7B39EC"/>
                </a:solidFill>
                <a:latin typeface="Calibri"/>
                <a:cs typeface="Calibri"/>
              </a:rPr>
              <a:t>1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22262" y="1093850"/>
            <a:ext cx="2337435" cy="2346325"/>
            <a:chOff x="322262" y="1093850"/>
            <a:chExt cx="2337435" cy="2346325"/>
          </a:xfrm>
        </p:grpSpPr>
        <p:sp>
          <p:nvSpPr>
            <p:cNvPr id="8" name="object 8"/>
            <p:cNvSpPr/>
            <p:nvPr/>
          </p:nvSpPr>
          <p:spPr>
            <a:xfrm>
              <a:off x="328612" y="1100200"/>
              <a:ext cx="2324735" cy="2333625"/>
            </a:xfrm>
            <a:custGeom>
              <a:avLst/>
              <a:gdLst/>
              <a:ahLst/>
              <a:cxnLst/>
              <a:rect l="l" t="t" r="r" b="b"/>
              <a:pathLst>
                <a:path w="2324735" h="2333625">
                  <a:moveTo>
                    <a:pt x="1162113" y="0"/>
                  </a:moveTo>
                  <a:lnTo>
                    <a:pt x="1114209" y="973"/>
                  </a:lnTo>
                  <a:lnTo>
                    <a:pt x="1066798" y="3867"/>
                  </a:lnTo>
                  <a:lnTo>
                    <a:pt x="1019918" y="8645"/>
                  </a:lnTo>
                  <a:lnTo>
                    <a:pt x="973605" y="15270"/>
                  </a:lnTo>
                  <a:lnTo>
                    <a:pt x="927899" y="23703"/>
                  </a:lnTo>
                  <a:lnTo>
                    <a:pt x="882835" y="33907"/>
                  </a:lnTo>
                  <a:lnTo>
                    <a:pt x="838451" y="45845"/>
                  </a:lnTo>
                  <a:lnTo>
                    <a:pt x="794785" y="59479"/>
                  </a:lnTo>
                  <a:lnTo>
                    <a:pt x="751873" y="74772"/>
                  </a:lnTo>
                  <a:lnTo>
                    <a:pt x="709754" y="91686"/>
                  </a:lnTo>
                  <a:lnTo>
                    <a:pt x="668465" y="110183"/>
                  </a:lnTo>
                  <a:lnTo>
                    <a:pt x="628043" y="130226"/>
                  </a:lnTo>
                  <a:lnTo>
                    <a:pt x="588525" y="151778"/>
                  </a:lnTo>
                  <a:lnTo>
                    <a:pt x="549949" y="174800"/>
                  </a:lnTo>
                  <a:lnTo>
                    <a:pt x="512352" y="199257"/>
                  </a:lnTo>
                  <a:lnTo>
                    <a:pt x="475772" y="225109"/>
                  </a:lnTo>
                  <a:lnTo>
                    <a:pt x="440246" y="252319"/>
                  </a:lnTo>
                  <a:lnTo>
                    <a:pt x="405811" y="280850"/>
                  </a:lnTo>
                  <a:lnTo>
                    <a:pt x="372504" y="310665"/>
                  </a:lnTo>
                  <a:lnTo>
                    <a:pt x="340364" y="341725"/>
                  </a:lnTo>
                  <a:lnTo>
                    <a:pt x="309428" y="373993"/>
                  </a:lnTo>
                  <a:lnTo>
                    <a:pt x="279732" y="407432"/>
                  </a:lnTo>
                  <a:lnTo>
                    <a:pt x="251314" y="442005"/>
                  </a:lnTo>
                  <a:lnTo>
                    <a:pt x="224212" y="477673"/>
                  </a:lnTo>
                  <a:lnTo>
                    <a:pt x="198463" y="514399"/>
                  </a:lnTo>
                  <a:lnTo>
                    <a:pt x="174104" y="552146"/>
                  </a:lnTo>
                  <a:lnTo>
                    <a:pt x="151173" y="590876"/>
                  </a:lnTo>
                  <a:lnTo>
                    <a:pt x="129707" y="630551"/>
                  </a:lnTo>
                  <a:lnTo>
                    <a:pt x="109744" y="671135"/>
                  </a:lnTo>
                  <a:lnTo>
                    <a:pt x="91320" y="712589"/>
                  </a:lnTo>
                  <a:lnTo>
                    <a:pt x="74474" y="754875"/>
                  </a:lnTo>
                  <a:lnTo>
                    <a:pt x="59242" y="797958"/>
                  </a:lnTo>
                  <a:lnTo>
                    <a:pt x="45662" y="841798"/>
                  </a:lnTo>
                  <a:lnTo>
                    <a:pt x="33772" y="886359"/>
                  </a:lnTo>
                  <a:lnTo>
                    <a:pt x="23608" y="931602"/>
                  </a:lnTo>
                  <a:lnTo>
                    <a:pt x="15209" y="977491"/>
                  </a:lnTo>
                  <a:lnTo>
                    <a:pt x="8611" y="1023987"/>
                  </a:lnTo>
                  <a:lnTo>
                    <a:pt x="3852" y="1071054"/>
                  </a:lnTo>
                  <a:lnTo>
                    <a:pt x="969" y="1118654"/>
                  </a:lnTo>
                  <a:lnTo>
                    <a:pt x="0" y="1166749"/>
                  </a:lnTo>
                  <a:lnTo>
                    <a:pt x="969" y="1214843"/>
                  </a:lnTo>
                  <a:lnTo>
                    <a:pt x="3852" y="1262444"/>
                  </a:lnTo>
                  <a:lnTo>
                    <a:pt x="8611" y="1309512"/>
                  </a:lnTo>
                  <a:lnTo>
                    <a:pt x="15209" y="1356010"/>
                  </a:lnTo>
                  <a:lnTo>
                    <a:pt x="23608" y="1401900"/>
                  </a:lnTo>
                  <a:lnTo>
                    <a:pt x="33772" y="1447146"/>
                  </a:lnTo>
                  <a:lnTo>
                    <a:pt x="45662" y="1491709"/>
                  </a:lnTo>
                  <a:lnTo>
                    <a:pt x="59242" y="1535552"/>
                  </a:lnTo>
                  <a:lnTo>
                    <a:pt x="74474" y="1578638"/>
                  </a:lnTo>
                  <a:lnTo>
                    <a:pt x="91320" y="1620928"/>
                  </a:lnTo>
                  <a:lnTo>
                    <a:pt x="109744" y="1662386"/>
                  </a:lnTo>
                  <a:lnTo>
                    <a:pt x="129707" y="1702973"/>
                  </a:lnTo>
                  <a:lnTo>
                    <a:pt x="151173" y="1742653"/>
                  </a:lnTo>
                  <a:lnTo>
                    <a:pt x="174104" y="1781387"/>
                  </a:lnTo>
                  <a:lnTo>
                    <a:pt x="198463" y="1819138"/>
                  </a:lnTo>
                  <a:lnTo>
                    <a:pt x="224212" y="1855869"/>
                  </a:lnTo>
                  <a:lnTo>
                    <a:pt x="251314" y="1891541"/>
                  </a:lnTo>
                  <a:lnTo>
                    <a:pt x="279732" y="1926119"/>
                  </a:lnTo>
                  <a:lnTo>
                    <a:pt x="309428" y="1959562"/>
                  </a:lnTo>
                  <a:lnTo>
                    <a:pt x="340364" y="1991836"/>
                  </a:lnTo>
                  <a:lnTo>
                    <a:pt x="372504" y="2022901"/>
                  </a:lnTo>
                  <a:lnTo>
                    <a:pt x="405811" y="2052720"/>
                  </a:lnTo>
                  <a:lnTo>
                    <a:pt x="440246" y="2081256"/>
                  </a:lnTo>
                  <a:lnTo>
                    <a:pt x="475772" y="2108471"/>
                  </a:lnTo>
                  <a:lnTo>
                    <a:pt x="512352" y="2134327"/>
                  </a:lnTo>
                  <a:lnTo>
                    <a:pt x="549949" y="2158788"/>
                  </a:lnTo>
                  <a:lnTo>
                    <a:pt x="588525" y="2181815"/>
                  </a:lnTo>
                  <a:lnTo>
                    <a:pt x="628043" y="2203371"/>
                  </a:lnTo>
                  <a:lnTo>
                    <a:pt x="668465" y="2223418"/>
                  </a:lnTo>
                  <a:lnTo>
                    <a:pt x="709754" y="2241919"/>
                  </a:lnTo>
                  <a:lnTo>
                    <a:pt x="751873" y="2258836"/>
                  </a:lnTo>
                  <a:lnTo>
                    <a:pt x="794785" y="2274132"/>
                  </a:lnTo>
                  <a:lnTo>
                    <a:pt x="838451" y="2287769"/>
                  </a:lnTo>
                  <a:lnTo>
                    <a:pt x="882835" y="2299709"/>
                  </a:lnTo>
                  <a:lnTo>
                    <a:pt x="927899" y="2309916"/>
                  </a:lnTo>
                  <a:lnTo>
                    <a:pt x="973605" y="2318351"/>
                  </a:lnTo>
                  <a:lnTo>
                    <a:pt x="1019918" y="2324977"/>
                  </a:lnTo>
                  <a:lnTo>
                    <a:pt x="1066798" y="2329756"/>
                  </a:lnTo>
                  <a:lnTo>
                    <a:pt x="1114209" y="2332651"/>
                  </a:lnTo>
                  <a:lnTo>
                    <a:pt x="1162113" y="2333625"/>
                  </a:lnTo>
                  <a:lnTo>
                    <a:pt x="1210009" y="2332651"/>
                  </a:lnTo>
                  <a:lnTo>
                    <a:pt x="1257412" y="2329756"/>
                  </a:lnTo>
                  <a:lnTo>
                    <a:pt x="1304285" y="2324977"/>
                  </a:lnTo>
                  <a:lnTo>
                    <a:pt x="1350591" y="2318351"/>
                  </a:lnTo>
                  <a:lnTo>
                    <a:pt x="1396292" y="2309916"/>
                  </a:lnTo>
                  <a:lnTo>
                    <a:pt x="1441350" y="2299709"/>
                  </a:lnTo>
                  <a:lnTo>
                    <a:pt x="1485729" y="2287769"/>
                  </a:lnTo>
                  <a:lnTo>
                    <a:pt x="1529391" y="2274132"/>
                  </a:lnTo>
                  <a:lnTo>
                    <a:pt x="1572298" y="2258836"/>
                  </a:lnTo>
                  <a:lnTo>
                    <a:pt x="1614414" y="2241919"/>
                  </a:lnTo>
                  <a:lnTo>
                    <a:pt x="1655700" y="2223418"/>
                  </a:lnTo>
                  <a:lnTo>
                    <a:pt x="1696119" y="2203371"/>
                  </a:lnTo>
                  <a:lnTo>
                    <a:pt x="1735635" y="2181815"/>
                  </a:lnTo>
                  <a:lnTo>
                    <a:pt x="1774209" y="2158788"/>
                  </a:lnTo>
                  <a:lnTo>
                    <a:pt x="1811804" y="2134327"/>
                  </a:lnTo>
                  <a:lnTo>
                    <a:pt x="1848382" y="2108471"/>
                  </a:lnTo>
                  <a:lnTo>
                    <a:pt x="1883908" y="2081256"/>
                  </a:lnTo>
                  <a:lnTo>
                    <a:pt x="1918342" y="2052720"/>
                  </a:lnTo>
                  <a:lnTo>
                    <a:pt x="1951647" y="2022901"/>
                  </a:lnTo>
                  <a:lnTo>
                    <a:pt x="1983787" y="1991836"/>
                  </a:lnTo>
                  <a:lnTo>
                    <a:pt x="2014724" y="1959562"/>
                  </a:lnTo>
                  <a:lnTo>
                    <a:pt x="2044420" y="1926119"/>
                  </a:lnTo>
                  <a:lnTo>
                    <a:pt x="2072837" y="1891541"/>
                  </a:lnTo>
                  <a:lnTo>
                    <a:pt x="2099940" y="1855869"/>
                  </a:lnTo>
                  <a:lnTo>
                    <a:pt x="2125690" y="1819138"/>
                  </a:lnTo>
                  <a:lnTo>
                    <a:pt x="2150049" y="1781387"/>
                  </a:lnTo>
                  <a:lnTo>
                    <a:pt x="2172981" y="1742653"/>
                  </a:lnTo>
                  <a:lnTo>
                    <a:pt x="2194447" y="1702973"/>
                  </a:lnTo>
                  <a:lnTo>
                    <a:pt x="2214412" y="1662386"/>
                  </a:lnTo>
                  <a:lnTo>
                    <a:pt x="2232836" y="1620928"/>
                  </a:lnTo>
                  <a:lnTo>
                    <a:pt x="2249683" y="1578638"/>
                  </a:lnTo>
                  <a:lnTo>
                    <a:pt x="2264916" y="1535552"/>
                  </a:lnTo>
                  <a:lnTo>
                    <a:pt x="2278497" y="1491709"/>
                  </a:lnTo>
                  <a:lnTo>
                    <a:pt x="2290388" y="1447146"/>
                  </a:lnTo>
                  <a:lnTo>
                    <a:pt x="2300552" y="1401900"/>
                  </a:lnTo>
                  <a:lnTo>
                    <a:pt x="2308952" y="1356010"/>
                  </a:lnTo>
                  <a:lnTo>
                    <a:pt x="2315551" y="1309512"/>
                  </a:lnTo>
                  <a:lnTo>
                    <a:pt x="2320310" y="1262444"/>
                  </a:lnTo>
                  <a:lnTo>
                    <a:pt x="2323194" y="1214843"/>
                  </a:lnTo>
                  <a:lnTo>
                    <a:pt x="2324163" y="1166749"/>
                  </a:lnTo>
                  <a:lnTo>
                    <a:pt x="2323194" y="1118654"/>
                  </a:lnTo>
                  <a:lnTo>
                    <a:pt x="2320310" y="1071054"/>
                  </a:lnTo>
                  <a:lnTo>
                    <a:pt x="2315551" y="1023987"/>
                  </a:lnTo>
                  <a:lnTo>
                    <a:pt x="2308952" y="977491"/>
                  </a:lnTo>
                  <a:lnTo>
                    <a:pt x="2300552" y="931602"/>
                  </a:lnTo>
                  <a:lnTo>
                    <a:pt x="2290388" y="886359"/>
                  </a:lnTo>
                  <a:lnTo>
                    <a:pt x="2278497" y="841798"/>
                  </a:lnTo>
                  <a:lnTo>
                    <a:pt x="2264916" y="797958"/>
                  </a:lnTo>
                  <a:lnTo>
                    <a:pt x="2249683" y="754875"/>
                  </a:lnTo>
                  <a:lnTo>
                    <a:pt x="2232836" y="712589"/>
                  </a:lnTo>
                  <a:lnTo>
                    <a:pt x="2214412" y="671135"/>
                  </a:lnTo>
                  <a:lnTo>
                    <a:pt x="2194447" y="630551"/>
                  </a:lnTo>
                  <a:lnTo>
                    <a:pt x="2172981" y="590876"/>
                  </a:lnTo>
                  <a:lnTo>
                    <a:pt x="2150049" y="552146"/>
                  </a:lnTo>
                  <a:lnTo>
                    <a:pt x="2125690" y="514399"/>
                  </a:lnTo>
                  <a:lnTo>
                    <a:pt x="2099940" y="477673"/>
                  </a:lnTo>
                  <a:lnTo>
                    <a:pt x="2072837" y="442005"/>
                  </a:lnTo>
                  <a:lnTo>
                    <a:pt x="2044420" y="407432"/>
                  </a:lnTo>
                  <a:lnTo>
                    <a:pt x="2014724" y="373993"/>
                  </a:lnTo>
                  <a:lnTo>
                    <a:pt x="1983787" y="341725"/>
                  </a:lnTo>
                  <a:lnTo>
                    <a:pt x="1951647" y="310665"/>
                  </a:lnTo>
                  <a:lnTo>
                    <a:pt x="1918342" y="280850"/>
                  </a:lnTo>
                  <a:lnTo>
                    <a:pt x="1883908" y="252319"/>
                  </a:lnTo>
                  <a:lnTo>
                    <a:pt x="1848382" y="225109"/>
                  </a:lnTo>
                  <a:lnTo>
                    <a:pt x="1811804" y="199257"/>
                  </a:lnTo>
                  <a:lnTo>
                    <a:pt x="1774209" y="174800"/>
                  </a:lnTo>
                  <a:lnTo>
                    <a:pt x="1735635" y="151778"/>
                  </a:lnTo>
                  <a:lnTo>
                    <a:pt x="1696119" y="130226"/>
                  </a:lnTo>
                  <a:lnTo>
                    <a:pt x="1655700" y="110183"/>
                  </a:lnTo>
                  <a:lnTo>
                    <a:pt x="1614414" y="91686"/>
                  </a:lnTo>
                  <a:lnTo>
                    <a:pt x="1572298" y="74772"/>
                  </a:lnTo>
                  <a:lnTo>
                    <a:pt x="1529391" y="59479"/>
                  </a:lnTo>
                  <a:lnTo>
                    <a:pt x="1485729" y="45845"/>
                  </a:lnTo>
                  <a:lnTo>
                    <a:pt x="1441350" y="33907"/>
                  </a:lnTo>
                  <a:lnTo>
                    <a:pt x="1396292" y="23703"/>
                  </a:lnTo>
                  <a:lnTo>
                    <a:pt x="1350591" y="15270"/>
                  </a:lnTo>
                  <a:lnTo>
                    <a:pt x="1304285" y="8645"/>
                  </a:lnTo>
                  <a:lnTo>
                    <a:pt x="1257412" y="3867"/>
                  </a:lnTo>
                  <a:lnTo>
                    <a:pt x="1210009" y="973"/>
                  </a:lnTo>
                  <a:lnTo>
                    <a:pt x="1162113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28612" y="1100200"/>
              <a:ext cx="2324735" cy="2333625"/>
            </a:xfrm>
            <a:custGeom>
              <a:avLst/>
              <a:gdLst/>
              <a:ahLst/>
              <a:cxnLst/>
              <a:rect l="l" t="t" r="r" b="b"/>
              <a:pathLst>
                <a:path w="2324735" h="2333625">
                  <a:moveTo>
                    <a:pt x="0" y="1166749"/>
                  </a:moveTo>
                  <a:lnTo>
                    <a:pt x="969" y="1118654"/>
                  </a:lnTo>
                  <a:lnTo>
                    <a:pt x="3852" y="1071054"/>
                  </a:lnTo>
                  <a:lnTo>
                    <a:pt x="8611" y="1023987"/>
                  </a:lnTo>
                  <a:lnTo>
                    <a:pt x="15209" y="977491"/>
                  </a:lnTo>
                  <a:lnTo>
                    <a:pt x="23608" y="931602"/>
                  </a:lnTo>
                  <a:lnTo>
                    <a:pt x="33772" y="886359"/>
                  </a:lnTo>
                  <a:lnTo>
                    <a:pt x="45662" y="841798"/>
                  </a:lnTo>
                  <a:lnTo>
                    <a:pt x="59242" y="797958"/>
                  </a:lnTo>
                  <a:lnTo>
                    <a:pt x="74474" y="754875"/>
                  </a:lnTo>
                  <a:lnTo>
                    <a:pt x="91320" y="712589"/>
                  </a:lnTo>
                  <a:lnTo>
                    <a:pt x="109744" y="671135"/>
                  </a:lnTo>
                  <a:lnTo>
                    <a:pt x="129707" y="630551"/>
                  </a:lnTo>
                  <a:lnTo>
                    <a:pt x="151173" y="590876"/>
                  </a:lnTo>
                  <a:lnTo>
                    <a:pt x="174104" y="552146"/>
                  </a:lnTo>
                  <a:lnTo>
                    <a:pt x="198463" y="514399"/>
                  </a:lnTo>
                  <a:lnTo>
                    <a:pt x="224212" y="477673"/>
                  </a:lnTo>
                  <a:lnTo>
                    <a:pt x="251314" y="442005"/>
                  </a:lnTo>
                  <a:lnTo>
                    <a:pt x="279732" y="407432"/>
                  </a:lnTo>
                  <a:lnTo>
                    <a:pt x="309428" y="373993"/>
                  </a:lnTo>
                  <a:lnTo>
                    <a:pt x="340364" y="341725"/>
                  </a:lnTo>
                  <a:lnTo>
                    <a:pt x="372504" y="310665"/>
                  </a:lnTo>
                  <a:lnTo>
                    <a:pt x="405811" y="280850"/>
                  </a:lnTo>
                  <a:lnTo>
                    <a:pt x="440246" y="252319"/>
                  </a:lnTo>
                  <a:lnTo>
                    <a:pt x="475772" y="225109"/>
                  </a:lnTo>
                  <a:lnTo>
                    <a:pt x="512352" y="199257"/>
                  </a:lnTo>
                  <a:lnTo>
                    <a:pt x="549949" y="174800"/>
                  </a:lnTo>
                  <a:lnTo>
                    <a:pt x="588525" y="151778"/>
                  </a:lnTo>
                  <a:lnTo>
                    <a:pt x="628043" y="130226"/>
                  </a:lnTo>
                  <a:lnTo>
                    <a:pt x="668465" y="110183"/>
                  </a:lnTo>
                  <a:lnTo>
                    <a:pt x="709754" y="91686"/>
                  </a:lnTo>
                  <a:lnTo>
                    <a:pt x="751873" y="74772"/>
                  </a:lnTo>
                  <a:lnTo>
                    <a:pt x="794785" y="59479"/>
                  </a:lnTo>
                  <a:lnTo>
                    <a:pt x="838451" y="45845"/>
                  </a:lnTo>
                  <a:lnTo>
                    <a:pt x="882835" y="33907"/>
                  </a:lnTo>
                  <a:lnTo>
                    <a:pt x="927899" y="23703"/>
                  </a:lnTo>
                  <a:lnTo>
                    <a:pt x="973605" y="15270"/>
                  </a:lnTo>
                  <a:lnTo>
                    <a:pt x="1019918" y="8645"/>
                  </a:lnTo>
                  <a:lnTo>
                    <a:pt x="1066798" y="3867"/>
                  </a:lnTo>
                  <a:lnTo>
                    <a:pt x="1114209" y="973"/>
                  </a:lnTo>
                  <a:lnTo>
                    <a:pt x="1162113" y="0"/>
                  </a:lnTo>
                  <a:lnTo>
                    <a:pt x="1210009" y="973"/>
                  </a:lnTo>
                  <a:lnTo>
                    <a:pt x="1257412" y="3867"/>
                  </a:lnTo>
                  <a:lnTo>
                    <a:pt x="1304285" y="8645"/>
                  </a:lnTo>
                  <a:lnTo>
                    <a:pt x="1350591" y="15270"/>
                  </a:lnTo>
                  <a:lnTo>
                    <a:pt x="1396292" y="23703"/>
                  </a:lnTo>
                  <a:lnTo>
                    <a:pt x="1441350" y="33907"/>
                  </a:lnTo>
                  <a:lnTo>
                    <a:pt x="1485729" y="45845"/>
                  </a:lnTo>
                  <a:lnTo>
                    <a:pt x="1529391" y="59479"/>
                  </a:lnTo>
                  <a:lnTo>
                    <a:pt x="1572298" y="74772"/>
                  </a:lnTo>
                  <a:lnTo>
                    <a:pt x="1614414" y="91686"/>
                  </a:lnTo>
                  <a:lnTo>
                    <a:pt x="1655700" y="110183"/>
                  </a:lnTo>
                  <a:lnTo>
                    <a:pt x="1696119" y="130226"/>
                  </a:lnTo>
                  <a:lnTo>
                    <a:pt x="1735635" y="151778"/>
                  </a:lnTo>
                  <a:lnTo>
                    <a:pt x="1774209" y="174800"/>
                  </a:lnTo>
                  <a:lnTo>
                    <a:pt x="1811804" y="199257"/>
                  </a:lnTo>
                  <a:lnTo>
                    <a:pt x="1848382" y="225109"/>
                  </a:lnTo>
                  <a:lnTo>
                    <a:pt x="1883908" y="252319"/>
                  </a:lnTo>
                  <a:lnTo>
                    <a:pt x="1918342" y="280850"/>
                  </a:lnTo>
                  <a:lnTo>
                    <a:pt x="1951647" y="310665"/>
                  </a:lnTo>
                  <a:lnTo>
                    <a:pt x="1983787" y="341725"/>
                  </a:lnTo>
                  <a:lnTo>
                    <a:pt x="2014724" y="373993"/>
                  </a:lnTo>
                  <a:lnTo>
                    <a:pt x="2044420" y="407432"/>
                  </a:lnTo>
                  <a:lnTo>
                    <a:pt x="2072837" y="442005"/>
                  </a:lnTo>
                  <a:lnTo>
                    <a:pt x="2099940" y="477673"/>
                  </a:lnTo>
                  <a:lnTo>
                    <a:pt x="2125690" y="514399"/>
                  </a:lnTo>
                  <a:lnTo>
                    <a:pt x="2150049" y="552146"/>
                  </a:lnTo>
                  <a:lnTo>
                    <a:pt x="2172981" y="590876"/>
                  </a:lnTo>
                  <a:lnTo>
                    <a:pt x="2194447" y="630551"/>
                  </a:lnTo>
                  <a:lnTo>
                    <a:pt x="2214412" y="671135"/>
                  </a:lnTo>
                  <a:lnTo>
                    <a:pt x="2232836" y="712589"/>
                  </a:lnTo>
                  <a:lnTo>
                    <a:pt x="2249683" y="754875"/>
                  </a:lnTo>
                  <a:lnTo>
                    <a:pt x="2264916" y="797958"/>
                  </a:lnTo>
                  <a:lnTo>
                    <a:pt x="2278497" y="841798"/>
                  </a:lnTo>
                  <a:lnTo>
                    <a:pt x="2290388" y="886359"/>
                  </a:lnTo>
                  <a:lnTo>
                    <a:pt x="2300552" y="931602"/>
                  </a:lnTo>
                  <a:lnTo>
                    <a:pt x="2308952" y="977491"/>
                  </a:lnTo>
                  <a:lnTo>
                    <a:pt x="2315551" y="1023987"/>
                  </a:lnTo>
                  <a:lnTo>
                    <a:pt x="2320310" y="1071054"/>
                  </a:lnTo>
                  <a:lnTo>
                    <a:pt x="2323194" y="1118654"/>
                  </a:lnTo>
                  <a:lnTo>
                    <a:pt x="2324163" y="1166749"/>
                  </a:lnTo>
                  <a:lnTo>
                    <a:pt x="2323194" y="1214843"/>
                  </a:lnTo>
                  <a:lnTo>
                    <a:pt x="2320310" y="1262444"/>
                  </a:lnTo>
                  <a:lnTo>
                    <a:pt x="2315551" y="1309512"/>
                  </a:lnTo>
                  <a:lnTo>
                    <a:pt x="2308952" y="1356010"/>
                  </a:lnTo>
                  <a:lnTo>
                    <a:pt x="2300552" y="1401900"/>
                  </a:lnTo>
                  <a:lnTo>
                    <a:pt x="2290388" y="1447146"/>
                  </a:lnTo>
                  <a:lnTo>
                    <a:pt x="2278497" y="1491709"/>
                  </a:lnTo>
                  <a:lnTo>
                    <a:pt x="2264916" y="1535552"/>
                  </a:lnTo>
                  <a:lnTo>
                    <a:pt x="2249683" y="1578638"/>
                  </a:lnTo>
                  <a:lnTo>
                    <a:pt x="2232836" y="1620928"/>
                  </a:lnTo>
                  <a:lnTo>
                    <a:pt x="2214412" y="1662386"/>
                  </a:lnTo>
                  <a:lnTo>
                    <a:pt x="2194447" y="1702973"/>
                  </a:lnTo>
                  <a:lnTo>
                    <a:pt x="2172981" y="1742653"/>
                  </a:lnTo>
                  <a:lnTo>
                    <a:pt x="2150049" y="1781387"/>
                  </a:lnTo>
                  <a:lnTo>
                    <a:pt x="2125690" y="1819138"/>
                  </a:lnTo>
                  <a:lnTo>
                    <a:pt x="2099940" y="1855869"/>
                  </a:lnTo>
                  <a:lnTo>
                    <a:pt x="2072837" y="1891541"/>
                  </a:lnTo>
                  <a:lnTo>
                    <a:pt x="2044420" y="1926119"/>
                  </a:lnTo>
                  <a:lnTo>
                    <a:pt x="2014724" y="1959562"/>
                  </a:lnTo>
                  <a:lnTo>
                    <a:pt x="1983787" y="1991836"/>
                  </a:lnTo>
                  <a:lnTo>
                    <a:pt x="1951647" y="2022901"/>
                  </a:lnTo>
                  <a:lnTo>
                    <a:pt x="1918342" y="2052720"/>
                  </a:lnTo>
                  <a:lnTo>
                    <a:pt x="1883908" y="2081256"/>
                  </a:lnTo>
                  <a:lnTo>
                    <a:pt x="1848382" y="2108471"/>
                  </a:lnTo>
                  <a:lnTo>
                    <a:pt x="1811804" y="2134327"/>
                  </a:lnTo>
                  <a:lnTo>
                    <a:pt x="1774209" y="2158788"/>
                  </a:lnTo>
                  <a:lnTo>
                    <a:pt x="1735635" y="2181815"/>
                  </a:lnTo>
                  <a:lnTo>
                    <a:pt x="1696119" y="2203371"/>
                  </a:lnTo>
                  <a:lnTo>
                    <a:pt x="1655700" y="2223418"/>
                  </a:lnTo>
                  <a:lnTo>
                    <a:pt x="1614414" y="2241919"/>
                  </a:lnTo>
                  <a:lnTo>
                    <a:pt x="1572298" y="2258836"/>
                  </a:lnTo>
                  <a:lnTo>
                    <a:pt x="1529391" y="2274132"/>
                  </a:lnTo>
                  <a:lnTo>
                    <a:pt x="1485729" y="2287769"/>
                  </a:lnTo>
                  <a:lnTo>
                    <a:pt x="1441350" y="2299709"/>
                  </a:lnTo>
                  <a:lnTo>
                    <a:pt x="1396292" y="2309916"/>
                  </a:lnTo>
                  <a:lnTo>
                    <a:pt x="1350591" y="2318351"/>
                  </a:lnTo>
                  <a:lnTo>
                    <a:pt x="1304285" y="2324977"/>
                  </a:lnTo>
                  <a:lnTo>
                    <a:pt x="1257412" y="2329756"/>
                  </a:lnTo>
                  <a:lnTo>
                    <a:pt x="1210009" y="2332651"/>
                  </a:lnTo>
                  <a:lnTo>
                    <a:pt x="1162113" y="2333625"/>
                  </a:lnTo>
                  <a:lnTo>
                    <a:pt x="1114209" y="2332651"/>
                  </a:lnTo>
                  <a:lnTo>
                    <a:pt x="1066798" y="2329756"/>
                  </a:lnTo>
                  <a:lnTo>
                    <a:pt x="1019918" y="2324977"/>
                  </a:lnTo>
                  <a:lnTo>
                    <a:pt x="973605" y="2318351"/>
                  </a:lnTo>
                  <a:lnTo>
                    <a:pt x="927899" y="2309916"/>
                  </a:lnTo>
                  <a:lnTo>
                    <a:pt x="882835" y="2299709"/>
                  </a:lnTo>
                  <a:lnTo>
                    <a:pt x="838451" y="2287769"/>
                  </a:lnTo>
                  <a:lnTo>
                    <a:pt x="794785" y="2274132"/>
                  </a:lnTo>
                  <a:lnTo>
                    <a:pt x="751873" y="2258836"/>
                  </a:lnTo>
                  <a:lnTo>
                    <a:pt x="709754" y="2241919"/>
                  </a:lnTo>
                  <a:lnTo>
                    <a:pt x="668465" y="2223418"/>
                  </a:lnTo>
                  <a:lnTo>
                    <a:pt x="628043" y="2203371"/>
                  </a:lnTo>
                  <a:lnTo>
                    <a:pt x="588525" y="2181815"/>
                  </a:lnTo>
                  <a:lnTo>
                    <a:pt x="549949" y="2158788"/>
                  </a:lnTo>
                  <a:lnTo>
                    <a:pt x="512352" y="2134327"/>
                  </a:lnTo>
                  <a:lnTo>
                    <a:pt x="475772" y="2108471"/>
                  </a:lnTo>
                  <a:lnTo>
                    <a:pt x="440246" y="2081256"/>
                  </a:lnTo>
                  <a:lnTo>
                    <a:pt x="405811" y="2052720"/>
                  </a:lnTo>
                  <a:lnTo>
                    <a:pt x="372504" y="2022901"/>
                  </a:lnTo>
                  <a:lnTo>
                    <a:pt x="340364" y="1991836"/>
                  </a:lnTo>
                  <a:lnTo>
                    <a:pt x="309428" y="1959562"/>
                  </a:lnTo>
                  <a:lnTo>
                    <a:pt x="279732" y="1926119"/>
                  </a:lnTo>
                  <a:lnTo>
                    <a:pt x="251314" y="1891541"/>
                  </a:lnTo>
                  <a:lnTo>
                    <a:pt x="224212" y="1855869"/>
                  </a:lnTo>
                  <a:lnTo>
                    <a:pt x="198463" y="1819138"/>
                  </a:lnTo>
                  <a:lnTo>
                    <a:pt x="174104" y="1781387"/>
                  </a:lnTo>
                  <a:lnTo>
                    <a:pt x="151173" y="1742653"/>
                  </a:lnTo>
                  <a:lnTo>
                    <a:pt x="129707" y="1702973"/>
                  </a:lnTo>
                  <a:lnTo>
                    <a:pt x="109744" y="1662386"/>
                  </a:lnTo>
                  <a:lnTo>
                    <a:pt x="91320" y="1620928"/>
                  </a:lnTo>
                  <a:lnTo>
                    <a:pt x="74474" y="1578638"/>
                  </a:lnTo>
                  <a:lnTo>
                    <a:pt x="59242" y="1535552"/>
                  </a:lnTo>
                  <a:lnTo>
                    <a:pt x="45662" y="1491709"/>
                  </a:lnTo>
                  <a:lnTo>
                    <a:pt x="33772" y="1447146"/>
                  </a:lnTo>
                  <a:lnTo>
                    <a:pt x="23608" y="1401900"/>
                  </a:lnTo>
                  <a:lnTo>
                    <a:pt x="15209" y="1356010"/>
                  </a:lnTo>
                  <a:lnTo>
                    <a:pt x="8611" y="1309512"/>
                  </a:lnTo>
                  <a:lnTo>
                    <a:pt x="3852" y="1262444"/>
                  </a:lnTo>
                  <a:lnTo>
                    <a:pt x="969" y="1214843"/>
                  </a:lnTo>
                  <a:lnTo>
                    <a:pt x="0" y="1166749"/>
                  </a:lnTo>
                  <a:close/>
                </a:path>
              </a:pathLst>
            </a:custGeom>
            <a:ln w="12699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154430" y="1095048"/>
            <a:ext cx="661670" cy="1834514"/>
          </a:xfrm>
          <a:prstGeom prst="rect">
            <a:avLst/>
          </a:prstGeom>
        </p:spPr>
        <p:txBody>
          <a:bodyPr vert="horz" wrap="square" lIns="0" tIns="449580" rIns="0" bIns="0" rtlCol="0">
            <a:spAutoFit/>
          </a:bodyPr>
          <a:lstStyle/>
          <a:p>
            <a:pPr marL="114935">
              <a:lnSpc>
                <a:spcPct val="100000"/>
              </a:lnSpc>
              <a:spcBef>
                <a:spcPts val="3540"/>
              </a:spcBef>
            </a:pPr>
            <a:r>
              <a:rPr sz="5750" b="1" spc="-50" dirty="0">
                <a:solidFill>
                  <a:srgbClr val="FFFFFF"/>
                </a:solidFill>
                <a:latin typeface="Calibri"/>
                <a:cs typeface="Calibri"/>
              </a:rPr>
              <a:t>α</a:t>
            </a:r>
            <a:endParaRPr sz="5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15"/>
              </a:spcBef>
            </a:pPr>
            <a:r>
              <a:rPr sz="2150" b="1" spc="-10" dirty="0">
                <a:solidFill>
                  <a:srgbClr val="FFFFFF"/>
                </a:solidFill>
                <a:latin typeface="Calibri"/>
                <a:cs typeface="Calibri"/>
              </a:rPr>
              <a:t>0.917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88987" y="3541966"/>
            <a:ext cx="1396365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dirty="0">
                <a:solidFill>
                  <a:srgbClr val="7B39EC"/>
                </a:solidFill>
                <a:latin typeface="Calibri"/>
                <a:cs typeface="Calibri"/>
              </a:rPr>
              <a:t>Excellente</a:t>
            </a:r>
            <a:r>
              <a:rPr sz="950" b="1" spc="-20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7B39EC"/>
                </a:solidFill>
                <a:latin typeface="Calibri"/>
                <a:cs typeface="Calibri"/>
              </a:rPr>
              <a:t>fiabilité</a:t>
            </a:r>
            <a:r>
              <a:rPr sz="950" b="1" spc="-1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7B39EC"/>
                </a:solidFill>
                <a:latin typeface="Calibri"/>
                <a:cs typeface="Calibri"/>
              </a:rPr>
              <a:t>(α</a:t>
            </a:r>
            <a:r>
              <a:rPr sz="950" b="1" spc="-2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7B39EC"/>
                </a:solidFill>
                <a:latin typeface="Calibri"/>
                <a:cs typeface="Calibri"/>
              </a:rPr>
              <a:t>≥</a:t>
            </a:r>
            <a:r>
              <a:rPr sz="950" b="1" spc="7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950" b="1" spc="-20" dirty="0">
                <a:solidFill>
                  <a:srgbClr val="7B39EC"/>
                </a:solidFill>
                <a:latin typeface="Calibri"/>
                <a:cs typeface="Calibri"/>
              </a:rPr>
              <a:t>0.9)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24860" y="1077023"/>
            <a:ext cx="15748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E172A"/>
                </a:solidFill>
                <a:latin typeface="Calibri"/>
                <a:cs typeface="Calibri"/>
              </a:rPr>
              <a:t>Corrélations </a:t>
            </a:r>
            <a:r>
              <a:rPr sz="1200" b="1" spc="-20" dirty="0">
                <a:solidFill>
                  <a:srgbClr val="0E172A"/>
                </a:solidFill>
                <a:latin typeface="Calibri"/>
                <a:cs typeface="Calibri"/>
              </a:rPr>
              <a:t>inter-</a:t>
            </a:r>
            <a:r>
              <a:rPr sz="1200" b="1" spc="-10" dirty="0">
                <a:solidFill>
                  <a:srgbClr val="0E172A"/>
                </a:solidFill>
                <a:latin typeface="Calibri"/>
                <a:cs typeface="Calibri"/>
              </a:rPr>
              <a:t>scores</a:t>
            </a:r>
            <a:endParaRPr sz="1200">
              <a:latin typeface="Calibri"/>
              <a:cs typeface="Calibri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2829560" y="1348232"/>
          <a:ext cx="3474720" cy="1899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49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E1E8EF"/>
                      </a:solidFill>
                      <a:prstDash val="solid"/>
                    </a:lnL>
                    <a:lnR w="12700">
                      <a:solidFill>
                        <a:srgbClr val="E1E8EF"/>
                      </a:solidFill>
                      <a:prstDash val="solid"/>
                    </a:lnR>
                    <a:lnT w="12700">
                      <a:solidFill>
                        <a:srgbClr val="E1E8EF"/>
                      </a:solidFill>
                      <a:prstDash val="solid"/>
                    </a:lnT>
                    <a:lnB w="12700">
                      <a:solidFill>
                        <a:srgbClr val="E1E8EF"/>
                      </a:solidFill>
                      <a:prstDash val="solid"/>
                    </a:lnB>
                    <a:solidFill>
                      <a:srgbClr val="7B39EC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1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Math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50495" marB="0">
                    <a:lnL w="12700">
                      <a:solidFill>
                        <a:srgbClr val="E1E8EF"/>
                      </a:solidFill>
                      <a:prstDash val="solid"/>
                    </a:lnL>
                    <a:lnR w="12700">
                      <a:solidFill>
                        <a:srgbClr val="E1E8EF"/>
                      </a:solidFill>
                      <a:prstDash val="solid"/>
                    </a:lnR>
                    <a:lnT w="12700">
                      <a:solidFill>
                        <a:srgbClr val="E1E8EF"/>
                      </a:solidFill>
                      <a:prstDash val="solid"/>
                    </a:lnT>
                    <a:lnB w="12700">
                      <a:solidFill>
                        <a:srgbClr val="E1E8EF"/>
                      </a:solidFill>
                      <a:prstDash val="solid"/>
                    </a:lnB>
                    <a:solidFill>
                      <a:srgbClr val="7B39EC"/>
                    </a:solidFill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Science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50495" marB="0">
                    <a:lnL w="12700">
                      <a:solidFill>
                        <a:srgbClr val="E1E8EF"/>
                      </a:solidFill>
                      <a:prstDash val="solid"/>
                    </a:lnL>
                    <a:lnR w="12700">
                      <a:solidFill>
                        <a:srgbClr val="E1E8EF"/>
                      </a:solidFill>
                      <a:prstDash val="solid"/>
                    </a:lnR>
                    <a:lnT w="12700">
                      <a:solidFill>
                        <a:srgbClr val="E1E8EF"/>
                      </a:solidFill>
                      <a:prstDash val="solid"/>
                    </a:lnT>
                    <a:lnB w="12700">
                      <a:solidFill>
                        <a:srgbClr val="E1E8EF"/>
                      </a:solidFill>
                      <a:prstDash val="solid"/>
                    </a:lnB>
                    <a:solidFill>
                      <a:srgbClr val="7B39EC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Anglais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50495" marB="0">
                    <a:lnL w="12700">
                      <a:solidFill>
                        <a:srgbClr val="E1E8EF"/>
                      </a:solidFill>
                      <a:prstDash val="solid"/>
                    </a:lnL>
                    <a:lnR w="12700">
                      <a:solidFill>
                        <a:srgbClr val="E1E8EF"/>
                      </a:solidFill>
                      <a:prstDash val="solid"/>
                    </a:lnR>
                    <a:lnT w="12700">
                      <a:solidFill>
                        <a:srgbClr val="E1E8EF"/>
                      </a:solidFill>
                      <a:prstDash val="solid"/>
                    </a:lnT>
                    <a:lnB w="12700">
                      <a:solidFill>
                        <a:srgbClr val="E1E8EF"/>
                      </a:solidFill>
                      <a:prstDash val="solid"/>
                    </a:lnB>
                    <a:solidFill>
                      <a:srgbClr val="7B39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80"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sz="1100" b="1" spc="-2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Math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51130" marB="0">
                    <a:lnL w="12700">
                      <a:solidFill>
                        <a:srgbClr val="E1E8EF"/>
                      </a:solidFill>
                      <a:prstDash val="solid"/>
                    </a:lnL>
                    <a:lnR w="12700">
                      <a:solidFill>
                        <a:srgbClr val="E1E8EF"/>
                      </a:solidFill>
                      <a:prstDash val="solid"/>
                    </a:lnR>
                    <a:lnT w="12700">
                      <a:solidFill>
                        <a:srgbClr val="E1E8EF"/>
                      </a:solidFill>
                      <a:prstDash val="solid"/>
                    </a:lnT>
                    <a:lnB w="12700">
                      <a:solidFill>
                        <a:srgbClr val="E1E8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sz="1100" spc="-50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—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51130" marB="0">
                    <a:lnL w="12700">
                      <a:solidFill>
                        <a:srgbClr val="E1E8EF"/>
                      </a:solidFill>
                      <a:prstDash val="solid"/>
                    </a:lnL>
                    <a:lnR w="12700">
                      <a:solidFill>
                        <a:srgbClr val="E1E8EF"/>
                      </a:solidFill>
                      <a:prstDash val="solid"/>
                    </a:lnR>
                    <a:lnT w="12700">
                      <a:solidFill>
                        <a:srgbClr val="E1E8EF"/>
                      </a:solidFill>
                      <a:prstDash val="solid"/>
                    </a:lnT>
                    <a:lnB w="12700">
                      <a:solidFill>
                        <a:srgbClr val="E1E8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sz="1100" b="1" spc="-10" dirty="0">
                          <a:solidFill>
                            <a:srgbClr val="7B39EC"/>
                          </a:solidFill>
                          <a:latin typeface="Calibri"/>
                          <a:cs typeface="Calibri"/>
                        </a:rPr>
                        <a:t>0.873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51130" marB="0">
                    <a:lnL w="12700">
                      <a:solidFill>
                        <a:srgbClr val="E1E8EF"/>
                      </a:solidFill>
                      <a:prstDash val="solid"/>
                    </a:lnL>
                    <a:lnR w="12700">
                      <a:solidFill>
                        <a:srgbClr val="E1E8EF"/>
                      </a:solidFill>
                      <a:prstDash val="solid"/>
                    </a:lnR>
                    <a:lnT w="12700">
                      <a:solidFill>
                        <a:srgbClr val="E1E8EF"/>
                      </a:solidFill>
                      <a:prstDash val="solid"/>
                    </a:lnT>
                    <a:lnB w="12700">
                      <a:solidFill>
                        <a:srgbClr val="E1E8EF"/>
                      </a:solidFill>
                      <a:prstDash val="solid"/>
                    </a:lnB>
                    <a:solidFill>
                      <a:srgbClr val="ECE9FD"/>
                    </a:solidFill>
                  </a:tcPr>
                </a:tc>
                <a:tc>
                  <a:txBody>
                    <a:bodyPr/>
                    <a:lstStyle/>
                    <a:p>
                      <a:pPr marL="17780" algn="ctr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sz="1100" b="1" spc="-10" dirty="0">
                          <a:solidFill>
                            <a:srgbClr val="7B39EC"/>
                          </a:solidFill>
                          <a:latin typeface="Calibri"/>
                          <a:cs typeface="Calibri"/>
                        </a:rPr>
                        <a:t>0.872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51130" marB="0">
                    <a:lnL w="12700">
                      <a:solidFill>
                        <a:srgbClr val="E1E8EF"/>
                      </a:solidFill>
                      <a:prstDash val="solid"/>
                    </a:lnL>
                    <a:lnR w="12700">
                      <a:solidFill>
                        <a:srgbClr val="E1E8EF"/>
                      </a:solidFill>
                      <a:prstDash val="solid"/>
                    </a:lnR>
                    <a:lnT w="12700">
                      <a:solidFill>
                        <a:srgbClr val="E1E8EF"/>
                      </a:solidFill>
                      <a:prstDash val="solid"/>
                    </a:lnT>
                    <a:lnB w="12700">
                      <a:solidFill>
                        <a:srgbClr val="E1E8EF"/>
                      </a:solidFill>
                      <a:prstDash val="solid"/>
                    </a:lnB>
                    <a:solidFill>
                      <a:srgbClr val="ECE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980"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100" b="1" spc="-1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Science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52400" marB="0">
                    <a:lnL w="12700">
                      <a:solidFill>
                        <a:srgbClr val="E1E8EF"/>
                      </a:solidFill>
                      <a:prstDash val="solid"/>
                    </a:lnL>
                    <a:lnR w="12700">
                      <a:solidFill>
                        <a:srgbClr val="E1E8EF"/>
                      </a:solidFill>
                      <a:prstDash val="solid"/>
                    </a:lnR>
                    <a:lnT w="12700">
                      <a:solidFill>
                        <a:srgbClr val="E1E8EF"/>
                      </a:solidFill>
                      <a:prstDash val="solid"/>
                    </a:lnT>
                    <a:lnB w="12700">
                      <a:solidFill>
                        <a:srgbClr val="E1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100" b="1" spc="-10" dirty="0">
                          <a:solidFill>
                            <a:srgbClr val="7B39EC"/>
                          </a:solidFill>
                          <a:latin typeface="Calibri"/>
                          <a:cs typeface="Calibri"/>
                        </a:rPr>
                        <a:t>0.873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52400" marB="0">
                    <a:lnL w="12700">
                      <a:solidFill>
                        <a:srgbClr val="E1E8EF"/>
                      </a:solidFill>
                      <a:prstDash val="solid"/>
                    </a:lnL>
                    <a:lnR w="12700">
                      <a:solidFill>
                        <a:srgbClr val="E1E8EF"/>
                      </a:solidFill>
                      <a:prstDash val="solid"/>
                    </a:lnR>
                    <a:lnT w="12700">
                      <a:solidFill>
                        <a:srgbClr val="E1E8EF"/>
                      </a:solidFill>
                      <a:prstDash val="solid"/>
                    </a:lnT>
                    <a:lnB w="12700">
                      <a:solidFill>
                        <a:srgbClr val="E1E8EF"/>
                      </a:solidFill>
                      <a:prstDash val="solid"/>
                    </a:lnB>
                    <a:solidFill>
                      <a:srgbClr val="ECE9FD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100" spc="-50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—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52400" marB="0">
                    <a:lnL w="12700">
                      <a:solidFill>
                        <a:srgbClr val="E1E8EF"/>
                      </a:solidFill>
                      <a:prstDash val="solid"/>
                    </a:lnL>
                    <a:lnR w="12700">
                      <a:solidFill>
                        <a:srgbClr val="E1E8EF"/>
                      </a:solidFill>
                      <a:prstDash val="solid"/>
                    </a:lnR>
                    <a:lnT w="12700">
                      <a:solidFill>
                        <a:srgbClr val="E1E8EF"/>
                      </a:solidFill>
                      <a:prstDash val="solid"/>
                    </a:lnT>
                    <a:lnB w="12700">
                      <a:solidFill>
                        <a:srgbClr val="E1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" algn="ct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100" b="1" spc="-10" dirty="0">
                          <a:solidFill>
                            <a:srgbClr val="7B39EC"/>
                          </a:solidFill>
                          <a:latin typeface="Calibri"/>
                          <a:cs typeface="Calibri"/>
                        </a:rPr>
                        <a:t>0.873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52400" marB="0">
                    <a:lnL w="12700">
                      <a:solidFill>
                        <a:srgbClr val="E1E8EF"/>
                      </a:solidFill>
                      <a:prstDash val="solid"/>
                    </a:lnL>
                    <a:lnR w="12700">
                      <a:solidFill>
                        <a:srgbClr val="E1E8EF"/>
                      </a:solidFill>
                      <a:prstDash val="solid"/>
                    </a:lnR>
                    <a:lnT w="12700">
                      <a:solidFill>
                        <a:srgbClr val="E1E8EF"/>
                      </a:solidFill>
                      <a:prstDash val="solid"/>
                    </a:lnT>
                    <a:lnB w="12700">
                      <a:solidFill>
                        <a:srgbClr val="E1E8EF"/>
                      </a:solidFill>
                      <a:prstDash val="solid"/>
                    </a:lnB>
                    <a:solidFill>
                      <a:srgbClr val="ECE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980"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1205"/>
                        </a:spcBef>
                      </a:pPr>
                      <a:r>
                        <a:rPr sz="1100" b="1" spc="-1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Anglais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53035" marB="0">
                    <a:lnL w="12700">
                      <a:solidFill>
                        <a:srgbClr val="E1E8EF"/>
                      </a:solidFill>
                      <a:prstDash val="solid"/>
                    </a:lnL>
                    <a:lnR w="12700">
                      <a:solidFill>
                        <a:srgbClr val="E1E8EF"/>
                      </a:solidFill>
                      <a:prstDash val="solid"/>
                    </a:lnR>
                    <a:lnT w="12700">
                      <a:solidFill>
                        <a:srgbClr val="E1E8EF"/>
                      </a:solidFill>
                      <a:prstDash val="solid"/>
                    </a:lnT>
                    <a:lnB w="12700">
                      <a:solidFill>
                        <a:srgbClr val="E1E8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1205"/>
                        </a:spcBef>
                      </a:pPr>
                      <a:r>
                        <a:rPr sz="1100" b="1" spc="-10" dirty="0">
                          <a:solidFill>
                            <a:srgbClr val="7B39EC"/>
                          </a:solidFill>
                          <a:latin typeface="Calibri"/>
                          <a:cs typeface="Calibri"/>
                        </a:rPr>
                        <a:t>0.872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53035" marB="0">
                    <a:lnL w="12700">
                      <a:solidFill>
                        <a:srgbClr val="E1E8EF"/>
                      </a:solidFill>
                      <a:prstDash val="solid"/>
                    </a:lnL>
                    <a:lnR w="12700">
                      <a:solidFill>
                        <a:srgbClr val="E1E8EF"/>
                      </a:solidFill>
                      <a:prstDash val="solid"/>
                    </a:lnR>
                    <a:lnT w="12700">
                      <a:solidFill>
                        <a:srgbClr val="E1E8EF"/>
                      </a:solidFill>
                      <a:prstDash val="solid"/>
                    </a:lnT>
                    <a:lnB w="12700">
                      <a:solidFill>
                        <a:srgbClr val="E1E8EF"/>
                      </a:solidFill>
                      <a:prstDash val="solid"/>
                    </a:lnB>
                    <a:solidFill>
                      <a:srgbClr val="ECE9FD"/>
                    </a:solidFill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1205"/>
                        </a:spcBef>
                      </a:pPr>
                      <a:r>
                        <a:rPr sz="1100" b="1" spc="-10" dirty="0">
                          <a:solidFill>
                            <a:srgbClr val="7B39EC"/>
                          </a:solidFill>
                          <a:latin typeface="Calibri"/>
                          <a:cs typeface="Calibri"/>
                        </a:rPr>
                        <a:t>0.873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53035" marB="0">
                    <a:lnL w="12700">
                      <a:solidFill>
                        <a:srgbClr val="E1E8EF"/>
                      </a:solidFill>
                      <a:prstDash val="solid"/>
                    </a:lnL>
                    <a:lnR w="12700">
                      <a:solidFill>
                        <a:srgbClr val="E1E8EF"/>
                      </a:solidFill>
                      <a:prstDash val="solid"/>
                    </a:lnR>
                    <a:lnT w="12700">
                      <a:solidFill>
                        <a:srgbClr val="E1E8EF"/>
                      </a:solidFill>
                      <a:prstDash val="solid"/>
                    </a:lnT>
                    <a:lnB w="12700">
                      <a:solidFill>
                        <a:srgbClr val="E1E8EF"/>
                      </a:solidFill>
                      <a:prstDash val="solid"/>
                    </a:lnB>
                    <a:solidFill>
                      <a:srgbClr val="ECE9FD"/>
                    </a:solidFill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1205"/>
                        </a:spcBef>
                      </a:pPr>
                      <a:r>
                        <a:rPr sz="1100" spc="-50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—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53035" marB="0">
                    <a:lnL w="12700">
                      <a:solidFill>
                        <a:srgbClr val="E1E8EF"/>
                      </a:solidFill>
                      <a:prstDash val="solid"/>
                    </a:lnL>
                    <a:lnR w="12700">
                      <a:solidFill>
                        <a:srgbClr val="E1E8EF"/>
                      </a:solidFill>
                      <a:prstDash val="solid"/>
                    </a:lnR>
                    <a:lnT w="12700">
                      <a:solidFill>
                        <a:srgbClr val="E1E8EF"/>
                      </a:solidFill>
                      <a:prstDash val="solid"/>
                    </a:lnT>
                    <a:lnB w="12700">
                      <a:solidFill>
                        <a:srgbClr val="E1E8E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object 14"/>
          <p:cNvSpPr txBox="1"/>
          <p:nvPr/>
        </p:nvSpPr>
        <p:spPr>
          <a:xfrm>
            <a:off x="6486271" y="1077023"/>
            <a:ext cx="51244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0E172A"/>
                </a:solidFill>
                <a:latin typeface="Calibri"/>
                <a:cs typeface="Calibri"/>
              </a:rPr>
              <a:t>Barème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500876" y="1357375"/>
            <a:ext cx="2419350" cy="495300"/>
          </a:xfrm>
          <a:prstGeom prst="rect">
            <a:avLst/>
          </a:prstGeom>
          <a:solidFill>
            <a:srgbClr val="ECE9FD"/>
          </a:solidFill>
          <a:ln w="12700">
            <a:solidFill>
              <a:srgbClr val="7B39EC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95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</a:pPr>
            <a:r>
              <a:rPr sz="950" b="1" dirty="0">
                <a:solidFill>
                  <a:srgbClr val="7B39EC"/>
                </a:solidFill>
                <a:latin typeface="Calibri"/>
                <a:cs typeface="Calibri"/>
              </a:rPr>
              <a:t>α</a:t>
            </a:r>
            <a:r>
              <a:rPr sz="950" b="1" spc="70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7B39EC"/>
                </a:solidFill>
                <a:latin typeface="Calibri"/>
                <a:cs typeface="Calibri"/>
              </a:rPr>
              <a:t>≥</a:t>
            </a:r>
            <a:r>
              <a:rPr sz="950" b="1" spc="90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7B39EC"/>
                </a:solidFill>
                <a:latin typeface="Calibri"/>
                <a:cs typeface="Calibri"/>
              </a:rPr>
              <a:t>0.9</a:t>
            </a:r>
            <a:r>
              <a:rPr sz="950" b="1" spc="290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7B39EC"/>
                </a:solidFill>
                <a:latin typeface="Calibri"/>
                <a:cs typeface="Calibri"/>
              </a:rPr>
              <a:t>—</a:t>
            </a:r>
            <a:r>
              <a:rPr sz="950" b="1" spc="310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7B39EC"/>
                </a:solidFill>
                <a:latin typeface="Calibri"/>
                <a:cs typeface="Calibri"/>
              </a:rPr>
              <a:t>Excellente</a:t>
            </a:r>
            <a:r>
              <a:rPr sz="950" b="1" spc="40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950" spc="-50" dirty="0">
                <a:solidFill>
                  <a:srgbClr val="7B39EC"/>
                </a:solidFill>
                <a:latin typeface="Segoe UI Symbol"/>
                <a:cs typeface="Segoe UI Symbol"/>
              </a:rPr>
              <a:t>✓</a:t>
            </a:r>
            <a:endParaRPr sz="950">
              <a:latin typeface="Segoe UI Symbol"/>
              <a:cs typeface="Segoe UI Symbo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500876" y="1909826"/>
            <a:ext cx="2419350" cy="495300"/>
          </a:xfrm>
          <a:custGeom>
            <a:avLst/>
            <a:gdLst/>
            <a:ahLst/>
            <a:cxnLst/>
            <a:rect l="l" t="t" r="r" b="b"/>
            <a:pathLst>
              <a:path w="2419350" h="495300">
                <a:moveTo>
                  <a:pt x="0" y="495300"/>
                </a:moveTo>
                <a:lnTo>
                  <a:pt x="2419350" y="495300"/>
                </a:lnTo>
                <a:lnTo>
                  <a:pt x="241935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12700">
            <a:solidFill>
              <a:srgbClr val="E1E8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507226" y="2026602"/>
            <a:ext cx="240665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8255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α</a:t>
            </a:r>
            <a:r>
              <a:rPr sz="950" spc="6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≥</a:t>
            </a:r>
            <a:r>
              <a:rPr sz="950" spc="-1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0.8</a:t>
            </a:r>
            <a:r>
              <a:rPr sz="950" spc="29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—</a:t>
            </a:r>
            <a:r>
              <a:rPr sz="950" spc="26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Bonne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500876" y="2452751"/>
            <a:ext cx="2419350" cy="495300"/>
          </a:xfrm>
          <a:custGeom>
            <a:avLst/>
            <a:gdLst/>
            <a:ahLst/>
            <a:cxnLst/>
            <a:rect l="l" t="t" r="r" b="b"/>
            <a:pathLst>
              <a:path w="2419350" h="495300">
                <a:moveTo>
                  <a:pt x="0" y="495300"/>
                </a:moveTo>
                <a:lnTo>
                  <a:pt x="2419350" y="495300"/>
                </a:lnTo>
                <a:lnTo>
                  <a:pt x="241935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12700">
            <a:solidFill>
              <a:srgbClr val="E1E8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507226" y="2576131"/>
            <a:ext cx="240665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8255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α</a:t>
            </a:r>
            <a:r>
              <a:rPr sz="950" spc="6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≥</a:t>
            </a:r>
            <a:r>
              <a:rPr sz="950" spc="-1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0.7</a:t>
            </a:r>
            <a:r>
              <a:rPr sz="950" spc="29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—</a:t>
            </a:r>
            <a:r>
              <a:rPr sz="950" spc="26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Acceptable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500876" y="3005201"/>
            <a:ext cx="2419350" cy="495300"/>
          </a:xfrm>
          <a:prstGeom prst="rect">
            <a:avLst/>
          </a:prstGeom>
          <a:ln w="12700">
            <a:solidFill>
              <a:srgbClr val="E1E8EF"/>
            </a:solidFill>
          </a:ln>
        </p:spPr>
        <p:txBody>
          <a:bodyPr vert="horz" wrap="square" lIns="0" tIns="136525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075"/>
              </a:spcBef>
            </a:pP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α</a:t>
            </a:r>
            <a:r>
              <a:rPr sz="950" spc="6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&lt;</a:t>
            </a:r>
            <a:r>
              <a:rPr sz="950" spc="-1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0.7</a:t>
            </a:r>
            <a:r>
              <a:rPr sz="950" spc="28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—</a:t>
            </a:r>
            <a:r>
              <a:rPr sz="950" spc="26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Faible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80987" y="3957637"/>
            <a:ext cx="8591550" cy="819150"/>
          </a:xfrm>
          <a:prstGeom prst="rect">
            <a:avLst/>
          </a:prstGeom>
          <a:solidFill>
            <a:srgbClr val="ECE9FD"/>
          </a:solidFill>
          <a:ln w="12700">
            <a:solidFill>
              <a:srgbClr val="7B39EC"/>
            </a:solidFill>
          </a:ln>
        </p:spPr>
        <p:txBody>
          <a:bodyPr vert="horz" wrap="square" lIns="0" tIns="869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85"/>
              </a:spcBef>
            </a:pPr>
            <a:endParaRPr sz="1050">
              <a:latin typeface="Times New Roman"/>
              <a:cs typeface="Times New Roman"/>
            </a:endParaRPr>
          </a:p>
          <a:p>
            <a:pPr marL="176530" marR="210820">
              <a:lnSpc>
                <a:spcPct val="101400"/>
              </a:lnSpc>
            </a:pPr>
            <a:r>
              <a:rPr sz="1050" b="1" dirty="0">
                <a:solidFill>
                  <a:srgbClr val="0E172A"/>
                </a:solidFill>
                <a:latin typeface="Calibri"/>
                <a:cs typeface="Calibri"/>
              </a:rPr>
              <a:t>Conclusion</a:t>
            </a:r>
            <a:r>
              <a:rPr sz="1050" b="1" spc="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0E172A"/>
                </a:solidFill>
                <a:latin typeface="Calibri"/>
                <a:cs typeface="Calibri"/>
              </a:rPr>
              <a:t>:</a:t>
            </a:r>
            <a:r>
              <a:rPr sz="1050" b="1" spc="-4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Math,</a:t>
            </a:r>
            <a:r>
              <a:rPr sz="1050" spc="-5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Science</a:t>
            </a:r>
            <a:r>
              <a:rPr sz="1050" spc="5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et</a:t>
            </a:r>
            <a:r>
              <a:rPr sz="1050" spc="-6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Anglais</a:t>
            </a:r>
            <a:r>
              <a:rPr sz="1050" spc="-5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mesurent</a:t>
            </a:r>
            <a:r>
              <a:rPr sz="1050" spc="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de</a:t>
            </a:r>
            <a:r>
              <a:rPr sz="1050" spc="-2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façon</a:t>
            </a:r>
            <a:r>
              <a:rPr sz="1050" spc="2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0E172A"/>
                </a:solidFill>
                <a:latin typeface="Calibri"/>
                <a:cs typeface="Calibri"/>
              </a:rPr>
              <a:t>cohérente</a:t>
            </a:r>
            <a:r>
              <a:rPr sz="1050" spc="-2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un</a:t>
            </a:r>
            <a:r>
              <a:rPr sz="1050" spc="-4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même</a:t>
            </a:r>
            <a:r>
              <a:rPr sz="1050" spc="5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concept</a:t>
            </a:r>
            <a:r>
              <a:rPr sz="1050" spc="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—</a:t>
            </a:r>
            <a:r>
              <a:rPr sz="1050" spc="-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la</a:t>
            </a:r>
            <a:r>
              <a:rPr sz="1050" spc="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performance</a:t>
            </a:r>
            <a:r>
              <a:rPr sz="1050" spc="-1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0E172A"/>
                </a:solidFill>
                <a:latin typeface="Calibri"/>
                <a:cs typeface="Calibri"/>
              </a:rPr>
              <a:t>académique.</a:t>
            </a:r>
            <a:r>
              <a:rPr sz="1050" spc="-5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Cela</a:t>
            </a:r>
            <a:r>
              <a:rPr sz="1050" spc="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justifie</a:t>
            </a:r>
            <a:r>
              <a:rPr sz="1050" spc="5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0E172A"/>
                </a:solidFill>
                <a:latin typeface="Calibri"/>
                <a:cs typeface="Calibri"/>
              </a:rPr>
              <a:t>l'utilisation</a:t>
            </a:r>
            <a:r>
              <a:rPr sz="1050" spc="-4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du</a:t>
            </a:r>
            <a:r>
              <a:rPr sz="1050" spc="-6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0E172A"/>
                </a:solidFill>
                <a:latin typeface="Calibri"/>
                <a:cs typeface="Calibri"/>
              </a:rPr>
              <a:t>score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global</a:t>
            </a:r>
            <a:r>
              <a:rPr sz="1050" spc="5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0E172A"/>
                </a:solidFill>
                <a:latin typeface="Calibri"/>
                <a:cs typeface="Calibri"/>
              </a:rPr>
              <a:t>(overall_score)</a:t>
            </a:r>
            <a:r>
              <a:rPr sz="1050" spc="-2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comme</a:t>
            </a:r>
            <a:r>
              <a:rPr sz="1050" spc="-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0E172A"/>
                </a:solidFill>
                <a:latin typeface="Calibri"/>
                <a:cs typeface="Calibri"/>
              </a:rPr>
              <a:t>variable synthétique.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696456" y="4936807"/>
            <a:ext cx="2195195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i="1" dirty="0">
                <a:solidFill>
                  <a:srgbClr val="93A2B8"/>
                </a:solidFill>
                <a:latin typeface="Calibri"/>
                <a:cs typeface="Calibri"/>
              </a:rPr>
              <a:t>Section</a:t>
            </a:r>
            <a:r>
              <a:rPr sz="800" i="1" spc="-10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93A2B8"/>
                </a:solidFill>
                <a:latin typeface="Calibri"/>
                <a:cs typeface="Calibri"/>
              </a:rPr>
              <a:t>1</a:t>
            </a:r>
            <a:r>
              <a:rPr sz="800" i="1" spc="-30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93A2B8"/>
                </a:solidFill>
                <a:latin typeface="Calibri"/>
                <a:cs typeface="Calibri"/>
              </a:rPr>
              <a:t>—</a:t>
            </a:r>
            <a:r>
              <a:rPr sz="800" i="1" spc="-25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93A2B8"/>
                </a:solidFill>
                <a:latin typeface="Calibri"/>
                <a:cs typeface="Calibri"/>
              </a:rPr>
              <a:t>Analyse</a:t>
            </a:r>
            <a:r>
              <a:rPr sz="800" i="1" spc="-50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93A2B8"/>
                </a:solidFill>
                <a:latin typeface="Calibri"/>
                <a:cs typeface="Calibri"/>
              </a:rPr>
              <a:t>de</a:t>
            </a:r>
            <a:r>
              <a:rPr sz="800" i="1" spc="-55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93A2B8"/>
                </a:solidFill>
                <a:latin typeface="Calibri"/>
                <a:cs typeface="Calibri"/>
              </a:rPr>
              <a:t>Fiabilité</a:t>
            </a:r>
            <a:r>
              <a:rPr sz="800" i="1" spc="-50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93A2B8"/>
                </a:solidFill>
                <a:latin typeface="Calibri"/>
                <a:cs typeface="Calibri"/>
              </a:rPr>
              <a:t>(Alpha</a:t>
            </a:r>
            <a:r>
              <a:rPr sz="800" i="1" spc="-5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93A2B8"/>
                </a:solidFill>
                <a:latin typeface="Calibri"/>
                <a:cs typeface="Calibri"/>
              </a:rPr>
              <a:t>de</a:t>
            </a:r>
            <a:r>
              <a:rPr sz="800" i="1" spc="25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800" i="1" spc="-10" dirty="0">
                <a:solidFill>
                  <a:srgbClr val="93A2B8"/>
                </a:solidFill>
                <a:latin typeface="Calibri"/>
                <a:cs typeface="Calibri"/>
              </a:rPr>
              <a:t>Cronbach)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D938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6350" y="-6350"/>
            <a:ext cx="4132579" cy="4132579"/>
            <a:chOff x="-6350" y="-6350"/>
            <a:chExt cx="4132579" cy="4132579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4119879" cy="4119879"/>
            </a:xfrm>
            <a:custGeom>
              <a:avLst/>
              <a:gdLst/>
              <a:ahLst/>
              <a:cxnLst/>
              <a:rect l="l" t="t" r="r" b="b"/>
              <a:pathLst>
                <a:path w="4119879" h="4119879">
                  <a:moveTo>
                    <a:pt x="3540841" y="0"/>
                  </a:moveTo>
                  <a:lnTo>
                    <a:pt x="0" y="0"/>
                  </a:lnTo>
                  <a:lnTo>
                    <a:pt x="0" y="3540769"/>
                  </a:lnTo>
                  <a:lnTo>
                    <a:pt x="62432" y="3591027"/>
                  </a:lnTo>
                  <a:lnTo>
                    <a:pt x="98175" y="3618320"/>
                  </a:lnTo>
                  <a:lnTo>
                    <a:pt x="134416" y="3644986"/>
                  </a:lnTo>
                  <a:lnTo>
                    <a:pt x="171147" y="3671014"/>
                  </a:lnTo>
                  <a:lnTo>
                    <a:pt x="208360" y="3696398"/>
                  </a:lnTo>
                  <a:lnTo>
                    <a:pt x="246046" y="3721129"/>
                  </a:lnTo>
                  <a:lnTo>
                    <a:pt x="284199" y="3745199"/>
                  </a:lnTo>
                  <a:lnTo>
                    <a:pt x="322808" y="3768600"/>
                  </a:lnTo>
                  <a:lnTo>
                    <a:pt x="361867" y="3791324"/>
                  </a:lnTo>
                  <a:lnTo>
                    <a:pt x="401368" y="3813362"/>
                  </a:lnTo>
                  <a:lnTo>
                    <a:pt x="441301" y="3834707"/>
                  </a:lnTo>
                  <a:lnTo>
                    <a:pt x="481659" y="3855349"/>
                  </a:lnTo>
                  <a:lnTo>
                    <a:pt x="522434" y="3875282"/>
                  </a:lnTo>
                  <a:lnTo>
                    <a:pt x="563618" y="3894497"/>
                  </a:lnTo>
                  <a:lnTo>
                    <a:pt x="605202" y="3912986"/>
                  </a:lnTo>
                  <a:lnTo>
                    <a:pt x="647178" y="3930741"/>
                  </a:lnTo>
                  <a:lnTo>
                    <a:pt x="689539" y="3947753"/>
                  </a:lnTo>
                  <a:lnTo>
                    <a:pt x="732276" y="3964015"/>
                  </a:lnTo>
                  <a:lnTo>
                    <a:pt x="775380" y="3979518"/>
                  </a:lnTo>
                  <a:lnTo>
                    <a:pt x="818845" y="3994254"/>
                  </a:lnTo>
                  <a:lnTo>
                    <a:pt x="862661" y="4008215"/>
                  </a:lnTo>
                  <a:lnTo>
                    <a:pt x="906820" y="4021394"/>
                  </a:lnTo>
                  <a:lnTo>
                    <a:pt x="951315" y="4033781"/>
                  </a:lnTo>
                  <a:lnTo>
                    <a:pt x="996137" y="4045368"/>
                  </a:lnTo>
                  <a:lnTo>
                    <a:pt x="1041278" y="4056148"/>
                  </a:lnTo>
                  <a:lnTo>
                    <a:pt x="1086731" y="4066113"/>
                  </a:lnTo>
                  <a:lnTo>
                    <a:pt x="1132486" y="4075253"/>
                  </a:lnTo>
                  <a:lnTo>
                    <a:pt x="1178535" y="4083562"/>
                  </a:lnTo>
                  <a:lnTo>
                    <a:pt x="1224871" y="4091031"/>
                  </a:lnTo>
                  <a:lnTo>
                    <a:pt x="1271486" y="4097651"/>
                  </a:lnTo>
                  <a:lnTo>
                    <a:pt x="1318371" y="4103416"/>
                  </a:lnTo>
                  <a:lnTo>
                    <a:pt x="1365518" y="4108315"/>
                  </a:lnTo>
                  <a:lnTo>
                    <a:pt x="1412918" y="4112342"/>
                  </a:lnTo>
                  <a:lnTo>
                    <a:pt x="1460565" y="4115489"/>
                  </a:lnTo>
                  <a:lnTo>
                    <a:pt x="1508449" y="4117746"/>
                  </a:lnTo>
                  <a:lnTo>
                    <a:pt x="1556563" y="4119107"/>
                  </a:lnTo>
                  <a:lnTo>
                    <a:pt x="1604899" y="4119562"/>
                  </a:lnTo>
                  <a:lnTo>
                    <a:pt x="1653239" y="4119107"/>
                  </a:lnTo>
                  <a:lnTo>
                    <a:pt x="1701359" y="4117746"/>
                  </a:lnTo>
                  <a:lnTo>
                    <a:pt x="1749249" y="4115489"/>
                  </a:lnTo>
                  <a:lnTo>
                    <a:pt x="1796901" y="4112342"/>
                  </a:lnTo>
                  <a:lnTo>
                    <a:pt x="1844307" y="4108315"/>
                  </a:lnTo>
                  <a:lnTo>
                    <a:pt x="1891459" y="4103416"/>
                  </a:lnTo>
                  <a:lnTo>
                    <a:pt x="1938349" y="4097651"/>
                  </a:lnTo>
                  <a:lnTo>
                    <a:pt x="1984968" y="4091031"/>
                  </a:lnTo>
                  <a:lnTo>
                    <a:pt x="2031309" y="4083562"/>
                  </a:lnTo>
                  <a:lnTo>
                    <a:pt x="2077364" y="4075253"/>
                  </a:lnTo>
                  <a:lnTo>
                    <a:pt x="2123123" y="4066113"/>
                  </a:lnTo>
                  <a:lnTo>
                    <a:pt x="2168580" y="4056148"/>
                  </a:lnTo>
                  <a:lnTo>
                    <a:pt x="2213726" y="4045368"/>
                  </a:lnTo>
                  <a:lnTo>
                    <a:pt x="2258552" y="4033781"/>
                  </a:lnTo>
                  <a:lnTo>
                    <a:pt x="2303051" y="4021394"/>
                  </a:lnTo>
                  <a:lnTo>
                    <a:pt x="2347215" y="4008215"/>
                  </a:lnTo>
                  <a:lnTo>
                    <a:pt x="2391035" y="3994254"/>
                  </a:lnTo>
                  <a:lnTo>
                    <a:pt x="2434503" y="3979518"/>
                  </a:lnTo>
                  <a:lnTo>
                    <a:pt x="2477612" y="3964015"/>
                  </a:lnTo>
                  <a:lnTo>
                    <a:pt x="2520352" y="3947753"/>
                  </a:lnTo>
                  <a:lnTo>
                    <a:pt x="2562716" y="3930741"/>
                  </a:lnTo>
                  <a:lnTo>
                    <a:pt x="2604696" y="3912986"/>
                  </a:lnTo>
                  <a:lnTo>
                    <a:pt x="2646284" y="3894497"/>
                  </a:lnTo>
                  <a:lnTo>
                    <a:pt x="2687471" y="3875282"/>
                  </a:lnTo>
                  <a:lnTo>
                    <a:pt x="2728249" y="3855349"/>
                  </a:lnTo>
                  <a:lnTo>
                    <a:pt x="2768611" y="3834707"/>
                  </a:lnTo>
                  <a:lnTo>
                    <a:pt x="2808547" y="3813362"/>
                  </a:lnTo>
                  <a:lnTo>
                    <a:pt x="2848050" y="3791324"/>
                  </a:lnTo>
                  <a:lnTo>
                    <a:pt x="2887112" y="3768600"/>
                  </a:lnTo>
                  <a:lnTo>
                    <a:pt x="2925725" y="3745199"/>
                  </a:lnTo>
                  <a:lnTo>
                    <a:pt x="2963880" y="3721129"/>
                  </a:lnTo>
                  <a:lnTo>
                    <a:pt x="3001569" y="3696398"/>
                  </a:lnTo>
                  <a:lnTo>
                    <a:pt x="3038785" y="3671014"/>
                  </a:lnTo>
                  <a:lnTo>
                    <a:pt x="3075518" y="3644986"/>
                  </a:lnTo>
                  <a:lnTo>
                    <a:pt x="3111762" y="3618320"/>
                  </a:lnTo>
                  <a:lnTo>
                    <a:pt x="3147507" y="3591027"/>
                  </a:lnTo>
                  <a:lnTo>
                    <a:pt x="3182746" y="3563113"/>
                  </a:lnTo>
                  <a:lnTo>
                    <a:pt x="3217470" y="3534586"/>
                  </a:lnTo>
                  <a:lnTo>
                    <a:pt x="3251672" y="3505456"/>
                  </a:lnTo>
                  <a:lnTo>
                    <a:pt x="3285343" y="3475730"/>
                  </a:lnTo>
                  <a:lnTo>
                    <a:pt x="3318475" y="3445416"/>
                  </a:lnTo>
                  <a:lnTo>
                    <a:pt x="3351059" y="3414522"/>
                  </a:lnTo>
                  <a:lnTo>
                    <a:pt x="3383089" y="3383057"/>
                  </a:lnTo>
                  <a:lnTo>
                    <a:pt x="3414555" y="3351029"/>
                  </a:lnTo>
                  <a:lnTo>
                    <a:pt x="3445450" y="3318445"/>
                  </a:lnTo>
                  <a:lnTo>
                    <a:pt x="3475765" y="3285314"/>
                  </a:lnTo>
                  <a:lnTo>
                    <a:pt x="3505492" y="3251645"/>
                  </a:lnTo>
                  <a:lnTo>
                    <a:pt x="3534624" y="3217444"/>
                  </a:lnTo>
                  <a:lnTo>
                    <a:pt x="3563151" y="3182721"/>
                  </a:lnTo>
                  <a:lnTo>
                    <a:pt x="3591066" y="3147483"/>
                  </a:lnTo>
                  <a:lnTo>
                    <a:pt x="3618361" y="3111739"/>
                  </a:lnTo>
                  <a:lnTo>
                    <a:pt x="3645027" y="3075497"/>
                  </a:lnTo>
                  <a:lnTo>
                    <a:pt x="3671057" y="3038764"/>
                  </a:lnTo>
                  <a:lnTo>
                    <a:pt x="3696442" y="3001550"/>
                  </a:lnTo>
                  <a:lnTo>
                    <a:pt x="3721174" y="2963861"/>
                  </a:lnTo>
                  <a:lnTo>
                    <a:pt x="3745245" y="2925707"/>
                  </a:lnTo>
                  <a:lnTo>
                    <a:pt x="3768647" y="2887096"/>
                  </a:lnTo>
                  <a:lnTo>
                    <a:pt x="3791372" y="2848035"/>
                  </a:lnTo>
                  <a:lnTo>
                    <a:pt x="3813411" y="2808532"/>
                  </a:lnTo>
                  <a:lnTo>
                    <a:pt x="3834756" y="2768597"/>
                  </a:lnTo>
                  <a:lnTo>
                    <a:pt x="3855400" y="2728236"/>
                  </a:lnTo>
                  <a:lnTo>
                    <a:pt x="3875334" y="2687459"/>
                  </a:lnTo>
                  <a:lnTo>
                    <a:pt x="3894550" y="2646273"/>
                  </a:lnTo>
                  <a:lnTo>
                    <a:pt x="3913039" y="2604686"/>
                  </a:lnTo>
                  <a:lnTo>
                    <a:pt x="3930795" y="2562707"/>
                  </a:lnTo>
                  <a:lnTo>
                    <a:pt x="3947808" y="2520343"/>
                  </a:lnTo>
                  <a:lnTo>
                    <a:pt x="3964071" y="2477604"/>
                  </a:lnTo>
                  <a:lnTo>
                    <a:pt x="3979574" y="2434496"/>
                  </a:lnTo>
                  <a:lnTo>
                    <a:pt x="3994311" y="2391028"/>
                  </a:lnTo>
                  <a:lnTo>
                    <a:pt x="4008273" y="2347209"/>
                  </a:lnTo>
                  <a:lnTo>
                    <a:pt x="4021452" y="2303046"/>
                  </a:lnTo>
                  <a:lnTo>
                    <a:pt x="4033840" y="2258547"/>
                  </a:lnTo>
                  <a:lnTo>
                    <a:pt x="4045428" y="2213722"/>
                  </a:lnTo>
                  <a:lnTo>
                    <a:pt x="4056208" y="2168576"/>
                  </a:lnTo>
                  <a:lnTo>
                    <a:pt x="4066173" y="2123120"/>
                  </a:lnTo>
                  <a:lnTo>
                    <a:pt x="4075315" y="2077361"/>
                  </a:lnTo>
                  <a:lnTo>
                    <a:pt x="4083624" y="2031307"/>
                  </a:lnTo>
                  <a:lnTo>
                    <a:pt x="4091093" y="1984967"/>
                  </a:lnTo>
                  <a:lnTo>
                    <a:pt x="4097714" y="1938348"/>
                  </a:lnTo>
                  <a:lnTo>
                    <a:pt x="4103478" y="1891458"/>
                  </a:lnTo>
                  <a:lnTo>
                    <a:pt x="4108378" y="1844306"/>
                  </a:lnTo>
                  <a:lnTo>
                    <a:pt x="4112406" y="1796900"/>
                  </a:lnTo>
                  <a:lnTo>
                    <a:pt x="4115552" y="1749249"/>
                  </a:lnTo>
                  <a:lnTo>
                    <a:pt x="4117810" y="1701359"/>
                  </a:lnTo>
                  <a:lnTo>
                    <a:pt x="4119170" y="1653239"/>
                  </a:lnTo>
                  <a:lnTo>
                    <a:pt x="4119626" y="1604899"/>
                  </a:lnTo>
                  <a:lnTo>
                    <a:pt x="4119170" y="1556562"/>
                  </a:lnTo>
                  <a:lnTo>
                    <a:pt x="4117810" y="1508447"/>
                  </a:lnTo>
                  <a:lnTo>
                    <a:pt x="4115552" y="1460561"/>
                  </a:lnTo>
                  <a:lnTo>
                    <a:pt x="4112406" y="1412913"/>
                  </a:lnTo>
                  <a:lnTo>
                    <a:pt x="4108378" y="1365511"/>
                  </a:lnTo>
                  <a:lnTo>
                    <a:pt x="4103478" y="1318363"/>
                  </a:lnTo>
                  <a:lnTo>
                    <a:pt x="4097714" y="1271477"/>
                  </a:lnTo>
                  <a:lnTo>
                    <a:pt x="4091093" y="1224861"/>
                  </a:lnTo>
                  <a:lnTo>
                    <a:pt x="4083624" y="1178524"/>
                  </a:lnTo>
                  <a:lnTo>
                    <a:pt x="4075315" y="1132473"/>
                  </a:lnTo>
                  <a:lnTo>
                    <a:pt x="4066173" y="1086717"/>
                  </a:lnTo>
                  <a:lnTo>
                    <a:pt x="4056208" y="1041263"/>
                  </a:lnTo>
                  <a:lnTo>
                    <a:pt x="4045428" y="996121"/>
                  </a:lnTo>
                  <a:lnTo>
                    <a:pt x="4033840" y="951297"/>
                  </a:lnTo>
                  <a:lnTo>
                    <a:pt x="4021452" y="906801"/>
                  </a:lnTo>
                  <a:lnTo>
                    <a:pt x="4008273" y="862641"/>
                  </a:lnTo>
                  <a:lnTo>
                    <a:pt x="3994311" y="818824"/>
                  </a:lnTo>
                  <a:lnTo>
                    <a:pt x="3979574" y="775358"/>
                  </a:lnTo>
                  <a:lnTo>
                    <a:pt x="3964071" y="732252"/>
                  </a:lnTo>
                  <a:lnTo>
                    <a:pt x="3947808" y="689514"/>
                  </a:lnTo>
                  <a:lnTo>
                    <a:pt x="3930795" y="647153"/>
                  </a:lnTo>
                  <a:lnTo>
                    <a:pt x="3913039" y="605175"/>
                  </a:lnTo>
                  <a:lnTo>
                    <a:pt x="3894550" y="563590"/>
                  </a:lnTo>
                  <a:lnTo>
                    <a:pt x="3875334" y="522405"/>
                  </a:lnTo>
                  <a:lnTo>
                    <a:pt x="3855400" y="481629"/>
                  </a:lnTo>
                  <a:lnTo>
                    <a:pt x="3834756" y="441270"/>
                  </a:lnTo>
                  <a:lnTo>
                    <a:pt x="3813411" y="401336"/>
                  </a:lnTo>
                  <a:lnTo>
                    <a:pt x="3791372" y="361835"/>
                  </a:lnTo>
                  <a:lnTo>
                    <a:pt x="3768647" y="322775"/>
                  </a:lnTo>
                  <a:lnTo>
                    <a:pt x="3745245" y="284164"/>
                  </a:lnTo>
                  <a:lnTo>
                    <a:pt x="3721174" y="246011"/>
                  </a:lnTo>
                  <a:lnTo>
                    <a:pt x="3696442" y="208323"/>
                  </a:lnTo>
                  <a:lnTo>
                    <a:pt x="3671057" y="171109"/>
                  </a:lnTo>
                  <a:lnTo>
                    <a:pt x="3645027" y="134377"/>
                  </a:lnTo>
                  <a:lnTo>
                    <a:pt x="3618361" y="98136"/>
                  </a:lnTo>
                  <a:lnTo>
                    <a:pt x="3591066" y="62392"/>
                  </a:lnTo>
                  <a:lnTo>
                    <a:pt x="3563151" y="27155"/>
                  </a:lnTo>
                  <a:lnTo>
                    <a:pt x="3540841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4119879" cy="4119879"/>
            </a:xfrm>
            <a:custGeom>
              <a:avLst/>
              <a:gdLst/>
              <a:ahLst/>
              <a:cxnLst/>
              <a:rect l="l" t="t" r="r" b="b"/>
              <a:pathLst>
                <a:path w="4119879" h="4119879">
                  <a:moveTo>
                    <a:pt x="3540841" y="0"/>
                  </a:moveTo>
                  <a:lnTo>
                    <a:pt x="3591066" y="62392"/>
                  </a:lnTo>
                  <a:lnTo>
                    <a:pt x="3618361" y="98136"/>
                  </a:lnTo>
                  <a:lnTo>
                    <a:pt x="3645027" y="134377"/>
                  </a:lnTo>
                  <a:lnTo>
                    <a:pt x="3671057" y="171109"/>
                  </a:lnTo>
                  <a:lnTo>
                    <a:pt x="3696442" y="208323"/>
                  </a:lnTo>
                  <a:lnTo>
                    <a:pt x="3721174" y="246011"/>
                  </a:lnTo>
                  <a:lnTo>
                    <a:pt x="3745245" y="284164"/>
                  </a:lnTo>
                  <a:lnTo>
                    <a:pt x="3768647" y="322775"/>
                  </a:lnTo>
                  <a:lnTo>
                    <a:pt x="3791372" y="361835"/>
                  </a:lnTo>
                  <a:lnTo>
                    <a:pt x="3813411" y="401336"/>
                  </a:lnTo>
                  <a:lnTo>
                    <a:pt x="3834756" y="441270"/>
                  </a:lnTo>
                  <a:lnTo>
                    <a:pt x="3855400" y="481629"/>
                  </a:lnTo>
                  <a:lnTo>
                    <a:pt x="3875334" y="522405"/>
                  </a:lnTo>
                  <a:lnTo>
                    <a:pt x="3894550" y="563590"/>
                  </a:lnTo>
                  <a:lnTo>
                    <a:pt x="3913039" y="605175"/>
                  </a:lnTo>
                  <a:lnTo>
                    <a:pt x="3930795" y="647153"/>
                  </a:lnTo>
                  <a:lnTo>
                    <a:pt x="3947808" y="689514"/>
                  </a:lnTo>
                  <a:lnTo>
                    <a:pt x="3964071" y="732252"/>
                  </a:lnTo>
                  <a:lnTo>
                    <a:pt x="3979574" y="775358"/>
                  </a:lnTo>
                  <a:lnTo>
                    <a:pt x="3994311" y="818824"/>
                  </a:lnTo>
                  <a:lnTo>
                    <a:pt x="4008273" y="862641"/>
                  </a:lnTo>
                  <a:lnTo>
                    <a:pt x="4021452" y="906801"/>
                  </a:lnTo>
                  <a:lnTo>
                    <a:pt x="4033840" y="951297"/>
                  </a:lnTo>
                  <a:lnTo>
                    <a:pt x="4045428" y="996121"/>
                  </a:lnTo>
                  <a:lnTo>
                    <a:pt x="4056208" y="1041263"/>
                  </a:lnTo>
                  <a:lnTo>
                    <a:pt x="4066173" y="1086717"/>
                  </a:lnTo>
                  <a:lnTo>
                    <a:pt x="4075315" y="1132473"/>
                  </a:lnTo>
                  <a:lnTo>
                    <a:pt x="4083624" y="1178524"/>
                  </a:lnTo>
                  <a:lnTo>
                    <a:pt x="4091093" y="1224861"/>
                  </a:lnTo>
                  <a:lnTo>
                    <a:pt x="4097714" y="1271477"/>
                  </a:lnTo>
                  <a:lnTo>
                    <a:pt x="4103478" y="1318363"/>
                  </a:lnTo>
                  <a:lnTo>
                    <a:pt x="4108378" y="1365511"/>
                  </a:lnTo>
                  <a:lnTo>
                    <a:pt x="4112406" y="1412913"/>
                  </a:lnTo>
                  <a:lnTo>
                    <a:pt x="4115552" y="1460561"/>
                  </a:lnTo>
                  <a:lnTo>
                    <a:pt x="4117810" y="1508447"/>
                  </a:lnTo>
                  <a:lnTo>
                    <a:pt x="4119170" y="1556562"/>
                  </a:lnTo>
                  <a:lnTo>
                    <a:pt x="4119626" y="1604899"/>
                  </a:lnTo>
                  <a:lnTo>
                    <a:pt x="4119170" y="1653239"/>
                  </a:lnTo>
                  <a:lnTo>
                    <a:pt x="4117810" y="1701359"/>
                  </a:lnTo>
                  <a:lnTo>
                    <a:pt x="4115552" y="1749249"/>
                  </a:lnTo>
                  <a:lnTo>
                    <a:pt x="4112406" y="1796900"/>
                  </a:lnTo>
                  <a:lnTo>
                    <a:pt x="4108378" y="1844306"/>
                  </a:lnTo>
                  <a:lnTo>
                    <a:pt x="4103478" y="1891458"/>
                  </a:lnTo>
                  <a:lnTo>
                    <a:pt x="4097714" y="1938348"/>
                  </a:lnTo>
                  <a:lnTo>
                    <a:pt x="4091093" y="1984967"/>
                  </a:lnTo>
                  <a:lnTo>
                    <a:pt x="4083624" y="2031307"/>
                  </a:lnTo>
                  <a:lnTo>
                    <a:pt x="4075315" y="2077361"/>
                  </a:lnTo>
                  <a:lnTo>
                    <a:pt x="4066173" y="2123120"/>
                  </a:lnTo>
                  <a:lnTo>
                    <a:pt x="4056208" y="2168576"/>
                  </a:lnTo>
                  <a:lnTo>
                    <a:pt x="4045428" y="2213722"/>
                  </a:lnTo>
                  <a:lnTo>
                    <a:pt x="4033840" y="2258547"/>
                  </a:lnTo>
                  <a:lnTo>
                    <a:pt x="4021452" y="2303046"/>
                  </a:lnTo>
                  <a:lnTo>
                    <a:pt x="4008273" y="2347209"/>
                  </a:lnTo>
                  <a:lnTo>
                    <a:pt x="3994311" y="2391028"/>
                  </a:lnTo>
                  <a:lnTo>
                    <a:pt x="3979574" y="2434496"/>
                  </a:lnTo>
                  <a:lnTo>
                    <a:pt x="3964071" y="2477604"/>
                  </a:lnTo>
                  <a:lnTo>
                    <a:pt x="3947808" y="2520343"/>
                  </a:lnTo>
                  <a:lnTo>
                    <a:pt x="3930795" y="2562707"/>
                  </a:lnTo>
                  <a:lnTo>
                    <a:pt x="3913039" y="2604686"/>
                  </a:lnTo>
                  <a:lnTo>
                    <a:pt x="3894550" y="2646273"/>
                  </a:lnTo>
                  <a:lnTo>
                    <a:pt x="3875334" y="2687459"/>
                  </a:lnTo>
                  <a:lnTo>
                    <a:pt x="3855400" y="2728236"/>
                  </a:lnTo>
                  <a:lnTo>
                    <a:pt x="3834756" y="2768597"/>
                  </a:lnTo>
                  <a:lnTo>
                    <a:pt x="3813411" y="2808532"/>
                  </a:lnTo>
                  <a:lnTo>
                    <a:pt x="3791372" y="2848035"/>
                  </a:lnTo>
                  <a:lnTo>
                    <a:pt x="3768647" y="2887096"/>
                  </a:lnTo>
                  <a:lnTo>
                    <a:pt x="3745245" y="2925707"/>
                  </a:lnTo>
                  <a:lnTo>
                    <a:pt x="3721174" y="2963861"/>
                  </a:lnTo>
                  <a:lnTo>
                    <a:pt x="3696442" y="3001550"/>
                  </a:lnTo>
                  <a:lnTo>
                    <a:pt x="3671057" y="3038764"/>
                  </a:lnTo>
                  <a:lnTo>
                    <a:pt x="3645027" y="3075497"/>
                  </a:lnTo>
                  <a:lnTo>
                    <a:pt x="3618361" y="3111739"/>
                  </a:lnTo>
                  <a:lnTo>
                    <a:pt x="3591066" y="3147483"/>
                  </a:lnTo>
                  <a:lnTo>
                    <a:pt x="3563151" y="3182721"/>
                  </a:lnTo>
                  <a:lnTo>
                    <a:pt x="3534624" y="3217444"/>
                  </a:lnTo>
                  <a:lnTo>
                    <a:pt x="3505492" y="3251645"/>
                  </a:lnTo>
                  <a:lnTo>
                    <a:pt x="3475765" y="3285314"/>
                  </a:lnTo>
                  <a:lnTo>
                    <a:pt x="3445450" y="3318445"/>
                  </a:lnTo>
                  <a:lnTo>
                    <a:pt x="3414555" y="3351029"/>
                  </a:lnTo>
                  <a:lnTo>
                    <a:pt x="3383089" y="3383057"/>
                  </a:lnTo>
                  <a:lnTo>
                    <a:pt x="3351059" y="3414522"/>
                  </a:lnTo>
                  <a:lnTo>
                    <a:pt x="3318475" y="3445416"/>
                  </a:lnTo>
                  <a:lnTo>
                    <a:pt x="3285343" y="3475730"/>
                  </a:lnTo>
                  <a:lnTo>
                    <a:pt x="3251672" y="3505456"/>
                  </a:lnTo>
                  <a:lnTo>
                    <a:pt x="3217470" y="3534586"/>
                  </a:lnTo>
                  <a:lnTo>
                    <a:pt x="3182746" y="3563113"/>
                  </a:lnTo>
                  <a:lnTo>
                    <a:pt x="3147507" y="3591027"/>
                  </a:lnTo>
                  <a:lnTo>
                    <a:pt x="3111762" y="3618320"/>
                  </a:lnTo>
                  <a:lnTo>
                    <a:pt x="3075518" y="3644986"/>
                  </a:lnTo>
                  <a:lnTo>
                    <a:pt x="3038785" y="3671014"/>
                  </a:lnTo>
                  <a:lnTo>
                    <a:pt x="3001569" y="3696398"/>
                  </a:lnTo>
                  <a:lnTo>
                    <a:pt x="2963880" y="3721129"/>
                  </a:lnTo>
                  <a:lnTo>
                    <a:pt x="2925725" y="3745199"/>
                  </a:lnTo>
                  <a:lnTo>
                    <a:pt x="2887112" y="3768600"/>
                  </a:lnTo>
                  <a:lnTo>
                    <a:pt x="2848050" y="3791324"/>
                  </a:lnTo>
                  <a:lnTo>
                    <a:pt x="2808547" y="3813362"/>
                  </a:lnTo>
                  <a:lnTo>
                    <a:pt x="2768611" y="3834707"/>
                  </a:lnTo>
                  <a:lnTo>
                    <a:pt x="2728249" y="3855349"/>
                  </a:lnTo>
                  <a:lnTo>
                    <a:pt x="2687471" y="3875282"/>
                  </a:lnTo>
                  <a:lnTo>
                    <a:pt x="2646284" y="3894497"/>
                  </a:lnTo>
                  <a:lnTo>
                    <a:pt x="2604696" y="3912986"/>
                  </a:lnTo>
                  <a:lnTo>
                    <a:pt x="2562716" y="3930741"/>
                  </a:lnTo>
                  <a:lnTo>
                    <a:pt x="2520352" y="3947753"/>
                  </a:lnTo>
                  <a:lnTo>
                    <a:pt x="2477612" y="3964015"/>
                  </a:lnTo>
                  <a:lnTo>
                    <a:pt x="2434503" y="3979518"/>
                  </a:lnTo>
                  <a:lnTo>
                    <a:pt x="2391035" y="3994254"/>
                  </a:lnTo>
                  <a:lnTo>
                    <a:pt x="2347215" y="4008215"/>
                  </a:lnTo>
                  <a:lnTo>
                    <a:pt x="2303051" y="4021394"/>
                  </a:lnTo>
                  <a:lnTo>
                    <a:pt x="2258552" y="4033781"/>
                  </a:lnTo>
                  <a:lnTo>
                    <a:pt x="2213726" y="4045368"/>
                  </a:lnTo>
                  <a:lnTo>
                    <a:pt x="2168580" y="4056148"/>
                  </a:lnTo>
                  <a:lnTo>
                    <a:pt x="2123123" y="4066113"/>
                  </a:lnTo>
                  <a:lnTo>
                    <a:pt x="2077364" y="4075253"/>
                  </a:lnTo>
                  <a:lnTo>
                    <a:pt x="2031309" y="4083562"/>
                  </a:lnTo>
                  <a:lnTo>
                    <a:pt x="1984968" y="4091031"/>
                  </a:lnTo>
                  <a:lnTo>
                    <a:pt x="1938349" y="4097651"/>
                  </a:lnTo>
                  <a:lnTo>
                    <a:pt x="1891459" y="4103416"/>
                  </a:lnTo>
                  <a:lnTo>
                    <a:pt x="1844307" y="4108315"/>
                  </a:lnTo>
                  <a:lnTo>
                    <a:pt x="1796901" y="4112342"/>
                  </a:lnTo>
                  <a:lnTo>
                    <a:pt x="1749249" y="4115489"/>
                  </a:lnTo>
                  <a:lnTo>
                    <a:pt x="1701359" y="4117746"/>
                  </a:lnTo>
                  <a:lnTo>
                    <a:pt x="1653239" y="4119107"/>
                  </a:lnTo>
                  <a:lnTo>
                    <a:pt x="1604899" y="4119562"/>
                  </a:lnTo>
                  <a:lnTo>
                    <a:pt x="1556563" y="4119107"/>
                  </a:lnTo>
                  <a:lnTo>
                    <a:pt x="1508449" y="4117746"/>
                  </a:lnTo>
                  <a:lnTo>
                    <a:pt x="1460565" y="4115489"/>
                  </a:lnTo>
                  <a:lnTo>
                    <a:pt x="1412918" y="4112342"/>
                  </a:lnTo>
                  <a:lnTo>
                    <a:pt x="1365518" y="4108315"/>
                  </a:lnTo>
                  <a:lnTo>
                    <a:pt x="1318371" y="4103416"/>
                  </a:lnTo>
                  <a:lnTo>
                    <a:pt x="1271486" y="4097651"/>
                  </a:lnTo>
                  <a:lnTo>
                    <a:pt x="1224871" y="4091031"/>
                  </a:lnTo>
                  <a:lnTo>
                    <a:pt x="1178535" y="4083562"/>
                  </a:lnTo>
                  <a:lnTo>
                    <a:pt x="1132486" y="4075253"/>
                  </a:lnTo>
                  <a:lnTo>
                    <a:pt x="1086731" y="4066113"/>
                  </a:lnTo>
                  <a:lnTo>
                    <a:pt x="1041278" y="4056148"/>
                  </a:lnTo>
                  <a:lnTo>
                    <a:pt x="996137" y="4045368"/>
                  </a:lnTo>
                  <a:lnTo>
                    <a:pt x="951315" y="4033781"/>
                  </a:lnTo>
                  <a:lnTo>
                    <a:pt x="906820" y="4021394"/>
                  </a:lnTo>
                  <a:lnTo>
                    <a:pt x="862661" y="4008215"/>
                  </a:lnTo>
                  <a:lnTo>
                    <a:pt x="818845" y="3994254"/>
                  </a:lnTo>
                  <a:lnTo>
                    <a:pt x="775380" y="3979518"/>
                  </a:lnTo>
                  <a:lnTo>
                    <a:pt x="732276" y="3964015"/>
                  </a:lnTo>
                  <a:lnTo>
                    <a:pt x="689539" y="3947753"/>
                  </a:lnTo>
                  <a:lnTo>
                    <a:pt x="647178" y="3930741"/>
                  </a:lnTo>
                  <a:lnTo>
                    <a:pt x="605202" y="3912986"/>
                  </a:lnTo>
                  <a:lnTo>
                    <a:pt x="563618" y="3894497"/>
                  </a:lnTo>
                  <a:lnTo>
                    <a:pt x="522434" y="3875282"/>
                  </a:lnTo>
                  <a:lnTo>
                    <a:pt x="481659" y="3855349"/>
                  </a:lnTo>
                  <a:lnTo>
                    <a:pt x="441301" y="3834707"/>
                  </a:lnTo>
                  <a:lnTo>
                    <a:pt x="401368" y="3813362"/>
                  </a:lnTo>
                  <a:lnTo>
                    <a:pt x="361867" y="3791324"/>
                  </a:lnTo>
                  <a:lnTo>
                    <a:pt x="322808" y="3768600"/>
                  </a:lnTo>
                  <a:lnTo>
                    <a:pt x="284199" y="3745199"/>
                  </a:lnTo>
                  <a:lnTo>
                    <a:pt x="246046" y="3721129"/>
                  </a:lnTo>
                  <a:lnTo>
                    <a:pt x="208360" y="3696398"/>
                  </a:lnTo>
                  <a:lnTo>
                    <a:pt x="171147" y="3671014"/>
                  </a:lnTo>
                  <a:lnTo>
                    <a:pt x="134416" y="3644986"/>
                  </a:lnTo>
                  <a:lnTo>
                    <a:pt x="98175" y="3618320"/>
                  </a:lnTo>
                  <a:lnTo>
                    <a:pt x="62432" y="3591027"/>
                  </a:lnTo>
                  <a:lnTo>
                    <a:pt x="27196" y="3563113"/>
                  </a:lnTo>
                  <a:lnTo>
                    <a:pt x="0" y="3540769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5484876" y="1370075"/>
            <a:ext cx="3665854" cy="3780154"/>
            <a:chOff x="5484876" y="1370075"/>
            <a:chExt cx="3665854" cy="3780154"/>
          </a:xfrm>
        </p:grpSpPr>
        <p:sp>
          <p:nvSpPr>
            <p:cNvPr id="7" name="object 7"/>
            <p:cNvSpPr/>
            <p:nvPr/>
          </p:nvSpPr>
          <p:spPr>
            <a:xfrm>
              <a:off x="5491226" y="1376425"/>
              <a:ext cx="3653154" cy="3767454"/>
            </a:xfrm>
            <a:custGeom>
              <a:avLst/>
              <a:gdLst/>
              <a:ahLst/>
              <a:cxnLst/>
              <a:rect l="l" t="t" r="r" b="b"/>
              <a:pathLst>
                <a:path w="3653154" h="3767454">
                  <a:moveTo>
                    <a:pt x="2743200" y="0"/>
                  </a:moveTo>
                  <a:lnTo>
                    <a:pt x="2694944" y="415"/>
                  </a:lnTo>
                  <a:lnTo>
                    <a:pt x="2646889" y="1658"/>
                  </a:lnTo>
                  <a:lnTo>
                    <a:pt x="2599043" y="3722"/>
                  </a:lnTo>
                  <a:lnTo>
                    <a:pt x="2551413" y="6598"/>
                  </a:lnTo>
                  <a:lnTo>
                    <a:pt x="2504004" y="10282"/>
                  </a:lnTo>
                  <a:lnTo>
                    <a:pt x="2456825" y="14765"/>
                  </a:lnTo>
                  <a:lnTo>
                    <a:pt x="2409881" y="20042"/>
                  </a:lnTo>
                  <a:lnTo>
                    <a:pt x="2363180" y="26105"/>
                  </a:lnTo>
                  <a:lnTo>
                    <a:pt x="2316728" y="32947"/>
                  </a:lnTo>
                  <a:lnTo>
                    <a:pt x="2270532" y="40563"/>
                  </a:lnTo>
                  <a:lnTo>
                    <a:pt x="2224599" y="48944"/>
                  </a:lnTo>
                  <a:lnTo>
                    <a:pt x="2178935" y="58084"/>
                  </a:lnTo>
                  <a:lnTo>
                    <a:pt x="2133548" y="67977"/>
                  </a:lnTo>
                  <a:lnTo>
                    <a:pt x="2088444" y="78615"/>
                  </a:lnTo>
                  <a:lnTo>
                    <a:pt x="2043631" y="89992"/>
                  </a:lnTo>
                  <a:lnTo>
                    <a:pt x="1999114" y="102100"/>
                  </a:lnTo>
                  <a:lnTo>
                    <a:pt x="1954901" y="114934"/>
                  </a:lnTo>
                  <a:lnTo>
                    <a:pt x="1910998" y="128487"/>
                  </a:lnTo>
                  <a:lnTo>
                    <a:pt x="1867413" y="142751"/>
                  </a:lnTo>
                  <a:lnTo>
                    <a:pt x="1824152" y="157719"/>
                  </a:lnTo>
                  <a:lnTo>
                    <a:pt x="1781221" y="173386"/>
                  </a:lnTo>
                  <a:lnTo>
                    <a:pt x="1738629" y="189744"/>
                  </a:lnTo>
                  <a:lnTo>
                    <a:pt x="1696380" y="206786"/>
                  </a:lnTo>
                  <a:lnTo>
                    <a:pt x="1654483" y="224505"/>
                  </a:lnTo>
                  <a:lnTo>
                    <a:pt x="1612944" y="242896"/>
                  </a:lnTo>
                  <a:lnTo>
                    <a:pt x="1571770" y="261950"/>
                  </a:lnTo>
                  <a:lnTo>
                    <a:pt x="1530968" y="281662"/>
                  </a:lnTo>
                  <a:lnTo>
                    <a:pt x="1490544" y="302023"/>
                  </a:lnTo>
                  <a:lnTo>
                    <a:pt x="1450505" y="323029"/>
                  </a:lnTo>
                  <a:lnTo>
                    <a:pt x="1410858" y="344671"/>
                  </a:lnTo>
                  <a:lnTo>
                    <a:pt x="1371610" y="366943"/>
                  </a:lnTo>
                  <a:lnTo>
                    <a:pt x="1332768" y="389838"/>
                  </a:lnTo>
                  <a:lnTo>
                    <a:pt x="1294338" y="413350"/>
                  </a:lnTo>
                  <a:lnTo>
                    <a:pt x="1256327" y="437471"/>
                  </a:lnTo>
                  <a:lnTo>
                    <a:pt x="1218743" y="462195"/>
                  </a:lnTo>
                  <a:lnTo>
                    <a:pt x="1181591" y="487515"/>
                  </a:lnTo>
                  <a:lnTo>
                    <a:pt x="1144879" y="513425"/>
                  </a:lnTo>
                  <a:lnTo>
                    <a:pt x="1108613" y="539916"/>
                  </a:lnTo>
                  <a:lnTo>
                    <a:pt x="1072801" y="566983"/>
                  </a:lnTo>
                  <a:lnTo>
                    <a:pt x="1037448" y="594619"/>
                  </a:lnTo>
                  <a:lnTo>
                    <a:pt x="1002563" y="622817"/>
                  </a:lnTo>
                  <a:lnTo>
                    <a:pt x="968151" y="651570"/>
                  </a:lnTo>
                  <a:lnTo>
                    <a:pt x="934219" y="680872"/>
                  </a:lnTo>
                  <a:lnTo>
                    <a:pt x="900775" y="710715"/>
                  </a:lnTo>
                  <a:lnTo>
                    <a:pt x="867825" y="741093"/>
                  </a:lnTo>
                  <a:lnTo>
                    <a:pt x="835375" y="771998"/>
                  </a:lnTo>
                  <a:lnTo>
                    <a:pt x="803433" y="803425"/>
                  </a:lnTo>
                  <a:lnTo>
                    <a:pt x="772006" y="835367"/>
                  </a:lnTo>
                  <a:lnTo>
                    <a:pt x="741099" y="867816"/>
                  </a:lnTo>
                  <a:lnTo>
                    <a:pt x="710721" y="900765"/>
                  </a:lnTo>
                  <a:lnTo>
                    <a:pt x="680878" y="934209"/>
                  </a:lnTo>
                  <a:lnTo>
                    <a:pt x="651576" y="968140"/>
                  </a:lnTo>
                  <a:lnTo>
                    <a:pt x="622822" y="1002551"/>
                  </a:lnTo>
                  <a:lnTo>
                    <a:pt x="594624" y="1037436"/>
                  </a:lnTo>
                  <a:lnTo>
                    <a:pt x="566988" y="1072788"/>
                  </a:lnTo>
                  <a:lnTo>
                    <a:pt x="539920" y="1108600"/>
                  </a:lnTo>
                  <a:lnTo>
                    <a:pt x="513429" y="1144865"/>
                  </a:lnTo>
                  <a:lnTo>
                    <a:pt x="487519" y="1181576"/>
                  </a:lnTo>
                  <a:lnTo>
                    <a:pt x="462199" y="1218727"/>
                  </a:lnTo>
                  <a:lnTo>
                    <a:pt x="437474" y="1256311"/>
                  </a:lnTo>
                  <a:lnTo>
                    <a:pt x="413353" y="1294321"/>
                  </a:lnTo>
                  <a:lnTo>
                    <a:pt x="389841" y="1332750"/>
                  </a:lnTo>
                  <a:lnTo>
                    <a:pt x="366945" y="1371591"/>
                  </a:lnTo>
                  <a:lnTo>
                    <a:pt x="344673" y="1410838"/>
                  </a:lnTo>
                  <a:lnTo>
                    <a:pt x="323031" y="1450484"/>
                  </a:lnTo>
                  <a:lnTo>
                    <a:pt x="302025" y="1490522"/>
                  </a:lnTo>
                  <a:lnTo>
                    <a:pt x="281663" y="1530945"/>
                  </a:lnTo>
                  <a:lnTo>
                    <a:pt x="261951" y="1571746"/>
                  </a:lnTo>
                  <a:lnTo>
                    <a:pt x="242897" y="1612919"/>
                  </a:lnTo>
                  <a:lnTo>
                    <a:pt x="224506" y="1654457"/>
                  </a:lnTo>
                  <a:lnTo>
                    <a:pt x="206787" y="1696353"/>
                  </a:lnTo>
                  <a:lnTo>
                    <a:pt x="189744" y="1738600"/>
                  </a:lnTo>
                  <a:lnTo>
                    <a:pt x="173387" y="1781192"/>
                  </a:lnTo>
                  <a:lnTo>
                    <a:pt x="157720" y="1824121"/>
                  </a:lnTo>
                  <a:lnTo>
                    <a:pt x="142751" y="1867381"/>
                  </a:lnTo>
                  <a:lnTo>
                    <a:pt x="128487" y="1910965"/>
                  </a:lnTo>
                  <a:lnTo>
                    <a:pt x="114935" y="1954866"/>
                  </a:lnTo>
                  <a:lnTo>
                    <a:pt x="102101" y="1999078"/>
                  </a:lnTo>
                  <a:lnTo>
                    <a:pt x="89992" y="2043593"/>
                  </a:lnTo>
                  <a:lnTo>
                    <a:pt x="78615" y="2088405"/>
                  </a:lnTo>
                  <a:lnTo>
                    <a:pt x="67977" y="2133508"/>
                  </a:lnTo>
                  <a:lnTo>
                    <a:pt x="58084" y="2178893"/>
                  </a:lnTo>
                  <a:lnTo>
                    <a:pt x="48944" y="2224555"/>
                  </a:lnTo>
                  <a:lnTo>
                    <a:pt x="40563" y="2270486"/>
                  </a:lnTo>
                  <a:lnTo>
                    <a:pt x="32947" y="2316681"/>
                  </a:lnTo>
                  <a:lnTo>
                    <a:pt x="26105" y="2363131"/>
                  </a:lnTo>
                  <a:lnTo>
                    <a:pt x="20042" y="2409831"/>
                  </a:lnTo>
                  <a:lnTo>
                    <a:pt x="14765" y="2456773"/>
                  </a:lnTo>
                  <a:lnTo>
                    <a:pt x="10282" y="2503951"/>
                  </a:lnTo>
                  <a:lnTo>
                    <a:pt x="6598" y="2551357"/>
                  </a:lnTo>
                  <a:lnTo>
                    <a:pt x="3722" y="2598986"/>
                  </a:lnTo>
                  <a:lnTo>
                    <a:pt x="1658" y="2646830"/>
                  </a:lnTo>
                  <a:lnTo>
                    <a:pt x="415" y="2694882"/>
                  </a:lnTo>
                  <a:lnTo>
                    <a:pt x="0" y="2743136"/>
                  </a:lnTo>
                  <a:lnTo>
                    <a:pt x="415" y="2791390"/>
                  </a:lnTo>
                  <a:lnTo>
                    <a:pt x="1658" y="2839442"/>
                  </a:lnTo>
                  <a:lnTo>
                    <a:pt x="3722" y="2887285"/>
                  </a:lnTo>
                  <a:lnTo>
                    <a:pt x="6598" y="2934914"/>
                  </a:lnTo>
                  <a:lnTo>
                    <a:pt x="10282" y="2982321"/>
                  </a:lnTo>
                  <a:lnTo>
                    <a:pt x="14765" y="3029499"/>
                  </a:lnTo>
                  <a:lnTo>
                    <a:pt x="20042" y="3076441"/>
                  </a:lnTo>
                  <a:lnTo>
                    <a:pt x="26105" y="3123141"/>
                  </a:lnTo>
                  <a:lnTo>
                    <a:pt x="32947" y="3169592"/>
                  </a:lnTo>
                  <a:lnTo>
                    <a:pt x="40563" y="3215786"/>
                  </a:lnTo>
                  <a:lnTo>
                    <a:pt x="48944" y="3261718"/>
                  </a:lnTo>
                  <a:lnTo>
                    <a:pt x="58084" y="3307381"/>
                  </a:lnTo>
                  <a:lnTo>
                    <a:pt x="67977" y="3352767"/>
                  </a:lnTo>
                  <a:lnTo>
                    <a:pt x="78615" y="3397870"/>
                  </a:lnTo>
                  <a:lnTo>
                    <a:pt x="89992" y="3442683"/>
                  </a:lnTo>
                  <a:lnTo>
                    <a:pt x="102101" y="3487199"/>
                  </a:lnTo>
                  <a:lnTo>
                    <a:pt x="114935" y="3531412"/>
                  </a:lnTo>
                  <a:lnTo>
                    <a:pt x="128487" y="3575315"/>
                  </a:lnTo>
                  <a:lnTo>
                    <a:pt x="142751" y="3618900"/>
                  </a:lnTo>
                  <a:lnTo>
                    <a:pt x="157720" y="3662161"/>
                  </a:lnTo>
                  <a:lnTo>
                    <a:pt x="173387" y="3705091"/>
                  </a:lnTo>
                  <a:lnTo>
                    <a:pt x="189744" y="3747684"/>
                  </a:lnTo>
                  <a:lnTo>
                    <a:pt x="197566" y="3767074"/>
                  </a:lnTo>
                  <a:lnTo>
                    <a:pt x="3652774" y="3767074"/>
                  </a:lnTo>
                  <a:lnTo>
                    <a:pt x="3652774" y="154459"/>
                  </a:lnTo>
                  <a:lnTo>
                    <a:pt x="3618937" y="142751"/>
                  </a:lnTo>
                  <a:lnTo>
                    <a:pt x="3575353" y="128487"/>
                  </a:lnTo>
                  <a:lnTo>
                    <a:pt x="3531452" y="114934"/>
                  </a:lnTo>
                  <a:lnTo>
                    <a:pt x="3487240" y="102100"/>
                  </a:lnTo>
                  <a:lnTo>
                    <a:pt x="3442725" y="89992"/>
                  </a:lnTo>
                  <a:lnTo>
                    <a:pt x="3397913" y="78615"/>
                  </a:lnTo>
                  <a:lnTo>
                    <a:pt x="3352812" y="67977"/>
                  </a:lnTo>
                  <a:lnTo>
                    <a:pt x="3307427" y="58084"/>
                  </a:lnTo>
                  <a:lnTo>
                    <a:pt x="3261766" y="48944"/>
                  </a:lnTo>
                  <a:lnTo>
                    <a:pt x="3215835" y="40563"/>
                  </a:lnTo>
                  <a:lnTo>
                    <a:pt x="3169641" y="32947"/>
                  </a:lnTo>
                  <a:lnTo>
                    <a:pt x="3123192" y="26105"/>
                  </a:lnTo>
                  <a:lnTo>
                    <a:pt x="3076494" y="20042"/>
                  </a:lnTo>
                  <a:lnTo>
                    <a:pt x="3029553" y="14765"/>
                  </a:lnTo>
                  <a:lnTo>
                    <a:pt x="2982376" y="10282"/>
                  </a:lnTo>
                  <a:lnTo>
                    <a:pt x="2934971" y="6598"/>
                  </a:lnTo>
                  <a:lnTo>
                    <a:pt x="2887344" y="3722"/>
                  </a:lnTo>
                  <a:lnTo>
                    <a:pt x="2839502" y="1658"/>
                  </a:lnTo>
                  <a:lnTo>
                    <a:pt x="2791452" y="415"/>
                  </a:lnTo>
                  <a:lnTo>
                    <a:pt x="2743200" y="0"/>
                  </a:lnTo>
                  <a:close/>
                </a:path>
              </a:pathLst>
            </a:custGeom>
            <a:solidFill>
              <a:srgbClr val="FFFFFF">
                <a:alpha val="7843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491226" y="1376425"/>
              <a:ext cx="3653154" cy="3767454"/>
            </a:xfrm>
            <a:custGeom>
              <a:avLst/>
              <a:gdLst/>
              <a:ahLst/>
              <a:cxnLst/>
              <a:rect l="l" t="t" r="r" b="b"/>
              <a:pathLst>
                <a:path w="3653154" h="3767454">
                  <a:moveTo>
                    <a:pt x="197566" y="3767074"/>
                  </a:moveTo>
                  <a:lnTo>
                    <a:pt x="173387" y="3705091"/>
                  </a:lnTo>
                  <a:lnTo>
                    <a:pt x="157720" y="3662161"/>
                  </a:lnTo>
                  <a:lnTo>
                    <a:pt x="142751" y="3618900"/>
                  </a:lnTo>
                  <a:lnTo>
                    <a:pt x="128487" y="3575315"/>
                  </a:lnTo>
                  <a:lnTo>
                    <a:pt x="114935" y="3531412"/>
                  </a:lnTo>
                  <a:lnTo>
                    <a:pt x="102101" y="3487199"/>
                  </a:lnTo>
                  <a:lnTo>
                    <a:pt x="89992" y="3442683"/>
                  </a:lnTo>
                  <a:lnTo>
                    <a:pt x="78615" y="3397870"/>
                  </a:lnTo>
                  <a:lnTo>
                    <a:pt x="67977" y="3352767"/>
                  </a:lnTo>
                  <a:lnTo>
                    <a:pt x="58084" y="3307381"/>
                  </a:lnTo>
                  <a:lnTo>
                    <a:pt x="48944" y="3261718"/>
                  </a:lnTo>
                  <a:lnTo>
                    <a:pt x="40563" y="3215786"/>
                  </a:lnTo>
                  <a:lnTo>
                    <a:pt x="32947" y="3169592"/>
                  </a:lnTo>
                  <a:lnTo>
                    <a:pt x="26105" y="3123141"/>
                  </a:lnTo>
                  <a:lnTo>
                    <a:pt x="20042" y="3076441"/>
                  </a:lnTo>
                  <a:lnTo>
                    <a:pt x="14765" y="3029499"/>
                  </a:lnTo>
                  <a:lnTo>
                    <a:pt x="10282" y="2982321"/>
                  </a:lnTo>
                  <a:lnTo>
                    <a:pt x="6598" y="2934914"/>
                  </a:lnTo>
                  <a:lnTo>
                    <a:pt x="3722" y="2887285"/>
                  </a:lnTo>
                  <a:lnTo>
                    <a:pt x="1658" y="2839442"/>
                  </a:lnTo>
                  <a:lnTo>
                    <a:pt x="415" y="2791390"/>
                  </a:lnTo>
                  <a:lnTo>
                    <a:pt x="0" y="2743136"/>
                  </a:lnTo>
                  <a:lnTo>
                    <a:pt x="415" y="2694882"/>
                  </a:lnTo>
                  <a:lnTo>
                    <a:pt x="1658" y="2646830"/>
                  </a:lnTo>
                  <a:lnTo>
                    <a:pt x="3722" y="2598986"/>
                  </a:lnTo>
                  <a:lnTo>
                    <a:pt x="6598" y="2551357"/>
                  </a:lnTo>
                  <a:lnTo>
                    <a:pt x="10282" y="2503951"/>
                  </a:lnTo>
                  <a:lnTo>
                    <a:pt x="14765" y="2456773"/>
                  </a:lnTo>
                  <a:lnTo>
                    <a:pt x="20042" y="2409831"/>
                  </a:lnTo>
                  <a:lnTo>
                    <a:pt x="26105" y="2363131"/>
                  </a:lnTo>
                  <a:lnTo>
                    <a:pt x="32947" y="2316681"/>
                  </a:lnTo>
                  <a:lnTo>
                    <a:pt x="40563" y="2270486"/>
                  </a:lnTo>
                  <a:lnTo>
                    <a:pt x="48944" y="2224555"/>
                  </a:lnTo>
                  <a:lnTo>
                    <a:pt x="58084" y="2178893"/>
                  </a:lnTo>
                  <a:lnTo>
                    <a:pt x="67977" y="2133508"/>
                  </a:lnTo>
                  <a:lnTo>
                    <a:pt x="78615" y="2088405"/>
                  </a:lnTo>
                  <a:lnTo>
                    <a:pt x="89992" y="2043593"/>
                  </a:lnTo>
                  <a:lnTo>
                    <a:pt x="102101" y="1999078"/>
                  </a:lnTo>
                  <a:lnTo>
                    <a:pt x="114935" y="1954866"/>
                  </a:lnTo>
                  <a:lnTo>
                    <a:pt x="128487" y="1910965"/>
                  </a:lnTo>
                  <a:lnTo>
                    <a:pt x="142751" y="1867381"/>
                  </a:lnTo>
                  <a:lnTo>
                    <a:pt x="157720" y="1824121"/>
                  </a:lnTo>
                  <a:lnTo>
                    <a:pt x="173387" y="1781192"/>
                  </a:lnTo>
                  <a:lnTo>
                    <a:pt x="189744" y="1738600"/>
                  </a:lnTo>
                  <a:lnTo>
                    <a:pt x="206787" y="1696353"/>
                  </a:lnTo>
                  <a:lnTo>
                    <a:pt x="224506" y="1654457"/>
                  </a:lnTo>
                  <a:lnTo>
                    <a:pt x="242897" y="1612919"/>
                  </a:lnTo>
                  <a:lnTo>
                    <a:pt x="261951" y="1571746"/>
                  </a:lnTo>
                  <a:lnTo>
                    <a:pt x="281663" y="1530945"/>
                  </a:lnTo>
                  <a:lnTo>
                    <a:pt x="302025" y="1490522"/>
                  </a:lnTo>
                  <a:lnTo>
                    <a:pt x="323031" y="1450484"/>
                  </a:lnTo>
                  <a:lnTo>
                    <a:pt x="344673" y="1410838"/>
                  </a:lnTo>
                  <a:lnTo>
                    <a:pt x="366945" y="1371591"/>
                  </a:lnTo>
                  <a:lnTo>
                    <a:pt x="389841" y="1332750"/>
                  </a:lnTo>
                  <a:lnTo>
                    <a:pt x="413353" y="1294321"/>
                  </a:lnTo>
                  <a:lnTo>
                    <a:pt x="437474" y="1256311"/>
                  </a:lnTo>
                  <a:lnTo>
                    <a:pt x="462199" y="1218727"/>
                  </a:lnTo>
                  <a:lnTo>
                    <a:pt x="487519" y="1181576"/>
                  </a:lnTo>
                  <a:lnTo>
                    <a:pt x="513429" y="1144865"/>
                  </a:lnTo>
                  <a:lnTo>
                    <a:pt x="539920" y="1108600"/>
                  </a:lnTo>
                  <a:lnTo>
                    <a:pt x="566988" y="1072788"/>
                  </a:lnTo>
                  <a:lnTo>
                    <a:pt x="594624" y="1037436"/>
                  </a:lnTo>
                  <a:lnTo>
                    <a:pt x="622822" y="1002551"/>
                  </a:lnTo>
                  <a:lnTo>
                    <a:pt x="651576" y="968140"/>
                  </a:lnTo>
                  <a:lnTo>
                    <a:pt x="680878" y="934209"/>
                  </a:lnTo>
                  <a:lnTo>
                    <a:pt x="710721" y="900765"/>
                  </a:lnTo>
                  <a:lnTo>
                    <a:pt x="741099" y="867816"/>
                  </a:lnTo>
                  <a:lnTo>
                    <a:pt x="772006" y="835367"/>
                  </a:lnTo>
                  <a:lnTo>
                    <a:pt x="803433" y="803425"/>
                  </a:lnTo>
                  <a:lnTo>
                    <a:pt x="835375" y="771998"/>
                  </a:lnTo>
                  <a:lnTo>
                    <a:pt x="867825" y="741093"/>
                  </a:lnTo>
                  <a:lnTo>
                    <a:pt x="900775" y="710715"/>
                  </a:lnTo>
                  <a:lnTo>
                    <a:pt x="934219" y="680872"/>
                  </a:lnTo>
                  <a:lnTo>
                    <a:pt x="968151" y="651570"/>
                  </a:lnTo>
                  <a:lnTo>
                    <a:pt x="1002563" y="622817"/>
                  </a:lnTo>
                  <a:lnTo>
                    <a:pt x="1037448" y="594619"/>
                  </a:lnTo>
                  <a:lnTo>
                    <a:pt x="1072801" y="566983"/>
                  </a:lnTo>
                  <a:lnTo>
                    <a:pt x="1108613" y="539916"/>
                  </a:lnTo>
                  <a:lnTo>
                    <a:pt x="1144879" y="513425"/>
                  </a:lnTo>
                  <a:lnTo>
                    <a:pt x="1181591" y="487515"/>
                  </a:lnTo>
                  <a:lnTo>
                    <a:pt x="1218743" y="462195"/>
                  </a:lnTo>
                  <a:lnTo>
                    <a:pt x="1256327" y="437471"/>
                  </a:lnTo>
                  <a:lnTo>
                    <a:pt x="1294338" y="413350"/>
                  </a:lnTo>
                  <a:lnTo>
                    <a:pt x="1332768" y="389838"/>
                  </a:lnTo>
                  <a:lnTo>
                    <a:pt x="1371610" y="366943"/>
                  </a:lnTo>
                  <a:lnTo>
                    <a:pt x="1410858" y="344671"/>
                  </a:lnTo>
                  <a:lnTo>
                    <a:pt x="1450505" y="323029"/>
                  </a:lnTo>
                  <a:lnTo>
                    <a:pt x="1490544" y="302023"/>
                  </a:lnTo>
                  <a:lnTo>
                    <a:pt x="1530968" y="281662"/>
                  </a:lnTo>
                  <a:lnTo>
                    <a:pt x="1571770" y="261950"/>
                  </a:lnTo>
                  <a:lnTo>
                    <a:pt x="1612944" y="242896"/>
                  </a:lnTo>
                  <a:lnTo>
                    <a:pt x="1654483" y="224505"/>
                  </a:lnTo>
                  <a:lnTo>
                    <a:pt x="1696380" y="206786"/>
                  </a:lnTo>
                  <a:lnTo>
                    <a:pt x="1738629" y="189744"/>
                  </a:lnTo>
                  <a:lnTo>
                    <a:pt x="1781221" y="173386"/>
                  </a:lnTo>
                  <a:lnTo>
                    <a:pt x="1824152" y="157719"/>
                  </a:lnTo>
                  <a:lnTo>
                    <a:pt x="1867413" y="142751"/>
                  </a:lnTo>
                  <a:lnTo>
                    <a:pt x="1910998" y="128487"/>
                  </a:lnTo>
                  <a:lnTo>
                    <a:pt x="1954901" y="114934"/>
                  </a:lnTo>
                  <a:lnTo>
                    <a:pt x="1999114" y="102100"/>
                  </a:lnTo>
                  <a:lnTo>
                    <a:pt x="2043631" y="89992"/>
                  </a:lnTo>
                  <a:lnTo>
                    <a:pt x="2088444" y="78615"/>
                  </a:lnTo>
                  <a:lnTo>
                    <a:pt x="2133548" y="67977"/>
                  </a:lnTo>
                  <a:lnTo>
                    <a:pt x="2178935" y="58084"/>
                  </a:lnTo>
                  <a:lnTo>
                    <a:pt x="2224599" y="48944"/>
                  </a:lnTo>
                  <a:lnTo>
                    <a:pt x="2270532" y="40563"/>
                  </a:lnTo>
                  <a:lnTo>
                    <a:pt x="2316728" y="32947"/>
                  </a:lnTo>
                  <a:lnTo>
                    <a:pt x="2363180" y="26105"/>
                  </a:lnTo>
                  <a:lnTo>
                    <a:pt x="2409881" y="20042"/>
                  </a:lnTo>
                  <a:lnTo>
                    <a:pt x="2456825" y="14765"/>
                  </a:lnTo>
                  <a:lnTo>
                    <a:pt x="2504004" y="10282"/>
                  </a:lnTo>
                  <a:lnTo>
                    <a:pt x="2551413" y="6598"/>
                  </a:lnTo>
                  <a:lnTo>
                    <a:pt x="2599043" y="3722"/>
                  </a:lnTo>
                  <a:lnTo>
                    <a:pt x="2646889" y="1658"/>
                  </a:lnTo>
                  <a:lnTo>
                    <a:pt x="2694944" y="415"/>
                  </a:lnTo>
                  <a:lnTo>
                    <a:pt x="2743200" y="0"/>
                  </a:lnTo>
                  <a:lnTo>
                    <a:pt x="2791452" y="415"/>
                  </a:lnTo>
                  <a:lnTo>
                    <a:pt x="2839502" y="1658"/>
                  </a:lnTo>
                  <a:lnTo>
                    <a:pt x="2887344" y="3722"/>
                  </a:lnTo>
                  <a:lnTo>
                    <a:pt x="2934971" y="6598"/>
                  </a:lnTo>
                  <a:lnTo>
                    <a:pt x="2982376" y="10282"/>
                  </a:lnTo>
                  <a:lnTo>
                    <a:pt x="3029553" y="14765"/>
                  </a:lnTo>
                  <a:lnTo>
                    <a:pt x="3076494" y="20042"/>
                  </a:lnTo>
                  <a:lnTo>
                    <a:pt x="3123192" y="26105"/>
                  </a:lnTo>
                  <a:lnTo>
                    <a:pt x="3169641" y="32947"/>
                  </a:lnTo>
                  <a:lnTo>
                    <a:pt x="3215835" y="40563"/>
                  </a:lnTo>
                  <a:lnTo>
                    <a:pt x="3261766" y="48944"/>
                  </a:lnTo>
                  <a:lnTo>
                    <a:pt x="3307427" y="58084"/>
                  </a:lnTo>
                  <a:lnTo>
                    <a:pt x="3352812" y="67977"/>
                  </a:lnTo>
                  <a:lnTo>
                    <a:pt x="3397913" y="78615"/>
                  </a:lnTo>
                  <a:lnTo>
                    <a:pt x="3442725" y="89992"/>
                  </a:lnTo>
                  <a:lnTo>
                    <a:pt x="3487240" y="102100"/>
                  </a:lnTo>
                  <a:lnTo>
                    <a:pt x="3531452" y="114934"/>
                  </a:lnTo>
                  <a:lnTo>
                    <a:pt x="3575353" y="128487"/>
                  </a:lnTo>
                  <a:lnTo>
                    <a:pt x="3618937" y="142751"/>
                  </a:lnTo>
                  <a:lnTo>
                    <a:pt x="3652774" y="154459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-1586" y="-1587"/>
            <a:ext cx="88900" cy="5151755"/>
            <a:chOff x="-1586" y="-1587"/>
            <a:chExt cx="88900" cy="5151755"/>
          </a:xfrm>
        </p:grpSpPr>
        <p:sp>
          <p:nvSpPr>
            <p:cNvPr id="10" name="object 10"/>
            <p:cNvSpPr/>
            <p:nvPr/>
          </p:nvSpPr>
          <p:spPr>
            <a:xfrm>
              <a:off x="4763" y="4762"/>
              <a:ext cx="76200" cy="5139055"/>
            </a:xfrm>
            <a:custGeom>
              <a:avLst/>
              <a:gdLst/>
              <a:ahLst/>
              <a:cxnLst/>
              <a:rect l="l" t="t" r="r" b="b"/>
              <a:pathLst>
                <a:path w="76200" h="5139055">
                  <a:moveTo>
                    <a:pt x="76200" y="0"/>
                  </a:moveTo>
                  <a:lnTo>
                    <a:pt x="0" y="0"/>
                  </a:lnTo>
                  <a:lnTo>
                    <a:pt x="0" y="5138737"/>
                  </a:lnTo>
                  <a:lnTo>
                    <a:pt x="76200" y="5138737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FFFFFF">
                <a:alpha val="4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763" y="4762"/>
              <a:ext cx="76200" cy="5139055"/>
            </a:xfrm>
            <a:custGeom>
              <a:avLst/>
              <a:gdLst/>
              <a:ahLst/>
              <a:cxnLst/>
              <a:rect l="l" t="t" r="r" b="b"/>
              <a:pathLst>
                <a:path w="76200" h="5139055">
                  <a:moveTo>
                    <a:pt x="76200" y="5138737"/>
                  </a:moveTo>
                  <a:lnTo>
                    <a:pt x="76200" y="0"/>
                  </a:lnTo>
                  <a:lnTo>
                    <a:pt x="0" y="0"/>
                  </a:lnTo>
                  <a:lnTo>
                    <a:pt x="0" y="5138737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45134" y="901382"/>
            <a:ext cx="123952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153795" algn="l"/>
              </a:tabLst>
            </a:pP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100" b="1" spc="2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100" b="1" spc="2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100" b="1" spc="20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100" b="1" spc="2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100" b="1" spc="2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100" b="1" spc="1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spc="-5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1100" b="1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445134" y="1567497"/>
            <a:ext cx="2346325" cy="11918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0499"/>
              </a:lnSpc>
              <a:spcBef>
                <a:spcPts val="110"/>
              </a:spcBef>
            </a:pPr>
            <a:r>
              <a:rPr sz="3800" dirty="0"/>
              <a:t>Bivariée</a:t>
            </a:r>
            <a:r>
              <a:rPr sz="3800" spc="-175" dirty="0"/>
              <a:t> </a:t>
            </a:r>
            <a:r>
              <a:rPr sz="3800" spc="-50" dirty="0"/>
              <a:t>&amp; </a:t>
            </a:r>
            <a:r>
              <a:rPr sz="3800" spc="-10" dirty="0"/>
              <a:t>Multivariée</a:t>
            </a:r>
            <a:endParaRPr sz="3800"/>
          </a:p>
        </p:txBody>
      </p:sp>
      <p:sp>
        <p:nvSpPr>
          <p:cNvPr id="14" name="object 14"/>
          <p:cNvSpPr txBox="1"/>
          <p:nvPr/>
        </p:nvSpPr>
        <p:spPr>
          <a:xfrm>
            <a:off x="445134" y="3313747"/>
            <a:ext cx="2922905" cy="2203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i="1" dirty="0">
                <a:solidFill>
                  <a:srgbClr val="FFFFFF"/>
                </a:solidFill>
                <a:latin typeface="Calibri"/>
                <a:cs typeface="Calibri"/>
              </a:rPr>
              <a:t>Corrélations</a:t>
            </a:r>
            <a:r>
              <a:rPr sz="1250" i="1" spc="3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sz="1250" i="1" spc="45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FFFFFF"/>
                </a:solidFill>
                <a:latin typeface="Calibri"/>
                <a:cs typeface="Calibri"/>
              </a:rPr>
              <a:t>Boxplots</a:t>
            </a:r>
            <a:r>
              <a:rPr sz="1250" i="1" spc="4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sz="1250" i="1" spc="3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FFFFFF"/>
                </a:solidFill>
                <a:latin typeface="Calibri"/>
                <a:cs typeface="Calibri"/>
              </a:rPr>
              <a:t>Heatmaps</a:t>
            </a:r>
            <a:r>
              <a:rPr sz="1250" i="1" spc="3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sz="1250" i="1" spc="4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i="1" spc="-25" dirty="0">
                <a:solidFill>
                  <a:srgbClr val="FFFFFF"/>
                </a:solidFill>
                <a:latin typeface="Calibri"/>
                <a:cs typeface="Calibri"/>
              </a:rPr>
              <a:t>ACP</a:t>
            </a:r>
            <a:endParaRPr sz="1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586" y="-1523"/>
            <a:ext cx="9152255" cy="927100"/>
            <a:chOff x="-1586" y="-1523"/>
            <a:chExt cx="9152255" cy="927100"/>
          </a:xfrm>
        </p:grpSpPr>
        <p:sp>
          <p:nvSpPr>
            <p:cNvPr id="3" name="object 3"/>
            <p:cNvSpPr/>
            <p:nvPr/>
          </p:nvSpPr>
          <p:spPr>
            <a:xfrm>
              <a:off x="4763" y="4826"/>
              <a:ext cx="9139555" cy="914400"/>
            </a:xfrm>
            <a:custGeom>
              <a:avLst/>
              <a:gdLst/>
              <a:ahLst/>
              <a:cxnLst/>
              <a:rect l="l" t="t" r="r" b="b"/>
              <a:pathLst>
                <a:path w="9139555" h="914400">
                  <a:moveTo>
                    <a:pt x="9139236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39236" y="914400"/>
                  </a:lnTo>
                  <a:lnTo>
                    <a:pt x="9139236" y="0"/>
                  </a:lnTo>
                  <a:close/>
                </a:path>
              </a:pathLst>
            </a:custGeom>
            <a:solidFill>
              <a:srgbClr val="0D93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763" y="4826"/>
              <a:ext cx="9139555" cy="914400"/>
            </a:xfrm>
            <a:custGeom>
              <a:avLst/>
              <a:gdLst/>
              <a:ahLst/>
              <a:cxnLst/>
              <a:rect l="l" t="t" r="r" b="b"/>
              <a:pathLst>
                <a:path w="9139555" h="914400">
                  <a:moveTo>
                    <a:pt x="9139236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39236" y="914400"/>
                  </a:lnTo>
                </a:path>
              </a:pathLst>
            </a:custGeom>
            <a:ln w="12700">
              <a:solidFill>
                <a:srgbClr val="0D93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Analyse</a:t>
            </a:r>
            <a:r>
              <a:rPr spc="-65" dirty="0"/>
              <a:t> </a:t>
            </a:r>
            <a:r>
              <a:rPr dirty="0"/>
              <a:t>Bivariée</a:t>
            </a:r>
            <a:r>
              <a:rPr spc="-60" dirty="0"/>
              <a:t> </a:t>
            </a:r>
            <a:r>
              <a:rPr dirty="0"/>
              <a:t>—</a:t>
            </a:r>
            <a:r>
              <a:rPr spc="-40" dirty="0"/>
              <a:t> </a:t>
            </a:r>
            <a:r>
              <a:rPr dirty="0"/>
              <a:t>Numérique</a:t>
            </a:r>
            <a:r>
              <a:rPr spc="5" dirty="0"/>
              <a:t> </a:t>
            </a:r>
            <a:r>
              <a:rPr dirty="0"/>
              <a:t>×</a:t>
            </a:r>
            <a:r>
              <a:rPr spc="-30" dirty="0"/>
              <a:t> </a:t>
            </a:r>
            <a:r>
              <a:rPr spc="-10" dirty="0"/>
              <a:t>Numérique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53377" y="612203"/>
            <a:ext cx="176022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i="1" spc="-10" dirty="0">
                <a:solidFill>
                  <a:srgbClr val="FFFFFF"/>
                </a:solidFill>
                <a:latin typeface="Calibri"/>
                <a:cs typeface="Calibri"/>
              </a:rPr>
              <a:t>Corrélations</a:t>
            </a:r>
            <a:r>
              <a:rPr sz="1050" i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FFFFFF"/>
                </a:solidFill>
                <a:latin typeface="Calibri"/>
                <a:cs typeface="Calibri"/>
              </a:rPr>
              <a:t>avec</a:t>
            </a:r>
            <a:r>
              <a:rPr sz="1050" i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FFFFFF"/>
                </a:solidFill>
                <a:latin typeface="Calibri"/>
                <a:cs typeface="Calibri"/>
              </a:rPr>
              <a:t>le</a:t>
            </a:r>
            <a:r>
              <a:rPr sz="1050" i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FFFFFF"/>
                </a:solidFill>
                <a:latin typeface="Calibri"/>
                <a:cs typeface="Calibri"/>
              </a:rPr>
              <a:t>score</a:t>
            </a:r>
            <a:r>
              <a:rPr sz="1050" i="1" spc="-10" dirty="0">
                <a:solidFill>
                  <a:srgbClr val="FFFFFF"/>
                </a:solidFill>
                <a:latin typeface="Calibri"/>
                <a:cs typeface="Calibri"/>
              </a:rPr>
              <a:t> global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428101" y="93726"/>
            <a:ext cx="612775" cy="603250"/>
            <a:chOff x="8428101" y="93726"/>
            <a:chExt cx="612775" cy="603250"/>
          </a:xfrm>
        </p:grpSpPr>
        <p:sp>
          <p:nvSpPr>
            <p:cNvPr id="8" name="object 8"/>
            <p:cNvSpPr/>
            <p:nvPr/>
          </p:nvSpPr>
          <p:spPr>
            <a:xfrm>
              <a:off x="8434451" y="100076"/>
              <a:ext cx="600075" cy="590550"/>
            </a:xfrm>
            <a:custGeom>
              <a:avLst/>
              <a:gdLst/>
              <a:ahLst/>
              <a:cxnLst/>
              <a:rect l="l" t="t" r="r" b="b"/>
              <a:pathLst>
                <a:path w="600075" h="590550">
                  <a:moveTo>
                    <a:pt x="299974" y="0"/>
                  </a:moveTo>
                  <a:lnTo>
                    <a:pt x="251301" y="3861"/>
                  </a:lnTo>
                  <a:lnTo>
                    <a:pt x="205134" y="15041"/>
                  </a:lnTo>
                  <a:lnTo>
                    <a:pt x="162090" y="32935"/>
                  </a:lnTo>
                  <a:lnTo>
                    <a:pt x="122785" y="56936"/>
                  </a:lnTo>
                  <a:lnTo>
                    <a:pt x="87836" y="86439"/>
                  </a:lnTo>
                  <a:lnTo>
                    <a:pt x="57859" y="120837"/>
                  </a:lnTo>
                  <a:lnTo>
                    <a:pt x="33470" y="159526"/>
                  </a:lnTo>
                  <a:lnTo>
                    <a:pt x="15286" y="201899"/>
                  </a:lnTo>
                  <a:lnTo>
                    <a:pt x="3924" y="247350"/>
                  </a:lnTo>
                  <a:lnTo>
                    <a:pt x="0" y="295275"/>
                  </a:lnTo>
                  <a:lnTo>
                    <a:pt x="3924" y="343168"/>
                  </a:lnTo>
                  <a:lnTo>
                    <a:pt x="15286" y="388601"/>
                  </a:lnTo>
                  <a:lnTo>
                    <a:pt x="33470" y="430967"/>
                  </a:lnTo>
                  <a:lnTo>
                    <a:pt x="57859" y="469657"/>
                  </a:lnTo>
                  <a:lnTo>
                    <a:pt x="87836" y="504063"/>
                  </a:lnTo>
                  <a:lnTo>
                    <a:pt x="122785" y="533576"/>
                  </a:lnTo>
                  <a:lnTo>
                    <a:pt x="162090" y="557590"/>
                  </a:lnTo>
                  <a:lnTo>
                    <a:pt x="205134" y="575495"/>
                  </a:lnTo>
                  <a:lnTo>
                    <a:pt x="251301" y="586685"/>
                  </a:lnTo>
                  <a:lnTo>
                    <a:pt x="299974" y="590550"/>
                  </a:lnTo>
                  <a:lnTo>
                    <a:pt x="348650" y="586685"/>
                  </a:lnTo>
                  <a:lnTo>
                    <a:pt x="394826" y="575495"/>
                  </a:lnTo>
                  <a:lnTo>
                    <a:pt x="437884" y="557590"/>
                  </a:lnTo>
                  <a:lnTo>
                    <a:pt x="477207" y="533576"/>
                  </a:lnTo>
                  <a:lnTo>
                    <a:pt x="512175" y="504063"/>
                  </a:lnTo>
                  <a:lnTo>
                    <a:pt x="542171" y="469657"/>
                  </a:lnTo>
                  <a:lnTo>
                    <a:pt x="566577" y="430967"/>
                  </a:lnTo>
                  <a:lnTo>
                    <a:pt x="584775" y="388601"/>
                  </a:lnTo>
                  <a:lnTo>
                    <a:pt x="596147" y="343168"/>
                  </a:lnTo>
                  <a:lnTo>
                    <a:pt x="600075" y="295275"/>
                  </a:lnTo>
                  <a:lnTo>
                    <a:pt x="596147" y="247350"/>
                  </a:lnTo>
                  <a:lnTo>
                    <a:pt x="584775" y="201899"/>
                  </a:lnTo>
                  <a:lnTo>
                    <a:pt x="566577" y="159526"/>
                  </a:lnTo>
                  <a:lnTo>
                    <a:pt x="542171" y="120837"/>
                  </a:lnTo>
                  <a:lnTo>
                    <a:pt x="512175" y="86439"/>
                  </a:lnTo>
                  <a:lnTo>
                    <a:pt x="477207" y="56936"/>
                  </a:lnTo>
                  <a:lnTo>
                    <a:pt x="437884" y="32935"/>
                  </a:lnTo>
                  <a:lnTo>
                    <a:pt x="394826" y="15041"/>
                  </a:lnTo>
                  <a:lnTo>
                    <a:pt x="348650" y="3861"/>
                  </a:lnTo>
                  <a:lnTo>
                    <a:pt x="2999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434451" y="100076"/>
              <a:ext cx="600075" cy="590550"/>
            </a:xfrm>
            <a:custGeom>
              <a:avLst/>
              <a:gdLst/>
              <a:ahLst/>
              <a:cxnLst/>
              <a:rect l="l" t="t" r="r" b="b"/>
              <a:pathLst>
                <a:path w="600075" h="590550">
                  <a:moveTo>
                    <a:pt x="0" y="295275"/>
                  </a:moveTo>
                  <a:lnTo>
                    <a:pt x="3924" y="247350"/>
                  </a:lnTo>
                  <a:lnTo>
                    <a:pt x="15286" y="201899"/>
                  </a:lnTo>
                  <a:lnTo>
                    <a:pt x="33470" y="159526"/>
                  </a:lnTo>
                  <a:lnTo>
                    <a:pt x="57859" y="120837"/>
                  </a:lnTo>
                  <a:lnTo>
                    <a:pt x="87836" y="86439"/>
                  </a:lnTo>
                  <a:lnTo>
                    <a:pt x="122785" y="56936"/>
                  </a:lnTo>
                  <a:lnTo>
                    <a:pt x="162090" y="32935"/>
                  </a:lnTo>
                  <a:lnTo>
                    <a:pt x="205134" y="15041"/>
                  </a:lnTo>
                  <a:lnTo>
                    <a:pt x="251301" y="3861"/>
                  </a:lnTo>
                  <a:lnTo>
                    <a:pt x="299974" y="0"/>
                  </a:lnTo>
                  <a:lnTo>
                    <a:pt x="348650" y="3861"/>
                  </a:lnTo>
                  <a:lnTo>
                    <a:pt x="394826" y="15041"/>
                  </a:lnTo>
                  <a:lnTo>
                    <a:pt x="437884" y="32935"/>
                  </a:lnTo>
                  <a:lnTo>
                    <a:pt x="477207" y="56936"/>
                  </a:lnTo>
                  <a:lnTo>
                    <a:pt x="512175" y="86439"/>
                  </a:lnTo>
                  <a:lnTo>
                    <a:pt x="542171" y="120837"/>
                  </a:lnTo>
                  <a:lnTo>
                    <a:pt x="566577" y="159526"/>
                  </a:lnTo>
                  <a:lnTo>
                    <a:pt x="584775" y="201899"/>
                  </a:lnTo>
                  <a:lnTo>
                    <a:pt x="596147" y="247350"/>
                  </a:lnTo>
                  <a:lnTo>
                    <a:pt x="600075" y="295275"/>
                  </a:lnTo>
                  <a:lnTo>
                    <a:pt x="596147" y="343168"/>
                  </a:lnTo>
                  <a:lnTo>
                    <a:pt x="584775" y="388601"/>
                  </a:lnTo>
                  <a:lnTo>
                    <a:pt x="566577" y="430967"/>
                  </a:lnTo>
                  <a:lnTo>
                    <a:pt x="542171" y="469657"/>
                  </a:lnTo>
                  <a:lnTo>
                    <a:pt x="512175" y="504063"/>
                  </a:lnTo>
                  <a:lnTo>
                    <a:pt x="477207" y="533576"/>
                  </a:lnTo>
                  <a:lnTo>
                    <a:pt x="437884" y="557590"/>
                  </a:lnTo>
                  <a:lnTo>
                    <a:pt x="394826" y="575495"/>
                  </a:lnTo>
                  <a:lnTo>
                    <a:pt x="348650" y="586685"/>
                  </a:lnTo>
                  <a:lnTo>
                    <a:pt x="299974" y="590550"/>
                  </a:lnTo>
                  <a:lnTo>
                    <a:pt x="251301" y="586685"/>
                  </a:lnTo>
                  <a:lnTo>
                    <a:pt x="205134" y="575495"/>
                  </a:lnTo>
                  <a:lnTo>
                    <a:pt x="162090" y="557590"/>
                  </a:lnTo>
                  <a:lnTo>
                    <a:pt x="122785" y="533576"/>
                  </a:lnTo>
                  <a:lnTo>
                    <a:pt x="87836" y="504063"/>
                  </a:lnTo>
                  <a:lnTo>
                    <a:pt x="57859" y="469657"/>
                  </a:lnTo>
                  <a:lnTo>
                    <a:pt x="33470" y="430967"/>
                  </a:lnTo>
                  <a:lnTo>
                    <a:pt x="15286" y="388601"/>
                  </a:lnTo>
                  <a:lnTo>
                    <a:pt x="3924" y="343168"/>
                  </a:lnTo>
                  <a:lnTo>
                    <a:pt x="0" y="29527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8672576" y="245173"/>
            <a:ext cx="12700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-50" dirty="0">
                <a:solidFill>
                  <a:srgbClr val="0D9387"/>
                </a:solidFill>
                <a:latin typeface="Calibri"/>
                <a:cs typeface="Calibri"/>
              </a:rPr>
              <a:t>2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1937" y="1031303"/>
            <a:ext cx="305244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0E172A"/>
                </a:solidFill>
                <a:latin typeface="Calibri"/>
                <a:cs typeface="Calibri"/>
              </a:rPr>
              <a:t>Coefficient</a:t>
            </a:r>
            <a:r>
              <a:rPr sz="1200" b="1" spc="-2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E172A"/>
                </a:solidFill>
                <a:latin typeface="Calibri"/>
                <a:cs typeface="Calibri"/>
              </a:rPr>
              <a:t>de</a:t>
            </a:r>
            <a:r>
              <a:rPr sz="1200" b="1" spc="2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E172A"/>
                </a:solidFill>
                <a:latin typeface="Calibri"/>
                <a:cs typeface="Calibri"/>
              </a:rPr>
              <a:t>corrélation</a:t>
            </a:r>
            <a:r>
              <a:rPr sz="1200" b="1" spc="-2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E172A"/>
                </a:solidFill>
                <a:latin typeface="Calibri"/>
                <a:cs typeface="Calibri"/>
              </a:rPr>
              <a:t>r</a:t>
            </a:r>
            <a:r>
              <a:rPr sz="1200" b="1" spc="27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E172A"/>
                </a:solidFill>
                <a:latin typeface="Calibri"/>
                <a:cs typeface="Calibri"/>
              </a:rPr>
              <a:t>avec</a:t>
            </a:r>
            <a:r>
              <a:rPr sz="1200" b="1" spc="33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le</a:t>
            </a:r>
            <a:r>
              <a:rPr sz="1200" b="1" spc="2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score</a:t>
            </a:r>
            <a:r>
              <a:rPr sz="1200" b="1" spc="-5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global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1937" y="1519872"/>
            <a:ext cx="896619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solidFill>
                  <a:srgbClr val="0E172A"/>
                </a:solidFill>
                <a:latin typeface="Calibri"/>
                <a:cs typeface="Calibri"/>
              </a:rPr>
              <a:t>Heures</a:t>
            </a:r>
            <a:r>
              <a:rPr sz="1100" spc="-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0E172A"/>
                </a:solidFill>
                <a:latin typeface="Calibri"/>
                <a:cs typeface="Calibri"/>
              </a:rPr>
              <a:t>d'étude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379726" y="1465325"/>
            <a:ext cx="5041900" cy="279400"/>
            <a:chOff x="2379726" y="1465325"/>
            <a:chExt cx="5041900" cy="279400"/>
          </a:xfrm>
        </p:grpSpPr>
        <p:sp>
          <p:nvSpPr>
            <p:cNvPr id="14" name="object 14"/>
            <p:cNvSpPr/>
            <p:nvPr/>
          </p:nvSpPr>
          <p:spPr>
            <a:xfrm>
              <a:off x="6939026" y="1471675"/>
              <a:ext cx="476250" cy="266700"/>
            </a:xfrm>
            <a:custGeom>
              <a:avLst/>
              <a:gdLst/>
              <a:ahLst/>
              <a:cxnLst/>
              <a:rect l="l" t="t" r="r" b="b"/>
              <a:pathLst>
                <a:path w="476250" h="266700">
                  <a:moveTo>
                    <a:pt x="0" y="266700"/>
                  </a:moveTo>
                  <a:lnTo>
                    <a:pt x="476250" y="266700"/>
                  </a:lnTo>
                  <a:lnTo>
                    <a:pt x="476250" y="0"/>
                  </a:ln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rgbClr val="E1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386076" y="1471675"/>
              <a:ext cx="5029200" cy="266700"/>
            </a:xfrm>
            <a:custGeom>
              <a:avLst/>
              <a:gdLst/>
              <a:ahLst/>
              <a:cxnLst/>
              <a:rect l="l" t="t" r="r" b="b"/>
              <a:pathLst>
                <a:path w="5029200" h="266700">
                  <a:moveTo>
                    <a:pt x="0" y="266700"/>
                  </a:moveTo>
                  <a:lnTo>
                    <a:pt x="5029200" y="266700"/>
                  </a:lnTo>
                  <a:lnTo>
                    <a:pt x="5029200" y="0"/>
                  </a:ln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386076" y="1471675"/>
              <a:ext cx="4552950" cy="266700"/>
            </a:xfrm>
            <a:custGeom>
              <a:avLst/>
              <a:gdLst/>
              <a:ahLst/>
              <a:cxnLst/>
              <a:rect l="l" t="t" r="r" b="b"/>
              <a:pathLst>
                <a:path w="4552950" h="266700">
                  <a:moveTo>
                    <a:pt x="4552950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4552950" y="266700"/>
                  </a:lnTo>
                  <a:lnTo>
                    <a:pt x="4552950" y="0"/>
                  </a:lnTo>
                  <a:close/>
                </a:path>
              </a:pathLst>
            </a:custGeom>
            <a:solidFill>
              <a:srgbClr val="16A2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386076" y="1471675"/>
              <a:ext cx="4552950" cy="266700"/>
            </a:xfrm>
            <a:custGeom>
              <a:avLst/>
              <a:gdLst/>
              <a:ahLst/>
              <a:cxnLst/>
              <a:rect l="l" t="t" r="r" b="b"/>
              <a:pathLst>
                <a:path w="4552950" h="266700">
                  <a:moveTo>
                    <a:pt x="0" y="266700"/>
                  </a:moveTo>
                  <a:lnTo>
                    <a:pt x="4552950" y="266700"/>
                  </a:lnTo>
                  <a:lnTo>
                    <a:pt x="4552950" y="0"/>
                  </a:ln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ln w="12700">
              <a:solidFill>
                <a:srgbClr val="16A24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493000" y="1501457"/>
            <a:ext cx="53848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dirty="0">
                <a:solidFill>
                  <a:srgbClr val="16A249"/>
                </a:solidFill>
                <a:latin typeface="Calibri"/>
                <a:cs typeface="Calibri"/>
              </a:rPr>
              <a:t>r</a:t>
            </a:r>
            <a:r>
              <a:rPr sz="1100" b="1" spc="35" dirty="0">
                <a:solidFill>
                  <a:srgbClr val="16A24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16A249"/>
                </a:solidFill>
                <a:latin typeface="Calibri"/>
                <a:cs typeface="Calibri"/>
              </a:rPr>
              <a:t>=</a:t>
            </a:r>
            <a:r>
              <a:rPr sz="1100" b="1" spc="-45" dirty="0">
                <a:solidFill>
                  <a:srgbClr val="16A249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16A249"/>
                </a:solidFill>
                <a:latin typeface="Calibri"/>
                <a:cs typeface="Calibri"/>
              </a:rPr>
              <a:t>0.906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61937" y="2087816"/>
            <a:ext cx="68199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solidFill>
                  <a:srgbClr val="0E172A"/>
                </a:solidFill>
                <a:latin typeface="Calibri"/>
                <a:cs typeface="Calibri"/>
              </a:rPr>
              <a:t>Score</a:t>
            </a:r>
            <a:r>
              <a:rPr sz="1100" spc="-4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0E172A"/>
                </a:solidFill>
                <a:latin typeface="Calibri"/>
                <a:cs typeface="Calibri"/>
              </a:rPr>
              <a:t>Math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379726" y="2027301"/>
            <a:ext cx="5041900" cy="288925"/>
            <a:chOff x="2379726" y="2027301"/>
            <a:chExt cx="5041900" cy="288925"/>
          </a:xfrm>
        </p:grpSpPr>
        <p:sp>
          <p:nvSpPr>
            <p:cNvPr id="21" name="object 21"/>
            <p:cNvSpPr/>
            <p:nvPr/>
          </p:nvSpPr>
          <p:spPr>
            <a:xfrm>
              <a:off x="6834251" y="2033651"/>
              <a:ext cx="581025" cy="276225"/>
            </a:xfrm>
            <a:custGeom>
              <a:avLst/>
              <a:gdLst/>
              <a:ahLst/>
              <a:cxnLst/>
              <a:rect l="l" t="t" r="r" b="b"/>
              <a:pathLst>
                <a:path w="581025" h="276225">
                  <a:moveTo>
                    <a:pt x="0" y="276225"/>
                  </a:moveTo>
                  <a:lnTo>
                    <a:pt x="581025" y="276225"/>
                  </a:lnTo>
                  <a:lnTo>
                    <a:pt x="581025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solidFill>
              <a:srgbClr val="E1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386076" y="2033651"/>
              <a:ext cx="5029200" cy="276225"/>
            </a:xfrm>
            <a:custGeom>
              <a:avLst/>
              <a:gdLst/>
              <a:ahLst/>
              <a:cxnLst/>
              <a:rect l="l" t="t" r="r" b="b"/>
              <a:pathLst>
                <a:path w="5029200" h="276225">
                  <a:moveTo>
                    <a:pt x="0" y="276225"/>
                  </a:moveTo>
                  <a:lnTo>
                    <a:pt x="5029200" y="276225"/>
                  </a:lnTo>
                  <a:lnTo>
                    <a:pt x="5029200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386076" y="2033651"/>
              <a:ext cx="4448175" cy="276225"/>
            </a:xfrm>
            <a:custGeom>
              <a:avLst/>
              <a:gdLst/>
              <a:ahLst/>
              <a:cxnLst/>
              <a:rect l="l" t="t" r="r" b="b"/>
              <a:pathLst>
                <a:path w="4448175" h="276225">
                  <a:moveTo>
                    <a:pt x="4448175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4448175" y="276225"/>
                  </a:lnTo>
                  <a:lnTo>
                    <a:pt x="4448175" y="0"/>
                  </a:lnTo>
                  <a:close/>
                </a:path>
              </a:pathLst>
            </a:custGeom>
            <a:solidFill>
              <a:srgbClr val="16A2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386076" y="2033651"/>
              <a:ext cx="4448175" cy="276225"/>
            </a:xfrm>
            <a:custGeom>
              <a:avLst/>
              <a:gdLst/>
              <a:ahLst/>
              <a:cxnLst/>
              <a:rect l="l" t="t" r="r" b="b"/>
              <a:pathLst>
                <a:path w="4448175" h="276225">
                  <a:moveTo>
                    <a:pt x="0" y="276225"/>
                  </a:moveTo>
                  <a:lnTo>
                    <a:pt x="4448175" y="276225"/>
                  </a:lnTo>
                  <a:lnTo>
                    <a:pt x="4448175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12700">
              <a:solidFill>
                <a:srgbClr val="16A24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7493000" y="2069528"/>
            <a:ext cx="53848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dirty="0">
                <a:solidFill>
                  <a:srgbClr val="16A249"/>
                </a:solidFill>
                <a:latin typeface="Calibri"/>
                <a:cs typeface="Calibri"/>
              </a:rPr>
              <a:t>r</a:t>
            </a:r>
            <a:r>
              <a:rPr sz="1100" b="1" spc="35" dirty="0">
                <a:solidFill>
                  <a:srgbClr val="16A24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16A249"/>
                </a:solidFill>
                <a:latin typeface="Calibri"/>
                <a:cs typeface="Calibri"/>
              </a:rPr>
              <a:t>=</a:t>
            </a:r>
            <a:r>
              <a:rPr sz="1100" b="1" spc="-45" dirty="0">
                <a:solidFill>
                  <a:srgbClr val="16A249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16A249"/>
                </a:solidFill>
                <a:latin typeface="Calibri"/>
                <a:cs typeface="Calibri"/>
              </a:rPr>
              <a:t>0.885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61937" y="2656204"/>
            <a:ext cx="800735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solidFill>
                  <a:srgbClr val="0E172A"/>
                </a:solidFill>
                <a:latin typeface="Calibri"/>
                <a:cs typeface="Calibri"/>
              </a:rPr>
              <a:t>Score</a:t>
            </a:r>
            <a:r>
              <a:rPr sz="1100" spc="-5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0E172A"/>
                </a:solidFill>
                <a:latin typeface="Calibri"/>
                <a:cs typeface="Calibri"/>
              </a:rPr>
              <a:t>Science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379726" y="2598801"/>
            <a:ext cx="5041900" cy="279400"/>
            <a:chOff x="2379726" y="2598801"/>
            <a:chExt cx="5041900" cy="279400"/>
          </a:xfrm>
        </p:grpSpPr>
        <p:sp>
          <p:nvSpPr>
            <p:cNvPr id="28" name="object 28"/>
            <p:cNvSpPr/>
            <p:nvPr/>
          </p:nvSpPr>
          <p:spPr>
            <a:xfrm>
              <a:off x="6834251" y="2605151"/>
              <a:ext cx="581025" cy="266700"/>
            </a:xfrm>
            <a:custGeom>
              <a:avLst/>
              <a:gdLst/>
              <a:ahLst/>
              <a:cxnLst/>
              <a:rect l="l" t="t" r="r" b="b"/>
              <a:pathLst>
                <a:path w="581025" h="266700">
                  <a:moveTo>
                    <a:pt x="0" y="266700"/>
                  </a:moveTo>
                  <a:lnTo>
                    <a:pt x="581025" y="266700"/>
                  </a:lnTo>
                  <a:lnTo>
                    <a:pt x="581025" y="0"/>
                  </a:ln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rgbClr val="E1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386076" y="2605151"/>
              <a:ext cx="5029200" cy="266700"/>
            </a:xfrm>
            <a:custGeom>
              <a:avLst/>
              <a:gdLst/>
              <a:ahLst/>
              <a:cxnLst/>
              <a:rect l="l" t="t" r="r" b="b"/>
              <a:pathLst>
                <a:path w="5029200" h="266700">
                  <a:moveTo>
                    <a:pt x="0" y="266700"/>
                  </a:moveTo>
                  <a:lnTo>
                    <a:pt x="5029200" y="266700"/>
                  </a:lnTo>
                  <a:lnTo>
                    <a:pt x="5029200" y="0"/>
                  </a:ln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386076" y="2605151"/>
              <a:ext cx="4448175" cy="266700"/>
            </a:xfrm>
            <a:custGeom>
              <a:avLst/>
              <a:gdLst/>
              <a:ahLst/>
              <a:cxnLst/>
              <a:rect l="l" t="t" r="r" b="b"/>
              <a:pathLst>
                <a:path w="4448175" h="266700">
                  <a:moveTo>
                    <a:pt x="4448175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4448175" y="266700"/>
                  </a:lnTo>
                  <a:lnTo>
                    <a:pt x="4448175" y="0"/>
                  </a:lnTo>
                  <a:close/>
                </a:path>
              </a:pathLst>
            </a:custGeom>
            <a:solidFill>
              <a:srgbClr val="16A2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386076" y="2605151"/>
              <a:ext cx="4448175" cy="266700"/>
            </a:xfrm>
            <a:custGeom>
              <a:avLst/>
              <a:gdLst/>
              <a:ahLst/>
              <a:cxnLst/>
              <a:rect l="l" t="t" r="r" b="b"/>
              <a:pathLst>
                <a:path w="4448175" h="266700">
                  <a:moveTo>
                    <a:pt x="0" y="266700"/>
                  </a:moveTo>
                  <a:lnTo>
                    <a:pt x="4448175" y="266700"/>
                  </a:lnTo>
                  <a:lnTo>
                    <a:pt x="4448175" y="0"/>
                  </a:ln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ln w="12700">
              <a:solidFill>
                <a:srgbClr val="16A24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7493000" y="2637472"/>
            <a:ext cx="53848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dirty="0">
                <a:solidFill>
                  <a:srgbClr val="16A249"/>
                </a:solidFill>
                <a:latin typeface="Calibri"/>
                <a:cs typeface="Calibri"/>
              </a:rPr>
              <a:t>r</a:t>
            </a:r>
            <a:r>
              <a:rPr sz="1100" b="1" spc="35" dirty="0">
                <a:solidFill>
                  <a:srgbClr val="16A24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16A249"/>
                </a:solidFill>
                <a:latin typeface="Calibri"/>
                <a:cs typeface="Calibri"/>
              </a:rPr>
              <a:t>=</a:t>
            </a:r>
            <a:r>
              <a:rPr sz="1100" b="1" spc="-45" dirty="0">
                <a:solidFill>
                  <a:srgbClr val="16A249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16A249"/>
                </a:solidFill>
                <a:latin typeface="Calibri"/>
                <a:cs typeface="Calibri"/>
              </a:rPr>
              <a:t>0.886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61937" y="3224148"/>
            <a:ext cx="775970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solidFill>
                  <a:srgbClr val="0E172A"/>
                </a:solidFill>
                <a:latin typeface="Calibri"/>
                <a:cs typeface="Calibri"/>
              </a:rPr>
              <a:t>Score</a:t>
            </a:r>
            <a:r>
              <a:rPr sz="1100" spc="-5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0E172A"/>
                </a:solidFill>
                <a:latin typeface="Calibri"/>
                <a:cs typeface="Calibri"/>
              </a:rPr>
              <a:t>Anglais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379726" y="3160776"/>
            <a:ext cx="5041900" cy="288925"/>
            <a:chOff x="2379726" y="3160776"/>
            <a:chExt cx="5041900" cy="288925"/>
          </a:xfrm>
        </p:grpSpPr>
        <p:sp>
          <p:nvSpPr>
            <p:cNvPr id="35" name="object 35"/>
            <p:cNvSpPr/>
            <p:nvPr/>
          </p:nvSpPr>
          <p:spPr>
            <a:xfrm>
              <a:off x="6834251" y="3167126"/>
              <a:ext cx="581025" cy="276225"/>
            </a:xfrm>
            <a:custGeom>
              <a:avLst/>
              <a:gdLst/>
              <a:ahLst/>
              <a:cxnLst/>
              <a:rect l="l" t="t" r="r" b="b"/>
              <a:pathLst>
                <a:path w="581025" h="276225">
                  <a:moveTo>
                    <a:pt x="0" y="276225"/>
                  </a:moveTo>
                  <a:lnTo>
                    <a:pt x="581025" y="276225"/>
                  </a:lnTo>
                  <a:lnTo>
                    <a:pt x="581025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solidFill>
              <a:srgbClr val="E1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386076" y="3167126"/>
              <a:ext cx="5029200" cy="276225"/>
            </a:xfrm>
            <a:custGeom>
              <a:avLst/>
              <a:gdLst/>
              <a:ahLst/>
              <a:cxnLst/>
              <a:rect l="l" t="t" r="r" b="b"/>
              <a:pathLst>
                <a:path w="5029200" h="276225">
                  <a:moveTo>
                    <a:pt x="0" y="276225"/>
                  </a:moveTo>
                  <a:lnTo>
                    <a:pt x="5029200" y="276225"/>
                  </a:lnTo>
                  <a:lnTo>
                    <a:pt x="5029200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386076" y="3167126"/>
              <a:ext cx="4448175" cy="276225"/>
            </a:xfrm>
            <a:custGeom>
              <a:avLst/>
              <a:gdLst/>
              <a:ahLst/>
              <a:cxnLst/>
              <a:rect l="l" t="t" r="r" b="b"/>
              <a:pathLst>
                <a:path w="4448175" h="276225">
                  <a:moveTo>
                    <a:pt x="4448175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4448175" y="276225"/>
                  </a:lnTo>
                  <a:lnTo>
                    <a:pt x="4448175" y="0"/>
                  </a:lnTo>
                  <a:close/>
                </a:path>
              </a:pathLst>
            </a:custGeom>
            <a:solidFill>
              <a:srgbClr val="16A2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386076" y="3167126"/>
              <a:ext cx="4448175" cy="276225"/>
            </a:xfrm>
            <a:custGeom>
              <a:avLst/>
              <a:gdLst/>
              <a:ahLst/>
              <a:cxnLst/>
              <a:rect l="l" t="t" r="r" b="b"/>
              <a:pathLst>
                <a:path w="4448175" h="276225">
                  <a:moveTo>
                    <a:pt x="0" y="276225"/>
                  </a:moveTo>
                  <a:lnTo>
                    <a:pt x="4448175" y="276225"/>
                  </a:lnTo>
                  <a:lnTo>
                    <a:pt x="4448175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12700">
              <a:solidFill>
                <a:srgbClr val="16A24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7493000" y="3205416"/>
            <a:ext cx="53848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dirty="0">
                <a:solidFill>
                  <a:srgbClr val="16A249"/>
                </a:solidFill>
                <a:latin typeface="Calibri"/>
                <a:cs typeface="Calibri"/>
              </a:rPr>
              <a:t>r</a:t>
            </a:r>
            <a:r>
              <a:rPr sz="1100" b="1" spc="35" dirty="0">
                <a:solidFill>
                  <a:srgbClr val="16A24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16A249"/>
                </a:solidFill>
                <a:latin typeface="Calibri"/>
                <a:cs typeface="Calibri"/>
              </a:rPr>
              <a:t>=</a:t>
            </a:r>
            <a:r>
              <a:rPr sz="1100" b="1" spc="-45" dirty="0">
                <a:solidFill>
                  <a:srgbClr val="16A249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16A249"/>
                </a:solidFill>
                <a:latin typeface="Calibri"/>
                <a:cs typeface="Calibri"/>
              </a:rPr>
              <a:t>0.885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61937" y="3791584"/>
            <a:ext cx="75438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solidFill>
                  <a:srgbClr val="0E172A"/>
                </a:solidFill>
                <a:latin typeface="Calibri"/>
                <a:cs typeface="Calibri"/>
              </a:rPr>
              <a:t>Assiduité</a:t>
            </a:r>
            <a:r>
              <a:rPr sz="1100" spc="-6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0E172A"/>
                </a:solidFill>
                <a:latin typeface="Calibri"/>
                <a:cs typeface="Calibri"/>
              </a:rPr>
              <a:t>(%)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2379726" y="3732212"/>
            <a:ext cx="5041900" cy="279400"/>
            <a:chOff x="2379726" y="3732212"/>
            <a:chExt cx="5041900" cy="279400"/>
          </a:xfrm>
        </p:grpSpPr>
        <p:sp>
          <p:nvSpPr>
            <p:cNvPr id="42" name="object 42"/>
            <p:cNvSpPr/>
            <p:nvPr/>
          </p:nvSpPr>
          <p:spPr>
            <a:xfrm>
              <a:off x="3833876" y="3738562"/>
              <a:ext cx="3581400" cy="266700"/>
            </a:xfrm>
            <a:custGeom>
              <a:avLst/>
              <a:gdLst/>
              <a:ahLst/>
              <a:cxnLst/>
              <a:rect l="l" t="t" r="r" b="b"/>
              <a:pathLst>
                <a:path w="3581400" h="266700">
                  <a:moveTo>
                    <a:pt x="0" y="266700"/>
                  </a:moveTo>
                  <a:lnTo>
                    <a:pt x="3581400" y="266700"/>
                  </a:lnTo>
                  <a:lnTo>
                    <a:pt x="3581400" y="0"/>
                  </a:ln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rgbClr val="E1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386076" y="3738562"/>
              <a:ext cx="5029200" cy="266700"/>
            </a:xfrm>
            <a:custGeom>
              <a:avLst/>
              <a:gdLst/>
              <a:ahLst/>
              <a:cxnLst/>
              <a:rect l="l" t="t" r="r" b="b"/>
              <a:pathLst>
                <a:path w="5029200" h="266700">
                  <a:moveTo>
                    <a:pt x="0" y="266700"/>
                  </a:moveTo>
                  <a:lnTo>
                    <a:pt x="5029200" y="266700"/>
                  </a:lnTo>
                  <a:lnTo>
                    <a:pt x="5029200" y="0"/>
                  </a:ln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386076" y="3738562"/>
              <a:ext cx="1447800" cy="266700"/>
            </a:xfrm>
            <a:custGeom>
              <a:avLst/>
              <a:gdLst/>
              <a:ahLst/>
              <a:cxnLst/>
              <a:rect l="l" t="t" r="r" b="b"/>
              <a:pathLst>
                <a:path w="1447800" h="266700">
                  <a:moveTo>
                    <a:pt x="1447800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1447800" y="266700"/>
                  </a:lnTo>
                  <a:lnTo>
                    <a:pt x="1447800" y="0"/>
                  </a:lnTo>
                  <a:close/>
                </a:path>
              </a:pathLst>
            </a:custGeom>
            <a:solidFill>
              <a:srgbClr val="EA57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386076" y="3738562"/>
              <a:ext cx="1447800" cy="266700"/>
            </a:xfrm>
            <a:custGeom>
              <a:avLst/>
              <a:gdLst/>
              <a:ahLst/>
              <a:cxnLst/>
              <a:rect l="l" t="t" r="r" b="b"/>
              <a:pathLst>
                <a:path w="1447800" h="266700">
                  <a:moveTo>
                    <a:pt x="0" y="266700"/>
                  </a:moveTo>
                  <a:lnTo>
                    <a:pt x="1447800" y="266700"/>
                  </a:lnTo>
                  <a:lnTo>
                    <a:pt x="1447800" y="0"/>
                  </a:ln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ln w="12700">
              <a:solidFill>
                <a:srgbClr val="EA57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7493000" y="3773487"/>
            <a:ext cx="53848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dirty="0">
                <a:solidFill>
                  <a:srgbClr val="EA570C"/>
                </a:solidFill>
                <a:latin typeface="Calibri"/>
                <a:cs typeface="Calibri"/>
              </a:rPr>
              <a:t>r</a:t>
            </a:r>
            <a:r>
              <a:rPr sz="1100" b="1" spc="35" dirty="0">
                <a:solidFill>
                  <a:srgbClr val="EA570C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A570C"/>
                </a:solidFill>
                <a:latin typeface="Calibri"/>
                <a:cs typeface="Calibri"/>
              </a:rPr>
              <a:t>=</a:t>
            </a:r>
            <a:r>
              <a:rPr sz="1100" b="1" spc="-45" dirty="0">
                <a:solidFill>
                  <a:srgbClr val="EA570C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EA570C"/>
                </a:solidFill>
                <a:latin typeface="Calibri"/>
                <a:cs typeface="Calibri"/>
              </a:rPr>
              <a:t>0.288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80987" y="4319587"/>
            <a:ext cx="8591550" cy="504825"/>
          </a:xfrm>
          <a:prstGeom prst="rect">
            <a:avLst/>
          </a:prstGeom>
          <a:solidFill>
            <a:srgbClr val="CCFAF0"/>
          </a:solidFill>
          <a:ln w="12700">
            <a:solidFill>
              <a:srgbClr val="0D9387"/>
            </a:solidFill>
          </a:ln>
        </p:spPr>
        <p:txBody>
          <a:bodyPr vert="horz" wrap="square" lIns="0" tIns="89535" rIns="0" bIns="0" rtlCol="0">
            <a:spAutoFit/>
          </a:bodyPr>
          <a:lstStyle/>
          <a:p>
            <a:pPr marL="176530" marR="212090">
              <a:lnSpc>
                <a:spcPct val="105500"/>
              </a:lnSpc>
              <a:spcBef>
                <a:spcPts val="705"/>
              </a:spcBef>
            </a:pPr>
            <a:r>
              <a:rPr sz="950" b="1" spc="10" dirty="0">
                <a:solidFill>
                  <a:srgbClr val="0E172A"/>
                </a:solidFill>
                <a:latin typeface="Calibri"/>
                <a:cs typeface="Calibri"/>
              </a:rPr>
              <a:t>Observation</a:t>
            </a:r>
            <a:r>
              <a:rPr sz="950" b="1" spc="5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950" b="1" spc="10" dirty="0">
                <a:solidFill>
                  <a:srgbClr val="0E172A"/>
                </a:solidFill>
                <a:latin typeface="Calibri"/>
                <a:cs typeface="Calibri"/>
              </a:rPr>
              <a:t>:</a:t>
            </a:r>
            <a:r>
              <a:rPr sz="950" b="1" spc="4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950" spc="10" dirty="0">
                <a:solidFill>
                  <a:srgbClr val="0E172A"/>
                </a:solidFill>
                <a:latin typeface="Calibri"/>
                <a:cs typeface="Calibri"/>
              </a:rPr>
              <a:t>Les</a:t>
            </a:r>
            <a:r>
              <a:rPr sz="950" spc="12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950" spc="10" dirty="0">
                <a:solidFill>
                  <a:srgbClr val="0E172A"/>
                </a:solidFill>
                <a:latin typeface="Calibri"/>
                <a:cs typeface="Calibri"/>
              </a:rPr>
              <a:t>heures</a:t>
            </a:r>
            <a:r>
              <a:rPr sz="950" spc="3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950" spc="10" dirty="0">
                <a:solidFill>
                  <a:srgbClr val="0E172A"/>
                </a:solidFill>
                <a:latin typeface="Calibri"/>
                <a:cs typeface="Calibri"/>
              </a:rPr>
              <a:t>d'étude</a:t>
            </a:r>
            <a:r>
              <a:rPr sz="950" spc="8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950" spc="10" dirty="0">
                <a:solidFill>
                  <a:srgbClr val="0E172A"/>
                </a:solidFill>
                <a:latin typeface="Calibri"/>
                <a:cs typeface="Calibri"/>
              </a:rPr>
              <a:t>(r</a:t>
            </a:r>
            <a:r>
              <a:rPr sz="950" spc="-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950" spc="10" dirty="0">
                <a:solidFill>
                  <a:srgbClr val="0E172A"/>
                </a:solidFill>
                <a:latin typeface="Calibri"/>
                <a:cs typeface="Calibri"/>
              </a:rPr>
              <a:t>=</a:t>
            </a:r>
            <a:r>
              <a:rPr sz="950" spc="8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950" spc="10" dirty="0">
                <a:solidFill>
                  <a:srgbClr val="0E172A"/>
                </a:solidFill>
                <a:latin typeface="Calibri"/>
                <a:cs typeface="Calibri"/>
              </a:rPr>
              <a:t>0.906)</a:t>
            </a:r>
            <a:r>
              <a:rPr sz="950" spc="4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950" spc="10" dirty="0">
                <a:solidFill>
                  <a:srgbClr val="0E172A"/>
                </a:solidFill>
                <a:latin typeface="Calibri"/>
                <a:cs typeface="Calibri"/>
              </a:rPr>
              <a:t>sont le</a:t>
            </a:r>
            <a:r>
              <a:rPr sz="950" spc="8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950" spc="10" dirty="0">
                <a:solidFill>
                  <a:srgbClr val="0E172A"/>
                </a:solidFill>
                <a:latin typeface="Calibri"/>
                <a:cs typeface="Calibri"/>
              </a:rPr>
              <a:t>facteur</a:t>
            </a:r>
            <a:r>
              <a:rPr sz="950" spc="7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950" spc="10" dirty="0">
                <a:solidFill>
                  <a:srgbClr val="0E172A"/>
                </a:solidFill>
                <a:latin typeface="Calibri"/>
                <a:cs typeface="Calibri"/>
              </a:rPr>
              <a:t>numérique</a:t>
            </a:r>
            <a:r>
              <a:rPr sz="95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950" spc="10" dirty="0">
                <a:solidFill>
                  <a:srgbClr val="0E172A"/>
                </a:solidFill>
                <a:latin typeface="Calibri"/>
                <a:cs typeface="Calibri"/>
              </a:rPr>
              <a:t>le</a:t>
            </a:r>
            <a:r>
              <a:rPr sz="950" spc="8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950" spc="10" dirty="0">
                <a:solidFill>
                  <a:srgbClr val="0E172A"/>
                </a:solidFill>
                <a:latin typeface="Calibri"/>
                <a:cs typeface="Calibri"/>
              </a:rPr>
              <a:t>plus</a:t>
            </a:r>
            <a:r>
              <a:rPr sz="950" spc="3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950" spc="10" dirty="0">
                <a:solidFill>
                  <a:srgbClr val="0E172A"/>
                </a:solidFill>
                <a:latin typeface="Calibri"/>
                <a:cs typeface="Calibri"/>
              </a:rPr>
              <a:t>corrélé</a:t>
            </a:r>
            <a:r>
              <a:rPr sz="950" spc="8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950" spc="10" dirty="0">
                <a:solidFill>
                  <a:srgbClr val="0E172A"/>
                </a:solidFill>
                <a:latin typeface="Calibri"/>
                <a:cs typeface="Calibri"/>
              </a:rPr>
              <a:t>au</a:t>
            </a:r>
            <a:r>
              <a:rPr sz="950" spc="5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950" spc="10" dirty="0">
                <a:solidFill>
                  <a:srgbClr val="0E172A"/>
                </a:solidFill>
                <a:latin typeface="Calibri"/>
                <a:cs typeface="Calibri"/>
              </a:rPr>
              <a:t>score</a:t>
            </a:r>
            <a:r>
              <a:rPr sz="950" spc="8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950" spc="10" dirty="0">
                <a:solidFill>
                  <a:srgbClr val="0E172A"/>
                </a:solidFill>
                <a:latin typeface="Calibri"/>
                <a:cs typeface="Calibri"/>
              </a:rPr>
              <a:t>global.</a:t>
            </a:r>
            <a:r>
              <a:rPr sz="950" spc="39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950" spc="10" dirty="0">
                <a:latin typeface="Calibri"/>
                <a:cs typeface="Calibri"/>
              </a:rPr>
              <a:t>l'assiduité</a:t>
            </a:r>
            <a:r>
              <a:rPr sz="950" spc="65" dirty="0">
                <a:latin typeface="Calibri"/>
                <a:cs typeface="Calibri"/>
              </a:rPr>
              <a:t> </a:t>
            </a:r>
            <a:r>
              <a:rPr sz="950" spc="10" dirty="0">
                <a:latin typeface="Calibri"/>
                <a:cs typeface="Calibri"/>
              </a:rPr>
              <a:t>montre</a:t>
            </a:r>
            <a:r>
              <a:rPr sz="950" spc="80" dirty="0">
                <a:latin typeface="Calibri"/>
                <a:cs typeface="Calibri"/>
              </a:rPr>
              <a:t> </a:t>
            </a:r>
            <a:r>
              <a:rPr sz="950" spc="10" dirty="0">
                <a:latin typeface="Calibri"/>
                <a:cs typeface="Calibri"/>
              </a:rPr>
              <a:t>une</a:t>
            </a:r>
            <a:r>
              <a:rPr sz="950" dirty="0">
                <a:latin typeface="Calibri"/>
                <a:cs typeface="Calibri"/>
              </a:rPr>
              <a:t> </a:t>
            </a:r>
            <a:r>
              <a:rPr sz="950" spc="10" dirty="0">
                <a:latin typeface="Calibri"/>
                <a:cs typeface="Calibri"/>
              </a:rPr>
              <a:t>corrélation</a:t>
            </a:r>
            <a:r>
              <a:rPr sz="950" spc="45" dirty="0">
                <a:latin typeface="Calibri"/>
                <a:cs typeface="Calibri"/>
              </a:rPr>
              <a:t> </a:t>
            </a:r>
            <a:r>
              <a:rPr sz="950" spc="10" dirty="0">
                <a:latin typeface="Calibri"/>
                <a:cs typeface="Calibri"/>
              </a:rPr>
              <a:t>étonnamment faible</a:t>
            </a:r>
            <a:r>
              <a:rPr sz="950" spc="45" dirty="0">
                <a:latin typeface="Calibri"/>
                <a:cs typeface="Calibri"/>
              </a:rPr>
              <a:t> </a:t>
            </a:r>
            <a:r>
              <a:rPr sz="950" spc="-50" dirty="0">
                <a:latin typeface="Calibri"/>
                <a:cs typeface="Calibri"/>
              </a:rPr>
              <a:t>.</a:t>
            </a:r>
            <a:r>
              <a:rPr sz="950" dirty="0">
                <a:latin typeface="Calibri"/>
                <a:cs typeface="Calibri"/>
              </a:rPr>
              <a:t> Être</a:t>
            </a:r>
            <a:r>
              <a:rPr sz="950" spc="120" dirty="0">
                <a:latin typeface="Calibri"/>
                <a:cs typeface="Calibri"/>
              </a:rPr>
              <a:t> </a:t>
            </a:r>
            <a:r>
              <a:rPr sz="950" dirty="0">
                <a:latin typeface="Calibri"/>
                <a:cs typeface="Calibri"/>
              </a:rPr>
              <a:t>présent</a:t>
            </a:r>
            <a:r>
              <a:rPr sz="950" spc="35" dirty="0">
                <a:latin typeface="Calibri"/>
                <a:cs typeface="Calibri"/>
              </a:rPr>
              <a:t> </a:t>
            </a:r>
            <a:r>
              <a:rPr sz="950" dirty="0">
                <a:latin typeface="Calibri"/>
                <a:cs typeface="Calibri"/>
              </a:rPr>
              <a:t>en</a:t>
            </a:r>
            <a:r>
              <a:rPr sz="950" spc="85" dirty="0">
                <a:latin typeface="Calibri"/>
                <a:cs typeface="Calibri"/>
              </a:rPr>
              <a:t> </a:t>
            </a:r>
            <a:r>
              <a:rPr sz="950" dirty="0">
                <a:latin typeface="Calibri"/>
                <a:cs typeface="Calibri"/>
              </a:rPr>
              <a:t>classe</a:t>
            </a:r>
            <a:r>
              <a:rPr sz="950" spc="120" dirty="0">
                <a:latin typeface="Calibri"/>
                <a:cs typeface="Calibri"/>
              </a:rPr>
              <a:t> </a:t>
            </a:r>
            <a:r>
              <a:rPr sz="950" dirty="0">
                <a:latin typeface="Calibri"/>
                <a:cs typeface="Calibri"/>
              </a:rPr>
              <a:t>ne</a:t>
            </a:r>
            <a:r>
              <a:rPr sz="950" spc="125" dirty="0">
                <a:latin typeface="Calibri"/>
                <a:cs typeface="Calibri"/>
              </a:rPr>
              <a:t> </a:t>
            </a:r>
            <a:r>
              <a:rPr sz="950" dirty="0">
                <a:latin typeface="Calibri"/>
                <a:cs typeface="Calibri"/>
              </a:rPr>
              <a:t>suffit</a:t>
            </a:r>
            <a:r>
              <a:rPr sz="950" spc="35" dirty="0">
                <a:latin typeface="Calibri"/>
                <a:cs typeface="Calibri"/>
              </a:rPr>
              <a:t> </a:t>
            </a:r>
            <a:r>
              <a:rPr sz="950" dirty="0">
                <a:latin typeface="Calibri"/>
                <a:cs typeface="Calibri"/>
              </a:rPr>
              <a:t>absolument</a:t>
            </a:r>
            <a:r>
              <a:rPr sz="950" spc="135" dirty="0">
                <a:latin typeface="Calibri"/>
                <a:cs typeface="Calibri"/>
              </a:rPr>
              <a:t> </a:t>
            </a:r>
            <a:r>
              <a:rPr sz="950" dirty="0">
                <a:latin typeface="Calibri"/>
                <a:cs typeface="Calibri"/>
              </a:rPr>
              <a:t>pas</a:t>
            </a:r>
            <a:r>
              <a:rPr sz="950" spc="65" dirty="0">
                <a:latin typeface="Calibri"/>
                <a:cs typeface="Calibri"/>
              </a:rPr>
              <a:t> </a:t>
            </a:r>
            <a:r>
              <a:rPr sz="950" dirty="0">
                <a:latin typeface="Calibri"/>
                <a:cs typeface="Calibri"/>
              </a:rPr>
              <a:t>si</a:t>
            </a:r>
            <a:r>
              <a:rPr sz="950" spc="70" dirty="0">
                <a:latin typeface="Calibri"/>
                <a:cs typeface="Calibri"/>
              </a:rPr>
              <a:t> </a:t>
            </a:r>
            <a:r>
              <a:rPr sz="950" dirty="0">
                <a:latin typeface="Calibri"/>
                <a:cs typeface="Calibri"/>
              </a:rPr>
              <a:t>l'effort</a:t>
            </a:r>
            <a:r>
              <a:rPr sz="950" spc="35" dirty="0">
                <a:latin typeface="Calibri"/>
                <a:cs typeface="Calibri"/>
              </a:rPr>
              <a:t> </a:t>
            </a:r>
            <a:r>
              <a:rPr sz="950" dirty="0">
                <a:latin typeface="Calibri"/>
                <a:cs typeface="Calibri"/>
              </a:rPr>
              <a:t>personnel</a:t>
            </a:r>
            <a:r>
              <a:rPr sz="950" spc="70" dirty="0">
                <a:latin typeface="Calibri"/>
                <a:cs typeface="Calibri"/>
              </a:rPr>
              <a:t> </a:t>
            </a:r>
            <a:r>
              <a:rPr sz="950" dirty="0">
                <a:latin typeface="Calibri"/>
                <a:cs typeface="Calibri"/>
              </a:rPr>
              <a:t>à</a:t>
            </a:r>
            <a:r>
              <a:rPr sz="950" spc="145" dirty="0">
                <a:latin typeface="Calibri"/>
                <a:cs typeface="Calibri"/>
              </a:rPr>
              <a:t> </a:t>
            </a:r>
            <a:r>
              <a:rPr sz="950" dirty="0">
                <a:latin typeface="Calibri"/>
                <a:cs typeface="Calibri"/>
              </a:rPr>
              <a:t>la</a:t>
            </a:r>
            <a:r>
              <a:rPr sz="950" spc="50" dirty="0">
                <a:latin typeface="Calibri"/>
                <a:cs typeface="Calibri"/>
              </a:rPr>
              <a:t> </a:t>
            </a:r>
            <a:r>
              <a:rPr sz="950" dirty="0">
                <a:latin typeface="Calibri"/>
                <a:cs typeface="Calibri"/>
              </a:rPr>
              <a:t>maison</a:t>
            </a:r>
            <a:r>
              <a:rPr sz="950" spc="80" dirty="0">
                <a:latin typeface="Calibri"/>
                <a:cs typeface="Calibri"/>
              </a:rPr>
              <a:t> </a:t>
            </a:r>
            <a:r>
              <a:rPr sz="950" dirty="0">
                <a:latin typeface="Calibri"/>
                <a:cs typeface="Calibri"/>
              </a:rPr>
              <a:t>n'y</a:t>
            </a:r>
            <a:r>
              <a:rPr sz="950" spc="85" dirty="0">
                <a:latin typeface="Calibri"/>
                <a:cs typeface="Calibri"/>
              </a:rPr>
              <a:t> </a:t>
            </a:r>
            <a:r>
              <a:rPr sz="950" dirty="0">
                <a:latin typeface="Calibri"/>
                <a:cs typeface="Calibri"/>
              </a:rPr>
              <a:t>est</a:t>
            </a:r>
            <a:r>
              <a:rPr sz="950" spc="135" dirty="0">
                <a:latin typeface="Calibri"/>
                <a:cs typeface="Calibri"/>
              </a:rPr>
              <a:t> </a:t>
            </a:r>
            <a:r>
              <a:rPr sz="950" spc="-20" dirty="0">
                <a:latin typeface="Calibri"/>
                <a:cs typeface="Calibri"/>
              </a:rPr>
              <a:t>pas.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980808" y="4936807"/>
            <a:ext cx="1911350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i="1" dirty="0">
                <a:solidFill>
                  <a:srgbClr val="93A2B8"/>
                </a:solidFill>
                <a:latin typeface="Calibri"/>
                <a:cs typeface="Calibri"/>
              </a:rPr>
              <a:t>Section</a:t>
            </a:r>
            <a:r>
              <a:rPr sz="800" i="1" spc="5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93A2B8"/>
                </a:solidFill>
                <a:latin typeface="Calibri"/>
                <a:cs typeface="Calibri"/>
              </a:rPr>
              <a:t>2</a:t>
            </a:r>
            <a:r>
              <a:rPr sz="800" i="1" spc="-20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93A2B8"/>
                </a:solidFill>
                <a:latin typeface="Calibri"/>
                <a:cs typeface="Calibri"/>
              </a:rPr>
              <a:t>—</a:t>
            </a:r>
            <a:r>
              <a:rPr sz="800" i="1" spc="-15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93A2B8"/>
                </a:solidFill>
                <a:latin typeface="Calibri"/>
                <a:cs typeface="Calibri"/>
              </a:rPr>
              <a:t>Bivariée</a:t>
            </a:r>
            <a:r>
              <a:rPr sz="800" i="1" spc="45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800" i="1" spc="-10" dirty="0">
                <a:solidFill>
                  <a:srgbClr val="93A2B8"/>
                </a:solidFill>
                <a:latin typeface="Calibri"/>
                <a:cs typeface="Calibri"/>
              </a:rPr>
              <a:t>Numérique</a:t>
            </a:r>
            <a:r>
              <a:rPr sz="800" i="1" spc="-55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93A2B8"/>
                </a:solidFill>
                <a:latin typeface="Calibri"/>
                <a:cs typeface="Calibri"/>
              </a:rPr>
              <a:t>×</a:t>
            </a:r>
            <a:r>
              <a:rPr sz="800" i="1" spc="-5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800" i="1" spc="-10" dirty="0">
                <a:solidFill>
                  <a:srgbClr val="93A2B8"/>
                </a:solidFill>
                <a:latin typeface="Calibri"/>
                <a:cs typeface="Calibri"/>
              </a:rPr>
              <a:t>Numérique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586" y="-1523"/>
            <a:ext cx="9152255" cy="927100"/>
            <a:chOff x="-1586" y="-1523"/>
            <a:chExt cx="9152255" cy="927100"/>
          </a:xfrm>
        </p:grpSpPr>
        <p:sp>
          <p:nvSpPr>
            <p:cNvPr id="3" name="object 3"/>
            <p:cNvSpPr/>
            <p:nvPr/>
          </p:nvSpPr>
          <p:spPr>
            <a:xfrm>
              <a:off x="4763" y="4826"/>
              <a:ext cx="9139555" cy="914400"/>
            </a:xfrm>
            <a:custGeom>
              <a:avLst/>
              <a:gdLst/>
              <a:ahLst/>
              <a:cxnLst/>
              <a:rect l="l" t="t" r="r" b="b"/>
              <a:pathLst>
                <a:path w="9139555" h="914400">
                  <a:moveTo>
                    <a:pt x="9139236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39236" y="914400"/>
                  </a:lnTo>
                  <a:lnTo>
                    <a:pt x="9139236" y="0"/>
                  </a:lnTo>
                  <a:close/>
                </a:path>
              </a:pathLst>
            </a:custGeom>
            <a:solidFill>
              <a:srgbClr val="0D93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763" y="4826"/>
              <a:ext cx="9139555" cy="914400"/>
            </a:xfrm>
            <a:custGeom>
              <a:avLst/>
              <a:gdLst/>
              <a:ahLst/>
              <a:cxnLst/>
              <a:rect l="l" t="t" r="r" b="b"/>
              <a:pathLst>
                <a:path w="9139555" h="914400">
                  <a:moveTo>
                    <a:pt x="9139236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39236" y="914400"/>
                  </a:lnTo>
                </a:path>
              </a:pathLst>
            </a:custGeom>
            <a:ln w="12700">
              <a:solidFill>
                <a:srgbClr val="0D93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Analyse</a:t>
            </a:r>
            <a:r>
              <a:rPr spc="-85" dirty="0"/>
              <a:t> </a:t>
            </a:r>
            <a:r>
              <a:rPr dirty="0"/>
              <a:t>Bivariée</a:t>
            </a:r>
            <a:r>
              <a:rPr spc="-75" dirty="0"/>
              <a:t> </a:t>
            </a:r>
            <a:r>
              <a:rPr dirty="0"/>
              <a:t>—</a:t>
            </a:r>
            <a:r>
              <a:rPr spc="-55" dirty="0"/>
              <a:t> </a:t>
            </a:r>
            <a:r>
              <a:rPr dirty="0"/>
              <a:t>Score</a:t>
            </a:r>
            <a:r>
              <a:rPr spc="-20" dirty="0"/>
              <a:t> </a:t>
            </a:r>
            <a:r>
              <a:rPr dirty="0"/>
              <a:t>Global</a:t>
            </a:r>
            <a:r>
              <a:rPr spc="-5" dirty="0"/>
              <a:t> </a:t>
            </a:r>
            <a:r>
              <a:rPr dirty="0"/>
              <a:t>selon</a:t>
            </a:r>
            <a:r>
              <a:rPr spc="-75" dirty="0"/>
              <a:t> </a:t>
            </a:r>
            <a:r>
              <a:rPr dirty="0"/>
              <a:t>les</a:t>
            </a:r>
            <a:r>
              <a:rPr spc="-25" dirty="0"/>
              <a:t> </a:t>
            </a:r>
            <a:r>
              <a:rPr spc="-10" dirty="0"/>
              <a:t>Variables</a:t>
            </a:r>
            <a:r>
              <a:rPr spc="-25" dirty="0"/>
              <a:t> </a:t>
            </a:r>
            <a:r>
              <a:rPr spc="-10" dirty="0"/>
              <a:t>Catégorielles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8428101" y="93726"/>
            <a:ext cx="612775" cy="603250"/>
            <a:chOff x="8428101" y="93726"/>
            <a:chExt cx="612775" cy="603250"/>
          </a:xfrm>
        </p:grpSpPr>
        <p:sp>
          <p:nvSpPr>
            <p:cNvPr id="7" name="object 7"/>
            <p:cNvSpPr/>
            <p:nvPr/>
          </p:nvSpPr>
          <p:spPr>
            <a:xfrm>
              <a:off x="8434451" y="100076"/>
              <a:ext cx="600075" cy="590550"/>
            </a:xfrm>
            <a:custGeom>
              <a:avLst/>
              <a:gdLst/>
              <a:ahLst/>
              <a:cxnLst/>
              <a:rect l="l" t="t" r="r" b="b"/>
              <a:pathLst>
                <a:path w="600075" h="590550">
                  <a:moveTo>
                    <a:pt x="299974" y="0"/>
                  </a:moveTo>
                  <a:lnTo>
                    <a:pt x="251301" y="3861"/>
                  </a:lnTo>
                  <a:lnTo>
                    <a:pt x="205134" y="15041"/>
                  </a:lnTo>
                  <a:lnTo>
                    <a:pt x="162090" y="32935"/>
                  </a:lnTo>
                  <a:lnTo>
                    <a:pt x="122785" y="56936"/>
                  </a:lnTo>
                  <a:lnTo>
                    <a:pt x="87836" y="86439"/>
                  </a:lnTo>
                  <a:lnTo>
                    <a:pt x="57859" y="120837"/>
                  </a:lnTo>
                  <a:lnTo>
                    <a:pt x="33470" y="159526"/>
                  </a:lnTo>
                  <a:lnTo>
                    <a:pt x="15286" y="201899"/>
                  </a:lnTo>
                  <a:lnTo>
                    <a:pt x="3924" y="247350"/>
                  </a:lnTo>
                  <a:lnTo>
                    <a:pt x="0" y="295275"/>
                  </a:lnTo>
                  <a:lnTo>
                    <a:pt x="3924" y="343168"/>
                  </a:lnTo>
                  <a:lnTo>
                    <a:pt x="15286" y="388601"/>
                  </a:lnTo>
                  <a:lnTo>
                    <a:pt x="33470" y="430967"/>
                  </a:lnTo>
                  <a:lnTo>
                    <a:pt x="57859" y="469657"/>
                  </a:lnTo>
                  <a:lnTo>
                    <a:pt x="87836" y="504063"/>
                  </a:lnTo>
                  <a:lnTo>
                    <a:pt x="122785" y="533576"/>
                  </a:lnTo>
                  <a:lnTo>
                    <a:pt x="162090" y="557590"/>
                  </a:lnTo>
                  <a:lnTo>
                    <a:pt x="205134" y="575495"/>
                  </a:lnTo>
                  <a:lnTo>
                    <a:pt x="251301" y="586685"/>
                  </a:lnTo>
                  <a:lnTo>
                    <a:pt x="299974" y="590550"/>
                  </a:lnTo>
                  <a:lnTo>
                    <a:pt x="348650" y="586685"/>
                  </a:lnTo>
                  <a:lnTo>
                    <a:pt x="394826" y="575495"/>
                  </a:lnTo>
                  <a:lnTo>
                    <a:pt x="437884" y="557590"/>
                  </a:lnTo>
                  <a:lnTo>
                    <a:pt x="477207" y="533576"/>
                  </a:lnTo>
                  <a:lnTo>
                    <a:pt x="512175" y="504063"/>
                  </a:lnTo>
                  <a:lnTo>
                    <a:pt x="542171" y="469657"/>
                  </a:lnTo>
                  <a:lnTo>
                    <a:pt x="566577" y="430967"/>
                  </a:lnTo>
                  <a:lnTo>
                    <a:pt x="584775" y="388601"/>
                  </a:lnTo>
                  <a:lnTo>
                    <a:pt x="596147" y="343168"/>
                  </a:lnTo>
                  <a:lnTo>
                    <a:pt x="600075" y="295275"/>
                  </a:lnTo>
                  <a:lnTo>
                    <a:pt x="596147" y="247350"/>
                  </a:lnTo>
                  <a:lnTo>
                    <a:pt x="584775" y="201899"/>
                  </a:lnTo>
                  <a:lnTo>
                    <a:pt x="566577" y="159526"/>
                  </a:lnTo>
                  <a:lnTo>
                    <a:pt x="542171" y="120837"/>
                  </a:lnTo>
                  <a:lnTo>
                    <a:pt x="512175" y="86439"/>
                  </a:lnTo>
                  <a:lnTo>
                    <a:pt x="477207" y="56936"/>
                  </a:lnTo>
                  <a:lnTo>
                    <a:pt x="437884" y="32935"/>
                  </a:lnTo>
                  <a:lnTo>
                    <a:pt x="394826" y="15041"/>
                  </a:lnTo>
                  <a:lnTo>
                    <a:pt x="348650" y="3861"/>
                  </a:lnTo>
                  <a:lnTo>
                    <a:pt x="2999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434451" y="100076"/>
              <a:ext cx="600075" cy="590550"/>
            </a:xfrm>
            <a:custGeom>
              <a:avLst/>
              <a:gdLst/>
              <a:ahLst/>
              <a:cxnLst/>
              <a:rect l="l" t="t" r="r" b="b"/>
              <a:pathLst>
                <a:path w="600075" h="590550">
                  <a:moveTo>
                    <a:pt x="0" y="295275"/>
                  </a:moveTo>
                  <a:lnTo>
                    <a:pt x="3924" y="247350"/>
                  </a:lnTo>
                  <a:lnTo>
                    <a:pt x="15286" y="201899"/>
                  </a:lnTo>
                  <a:lnTo>
                    <a:pt x="33470" y="159526"/>
                  </a:lnTo>
                  <a:lnTo>
                    <a:pt x="57859" y="120837"/>
                  </a:lnTo>
                  <a:lnTo>
                    <a:pt x="87836" y="86439"/>
                  </a:lnTo>
                  <a:lnTo>
                    <a:pt x="122785" y="56936"/>
                  </a:lnTo>
                  <a:lnTo>
                    <a:pt x="162090" y="32935"/>
                  </a:lnTo>
                  <a:lnTo>
                    <a:pt x="205134" y="15041"/>
                  </a:lnTo>
                  <a:lnTo>
                    <a:pt x="251301" y="3861"/>
                  </a:lnTo>
                  <a:lnTo>
                    <a:pt x="299974" y="0"/>
                  </a:lnTo>
                  <a:lnTo>
                    <a:pt x="348650" y="3861"/>
                  </a:lnTo>
                  <a:lnTo>
                    <a:pt x="394826" y="15041"/>
                  </a:lnTo>
                  <a:lnTo>
                    <a:pt x="437884" y="32935"/>
                  </a:lnTo>
                  <a:lnTo>
                    <a:pt x="477207" y="56936"/>
                  </a:lnTo>
                  <a:lnTo>
                    <a:pt x="512175" y="86439"/>
                  </a:lnTo>
                  <a:lnTo>
                    <a:pt x="542171" y="120837"/>
                  </a:lnTo>
                  <a:lnTo>
                    <a:pt x="566577" y="159526"/>
                  </a:lnTo>
                  <a:lnTo>
                    <a:pt x="584775" y="201899"/>
                  </a:lnTo>
                  <a:lnTo>
                    <a:pt x="596147" y="247350"/>
                  </a:lnTo>
                  <a:lnTo>
                    <a:pt x="600075" y="295275"/>
                  </a:lnTo>
                  <a:lnTo>
                    <a:pt x="596147" y="343168"/>
                  </a:lnTo>
                  <a:lnTo>
                    <a:pt x="584775" y="388601"/>
                  </a:lnTo>
                  <a:lnTo>
                    <a:pt x="566577" y="430967"/>
                  </a:lnTo>
                  <a:lnTo>
                    <a:pt x="542171" y="469657"/>
                  </a:lnTo>
                  <a:lnTo>
                    <a:pt x="512175" y="504063"/>
                  </a:lnTo>
                  <a:lnTo>
                    <a:pt x="477207" y="533576"/>
                  </a:lnTo>
                  <a:lnTo>
                    <a:pt x="437884" y="557590"/>
                  </a:lnTo>
                  <a:lnTo>
                    <a:pt x="394826" y="575495"/>
                  </a:lnTo>
                  <a:lnTo>
                    <a:pt x="348650" y="586685"/>
                  </a:lnTo>
                  <a:lnTo>
                    <a:pt x="299974" y="590550"/>
                  </a:lnTo>
                  <a:lnTo>
                    <a:pt x="251301" y="586685"/>
                  </a:lnTo>
                  <a:lnTo>
                    <a:pt x="205134" y="575495"/>
                  </a:lnTo>
                  <a:lnTo>
                    <a:pt x="162090" y="557590"/>
                  </a:lnTo>
                  <a:lnTo>
                    <a:pt x="122785" y="533576"/>
                  </a:lnTo>
                  <a:lnTo>
                    <a:pt x="87836" y="504063"/>
                  </a:lnTo>
                  <a:lnTo>
                    <a:pt x="57859" y="469657"/>
                  </a:lnTo>
                  <a:lnTo>
                    <a:pt x="33470" y="430967"/>
                  </a:lnTo>
                  <a:lnTo>
                    <a:pt x="15286" y="388601"/>
                  </a:lnTo>
                  <a:lnTo>
                    <a:pt x="3924" y="343168"/>
                  </a:lnTo>
                  <a:lnTo>
                    <a:pt x="0" y="29527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8672576" y="245173"/>
            <a:ext cx="12700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-50" dirty="0">
                <a:solidFill>
                  <a:srgbClr val="0D9387"/>
                </a:solidFill>
                <a:latin typeface="Calibri"/>
                <a:cs typeface="Calibri"/>
              </a:rPr>
              <a:t>2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71450" y="962025"/>
            <a:ext cx="2138680" cy="1271905"/>
            <a:chOff x="171450" y="962025"/>
            <a:chExt cx="2138680" cy="127190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1450" y="962025"/>
              <a:ext cx="2138426" cy="127152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80987" y="1090676"/>
              <a:ext cx="1962150" cy="1038225"/>
            </a:xfrm>
            <a:custGeom>
              <a:avLst/>
              <a:gdLst/>
              <a:ahLst/>
              <a:cxnLst/>
              <a:rect l="l" t="t" r="r" b="b"/>
              <a:pathLst>
                <a:path w="1962150" h="1038225">
                  <a:moveTo>
                    <a:pt x="0" y="1038225"/>
                  </a:moveTo>
                  <a:lnTo>
                    <a:pt x="1962150" y="1038225"/>
                  </a:lnTo>
                  <a:lnTo>
                    <a:pt x="1962150" y="0"/>
                  </a:lnTo>
                  <a:lnTo>
                    <a:pt x="0" y="0"/>
                  </a:lnTo>
                  <a:lnTo>
                    <a:pt x="0" y="10382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0987" y="1033526"/>
              <a:ext cx="1962150" cy="1095375"/>
            </a:xfrm>
            <a:custGeom>
              <a:avLst/>
              <a:gdLst/>
              <a:ahLst/>
              <a:cxnLst/>
              <a:rect l="l" t="t" r="r" b="b"/>
              <a:pathLst>
                <a:path w="1962150" h="1095375">
                  <a:moveTo>
                    <a:pt x="0" y="1095375"/>
                  </a:moveTo>
                  <a:lnTo>
                    <a:pt x="1962150" y="1095375"/>
                  </a:lnTo>
                  <a:lnTo>
                    <a:pt x="1962150" y="0"/>
                  </a:lnTo>
                  <a:lnTo>
                    <a:pt x="0" y="0"/>
                  </a:lnTo>
                  <a:lnTo>
                    <a:pt x="0" y="1095375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80987" y="1033526"/>
              <a:ext cx="1962150" cy="57150"/>
            </a:xfrm>
            <a:custGeom>
              <a:avLst/>
              <a:gdLst/>
              <a:ahLst/>
              <a:cxnLst/>
              <a:rect l="l" t="t" r="r" b="b"/>
              <a:pathLst>
                <a:path w="1962150" h="57150">
                  <a:moveTo>
                    <a:pt x="1962150" y="0"/>
                  </a:moveTo>
                  <a:lnTo>
                    <a:pt x="0" y="0"/>
                  </a:lnTo>
                  <a:lnTo>
                    <a:pt x="0" y="57150"/>
                  </a:lnTo>
                  <a:lnTo>
                    <a:pt x="1962150" y="57150"/>
                  </a:lnTo>
                  <a:lnTo>
                    <a:pt x="1962150" y="0"/>
                  </a:lnTo>
                  <a:close/>
                </a:path>
              </a:pathLst>
            </a:custGeom>
            <a:solidFill>
              <a:srgbClr val="0D93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80987" y="1033526"/>
              <a:ext cx="1962150" cy="57150"/>
            </a:xfrm>
            <a:custGeom>
              <a:avLst/>
              <a:gdLst/>
              <a:ahLst/>
              <a:cxnLst/>
              <a:rect l="l" t="t" r="r" b="b"/>
              <a:pathLst>
                <a:path w="1962150" h="57150">
                  <a:moveTo>
                    <a:pt x="0" y="57150"/>
                  </a:moveTo>
                  <a:lnTo>
                    <a:pt x="1962150" y="57150"/>
                  </a:lnTo>
                  <a:lnTo>
                    <a:pt x="1962150" y="0"/>
                  </a:lnTo>
                  <a:lnTo>
                    <a:pt x="0" y="0"/>
                  </a:lnTo>
                  <a:lnTo>
                    <a:pt x="0" y="57150"/>
                  </a:lnTo>
                  <a:close/>
                </a:path>
              </a:pathLst>
            </a:custGeom>
            <a:ln w="12700">
              <a:solidFill>
                <a:srgbClr val="0D93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87337" y="1137538"/>
            <a:ext cx="1949450" cy="8953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78105">
              <a:lnSpc>
                <a:spcPct val="100000"/>
              </a:lnSpc>
              <a:spcBef>
                <a:spcPts val="130"/>
              </a:spcBef>
              <a:tabLst>
                <a:tab pos="444500" algn="l"/>
              </a:tabLst>
            </a:pPr>
            <a:r>
              <a:rPr sz="3000" b="1" spc="-75" baseline="1388" dirty="0">
                <a:solidFill>
                  <a:srgbClr val="0D9387"/>
                </a:solidFill>
                <a:latin typeface="Calibri"/>
                <a:cs typeface="Calibri"/>
              </a:rPr>
              <a:t>=</a:t>
            </a:r>
            <a:r>
              <a:rPr sz="3000" b="1" baseline="1388" dirty="0">
                <a:solidFill>
                  <a:srgbClr val="0D9387"/>
                </a:solidFill>
                <a:latin typeface="Calibri"/>
                <a:cs typeface="Calibri"/>
              </a:rPr>
              <a:t>	</a:t>
            </a:r>
            <a:r>
              <a:rPr sz="2150" b="1" spc="-20" dirty="0">
                <a:solidFill>
                  <a:srgbClr val="0D9387"/>
                </a:solidFill>
                <a:latin typeface="Calibri"/>
                <a:cs typeface="Calibri"/>
              </a:rPr>
              <a:t>64.0</a:t>
            </a:r>
            <a:endParaRPr sz="2150">
              <a:latin typeface="Calibri"/>
              <a:cs typeface="Calibri"/>
            </a:endParaRPr>
          </a:p>
          <a:p>
            <a:pPr marL="78105">
              <a:lnSpc>
                <a:spcPct val="100000"/>
              </a:lnSpc>
              <a:spcBef>
                <a:spcPts val="1100"/>
              </a:spcBef>
            </a:pPr>
            <a:r>
              <a:rPr sz="950" b="1" dirty="0">
                <a:solidFill>
                  <a:srgbClr val="0E172A"/>
                </a:solidFill>
                <a:latin typeface="Calibri"/>
                <a:cs typeface="Calibri"/>
              </a:rPr>
              <a:t>École</a:t>
            </a:r>
            <a:r>
              <a:rPr sz="950" b="1" spc="8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0E172A"/>
                </a:solidFill>
                <a:latin typeface="Calibri"/>
                <a:cs typeface="Calibri"/>
              </a:rPr>
              <a:t>Privée</a:t>
            </a:r>
            <a:endParaRPr sz="950">
              <a:latin typeface="Calibri"/>
              <a:cs typeface="Calibri"/>
            </a:endParaRPr>
          </a:p>
          <a:p>
            <a:pPr marL="78105">
              <a:lnSpc>
                <a:spcPct val="100000"/>
              </a:lnSpc>
              <a:spcBef>
                <a:spcPts val="915"/>
              </a:spcBef>
            </a:pPr>
            <a:r>
              <a:rPr sz="900" dirty="0">
                <a:solidFill>
                  <a:srgbClr val="465469"/>
                </a:solidFill>
                <a:latin typeface="Calibri"/>
                <a:cs typeface="Calibri"/>
              </a:rPr>
              <a:t>Publique</a:t>
            </a:r>
            <a:r>
              <a:rPr sz="900" spc="-1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9"/>
                </a:solidFill>
                <a:latin typeface="Calibri"/>
                <a:cs typeface="Calibri"/>
              </a:rPr>
              <a:t>:</a:t>
            </a:r>
            <a:r>
              <a:rPr sz="900" spc="-20" dirty="0">
                <a:solidFill>
                  <a:srgbClr val="465469"/>
                </a:solidFill>
                <a:latin typeface="Calibri"/>
                <a:cs typeface="Calibri"/>
              </a:rPr>
              <a:t> 64.0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343150" y="962025"/>
            <a:ext cx="2148205" cy="1271905"/>
            <a:chOff x="2343150" y="962025"/>
            <a:chExt cx="2148205" cy="1271905"/>
          </a:xfrm>
        </p:grpSpPr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43150" y="962025"/>
              <a:ext cx="2147951" cy="1271524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452751" y="1090676"/>
              <a:ext cx="1971675" cy="1038225"/>
            </a:xfrm>
            <a:custGeom>
              <a:avLst/>
              <a:gdLst/>
              <a:ahLst/>
              <a:cxnLst/>
              <a:rect l="l" t="t" r="r" b="b"/>
              <a:pathLst>
                <a:path w="1971675" h="1038225">
                  <a:moveTo>
                    <a:pt x="0" y="1038225"/>
                  </a:moveTo>
                  <a:lnTo>
                    <a:pt x="1971675" y="1038225"/>
                  </a:lnTo>
                  <a:lnTo>
                    <a:pt x="1971675" y="0"/>
                  </a:lnTo>
                  <a:lnTo>
                    <a:pt x="0" y="0"/>
                  </a:lnTo>
                  <a:lnTo>
                    <a:pt x="0" y="10382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452751" y="1033526"/>
              <a:ext cx="1971675" cy="1095375"/>
            </a:xfrm>
            <a:custGeom>
              <a:avLst/>
              <a:gdLst/>
              <a:ahLst/>
              <a:cxnLst/>
              <a:rect l="l" t="t" r="r" b="b"/>
              <a:pathLst>
                <a:path w="1971675" h="1095375">
                  <a:moveTo>
                    <a:pt x="0" y="1095375"/>
                  </a:moveTo>
                  <a:lnTo>
                    <a:pt x="1971675" y="1095375"/>
                  </a:lnTo>
                  <a:lnTo>
                    <a:pt x="1971675" y="0"/>
                  </a:lnTo>
                  <a:lnTo>
                    <a:pt x="0" y="0"/>
                  </a:lnTo>
                  <a:lnTo>
                    <a:pt x="0" y="1095375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452751" y="1033526"/>
              <a:ext cx="1971675" cy="57150"/>
            </a:xfrm>
            <a:custGeom>
              <a:avLst/>
              <a:gdLst/>
              <a:ahLst/>
              <a:cxnLst/>
              <a:rect l="l" t="t" r="r" b="b"/>
              <a:pathLst>
                <a:path w="1971675" h="57150">
                  <a:moveTo>
                    <a:pt x="1971675" y="0"/>
                  </a:moveTo>
                  <a:lnTo>
                    <a:pt x="0" y="0"/>
                  </a:lnTo>
                  <a:lnTo>
                    <a:pt x="0" y="57150"/>
                  </a:lnTo>
                  <a:lnTo>
                    <a:pt x="1971675" y="57150"/>
                  </a:lnTo>
                  <a:lnTo>
                    <a:pt x="1971675" y="0"/>
                  </a:lnTo>
                  <a:close/>
                </a:path>
              </a:pathLst>
            </a:custGeom>
            <a:solidFill>
              <a:srgbClr val="0D93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452751" y="1033526"/>
              <a:ext cx="1971675" cy="57150"/>
            </a:xfrm>
            <a:custGeom>
              <a:avLst/>
              <a:gdLst/>
              <a:ahLst/>
              <a:cxnLst/>
              <a:rect l="l" t="t" r="r" b="b"/>
              <a:pathLst>
                <a:path w="1971675" h="57150">
                  <a:moveTo>
                    <a:pt x="0" y="57150"/>
                  </a:moveTo>
                  <a:lnTo>
                    <a:pt x="1971675" y="57150"/>
                  </a:lnTo>
                  <a:lnTo>
                    <a:pt x="1971675" y="0"/>
                  </a:lnTo>
                  <a:lnTo>
                    <a:pt x="0" y="0"/>
                  </a:lnTo>
                  <a:lnTo>
                    <a:pt x="0" y="57150"/>
                  </a:lnTo>
                  <a:close/>
                </a:path>
              </a:pathLst>
            </a:custGeom>
            <a:ln w="12700">
              <a:solidFill>
                <a:srgbClr val="0D93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459101" y="1137538"/>
            <a:ext cx="1958975" cy="8953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130"/>
              </a:spcBef>
              <a:tabLst>
                <a:tab pos="451484" algn="l"/>
              </a:tabLst>
            </a:pPr>
            <a:r>
              <a:rPr sz="3000" b="1" spc="-75" baseline="1388" dirty="0">
                <a:solidFill>
                  <a:srgbClr val="0D9387"/>
                </a:solidFill>
                <a:latin typeface="Calibri"/>
                <a:cs typeface="Calibri"/>
              </a:rPr>
              <a:t>≈</a:t>
            </a:r>
            <a:r>
              <a:rPr sz="3000" b="1" baseline="1388" dirty="0">
                <a:solidFill>
                  <a:srgbClr val="0D9387"/>
                </a:solidFill>
                <a:latin typeface="Calibri"/>
                <a:cs typeface="Calibri"/>
              </a:rPr>
              <a:t>	</a:t>
            </a:r>
            <a:r>
              <a:rPr sz="2150" b="1" spc="-20" dirty="0">
                <a:solidFill>
                  <a:srgbClr val="0D9387"/>
                </a:solidFill>
                <a:latin typeface="Calibri"/>
                <a:cs typeface="Calibri"/>
              </a:rPr>
              <a:t>64.0</a:t>
            </a:r>
            <a:endParaRPr sz="2150">
              <a:latin typeface="Calibri"/>
              <a:cs typeface="Calibri"/>
            </a:endParaRPr>
          </a:p>
          <a:p>
            <a:pPr marL="85725">
              <a:lnSpc>
                <a:spcPct val="100000"/>
              </a:lnSpc>
              <a:spcBef>
                <a:spcPts val="1100"/>
              </a:spcBef>
            </a:pPr>
            <a:r>
              <a:rPr sz="950" b="1" dirty="0">
                <a:solidFill>
                  <a:srgbClr val="0E172A"/>
                </a:solidFill>
                <a:latin typeface="Calibri"/>
                <a:cs typeface="Calibri"/>
              </a:rPr>
              <a:t>Avec</a:t>
            </a:r>
            <a:r>
              <a:rPr sz="950" b="1" spc="11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0E172A"/>
                </a:solidFill>
                <a:latin typeface="Calibri"/>
                <a:cs typeface="Calibri"/>
              </a:rPr>
              <a:t>Internet</a:t>
            </a:r>
            <a:endParaRPr sz="950">
              <a:latin typeface="Calibri"/>
              <a:cs typeface="Calibri"/>
            </a:endParaRPr>
          </a:p>
          <a:p>
            <a:pPr marL="85725">
              <a:lnSpc>
                <a:spcPct val="100000"/>
              </a:lnSpc>
              <a:spcBef>
                <a:spcPts val="915"/>
              </a:spcBef>
            </a:pPr>
            <a:r>
              <a:rPr sz="900" dirty="0">
                <a:solidFill>
                  <a:srgbClr val="465469"/>
                </a:solidFill>
                <a:latin typeface="Calibri"/>
                <a:cs typeface="Calibri"/>
              </a:rPr>
              <a:t>Sans</a:t>
            </a:r>
            <a:r>
              <a:rPr sz="900" spc="-3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9"/>
                </a:solidFill>
                <a:latin typeface="Calibri"/>
                <a:cs typeface="Calibri"/>
              </a:rPr>
              <a:t>:</a:t>
            </a:r>
            <a:r>
              <a:rPr sz="900" spc="1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465469"/>
                </a:solidFill>
                <a:latin typeface="Calibri"/>
                <a:cs typeface="Calibri"/>
              </a:rPr>
              <a:t>63.9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524375" y="962025"/>
            <a:ext cx="2138680" cy="1271905"/>
            <a:chOff x="4524375" y="962025"/>
            <a:chExt cx="2138680" cy="1271905"/>
          </a:xfrm>
        </p:grpSpPr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24375" y="962025"/>
              <a:ext cx="2138426" cy="1271524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4633976" y="1090676"/>
              <a:ext cx="1962150" cy="1038225"/>
            </a:xfrm>
            <a:custGeom>
              <a:avLst/>
              <a:gdLst/>
              <a:ahLst/>
              <a:cxnLst/>
              <a:rect l="l" t="t" r="r" b="b"/>
              <a:pathLst>
                <a:path w="1962150" h="1038225">
                  <a:moveTo>
                    <a:pt x="0" y="1038225"/>
                  </a:moveTo>
                  <a:lnTo>
                    <a:pt x="1962150" y="1038225"/>
                  </a:lnTo>
                  <a:lnTo>
                    <a:pt x="1962150" y="0"/>
                  </a:lnTo>
                  <a:lnTo>
                    <a:pt x="0" y="0"/>
                  </a:lnTo>
                  <a:lnTo>
                    <a:pt x="0" y="10382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633976" y="1033526"/>
              <a:ext cx="1962150" cy="1095375"/>
            </a:xfrm>
            <a:custGeom>
              <a:avLst/>
              <a:gdLst/>
              <a:ahLst/>
              <a:cxnLst/>
              <a:rect l="l" t="t" r="r" b="b"/>
              <a:pathLst>
                <a:path w="1962150" h="1095375">
                  <a:moveTo>
                    <a:pt x="0" y="1095375"/>
                  </a:moveTo>
                  <a:lnTo>
                    <a:pt x="1962150" y="1095375"/>
                  </a:lnTo>
                  <a:lnTo>
                    <a:pt x="1962150" y="0"/>
                  </a:lnTo>
                  <a:lnTo>
                    <a:pt x="0" y="0"/>
                  </a:lnTo>
                  <a:lnTo>
                    <a:pt x="0" y="1095375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633976" y="1033526"/>
              <a:ext cx="1962150" cy="57150"/>
            </a:xfrm>
            <a:custGeom>
              <a:avLst/>
              <a:gdLst/>
              <a:ahLst/>
              <a:cxnLst/>
              <a:rect l="l" t="t" r="r" b="b"/>
              <a:pathLst>
                <a:path w="1962150" h="57150">
                  <a:moveTo>
                    <a:pt x="1962150" y="0"/>
                  </a:moveTo>
                  <a:lnTo>
                    <a:pt x="0" y="0"/>
                  </a:lnTo>
                  <a:lnTo>
                    <a:pt x="0" y="57150"/>
                  </a:lnTo>
                  <a:lnTo>
                    <a:pt x="1962150" y="57150"/>
                  </a:lnTo>
                  <a:lnTo>
                    <a:pt x="1962150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633976" y="1033526"/>
              <a:ext cx="1962150" cy="57150"/>
            </a:xfrm>
            <a:custGeom>
              <a:avLst/>
              <a:gdLst/>
              <a:ahLst/>
              <a:cxnLst/>
              <a:rect l="l" t="t" r="r" b="b"/>
              <a:pathLst>
                <a:path w="1962150" h="57150">
                  <a:moveTo>
                    <a:pt x="0" y="57150"/>
                  </a:moveTo>
                  <a:lnTo>
                    <a:pt x="1962150" y="57150"/>
                  </a:lnTo>
                  <a:lnTo>
                    <a:pt x="1962150" y="0"/>
                  </a:lnTo>
                  <a:lnTo>
                    <a:pt x="0" y="0"/>
                  </a:lnTo>
                  <a:lnTo>
                    <a:pt x="0" y="57150"/>
                  </a:lnTo>
                  <a:close/>
                </a:path>
              </a:pathLst>
            </a:custGeom>
            <a:ln w="12700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640326" y="1137538"/>
            <a:ext cx="1949450" cy="8953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82550">
              <a:lnSpc>
                <a:spcPct val="100000"/>
              </a:lnSpc>
              <a:spcBef>
                <a:spcPts val="130"/>
              </a:spcBef>
              <a:tabLst>
                <a:tab pos="448309" algn="l"/>
              </a:tabLst>
            </a:pPr>
            <a:r>
              <a:rPr sz="3000" b="1" spc="-75" baseline="1388" dirty="0">
                <a:solidFill>
                  <a:srgbClr val="7B39EC"/>
                </a:solidFill>
                <a:latin typeface="Calibri"/>
                <a:cs typeface="Calibri"/>
              </a:rPr>
              <a:t>↑</a:t>
            </a:r>
            <a:r>
              <a:rPr sz="3000" b="1" baseline="1388" dirty="0">
                <a:solidFill>
                  <a:srgbClr val="7B39EC"/>
                </a:solidFill>
                <a:latin typeface="Calibri"/>
                <a:cs typeface="Calibri"/>
              </a:rPr>
              <a:t>	</a:t>
            </a:r>
            <a:r>
              <a:rPr sz="2150" b="1" spc="-20" dirty="0">
                <a:solidFill>
                  <a:srgbClr val="7B39EC"/>
                </a:solidFill>
                <a:latin typeface="Calibri"/>
                <a:cs typeface="Calibri"/>
              </a:rPr>
              <a:t>64.7</a:t>
            </a:r>
            <a:endParaRPr sz="2150">
              <a:latin typeface="Calibri"/>
              <a:cs typeface="Calibri"/>
            </a:endParaRPr>
          </a:p>
          <a:p>
            <a:pPr marL="82550">
              <a:lnSpc>
                <a:spcPct val="100000"/>
              </a:lnSpc>
              <a:spcBef>
                <a:spcPts val="1100"/>
              </a:spcBef>
            </a:pPr>
            <a:r>
              <a:rPr sz="950" b="1" dirty="0">
                <a:solidFill>
                  <a:srgbClr val="0E172A"/>
                </a:solidFill>
                <a:latin typeface="Calibri"/>
                <a:cs typeface="Calibri"/>
              </a:rPr>
              <a:t>Online</a:t>
            </a:r>
            <a:r>
              <a:rPr sz="950" b="1" spc="12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0E172A"/>
                </a:solidFill>
                <a:latin typeface="Calibri"/>
                <a:cs typeface="Calibri"/>
              </a:rPr>
              <a:t>Videos</a:t>
            </a:r>
            <a:endParaRPr sz="950">
              <a:latin typeface="Calibri"/>
              <a:cs typeface="Calibri"/>
            </a:endParaRPr>
          </a:p>
          <a:p>
            <a:pPr marL="82550">
              <a:lnSpc>
                <a:spcPct val="100000"/>
              </a:lnSpc>
              <a:spcBef>
                <a:spcPts val="915"/>
              </a:spcBef>
            </a:pPr>
            <a:r>
              <a:rPr sz="900" dirty="0">
                <a:solidFill>
                  <a:srgbClr val="465469"/>
                </a:solidFill>
                <a:latin typeface="Calibri"/>
                <a:cs typeface="Calibri"/>
              </a:rPr>
              <a:t>Meilleure</a:t>
            </a:r>
            <a:r>
              <a:rPr sz="900" spc="-4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65469"/>
                </a:solidFill>
                <a:latin typeface="Calibri"/>
                <a:cs typeface="Calibri"/>
              </a:rPr>
              <a:t>méthode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696075" y="962025"/>
            <a:ext cx="2148205" cy="1271905"/>
            <a:chOff x="6696075" y="962025"/>
            <a:chExt cx="2148205" cy="1271905"/>
          </a:xfrm>
        </p:grpSpPr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96075" y="962025"/>
              <a:ext cx="2147951" cy="1271524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6805676" y="1090676"/>
              <a:ext cx="1971675" cy="1038225"/>
            </a:xfrm>
            <a:custGeom>
              <a:avLst/>
              <a:gdLst/>
              <a:ahLst/>
              <a:cxnLst/>
              <a:rect l="l" t="t" r="r" b="b"/>
              <a:pathLst>
                <a:path w="1971675" h="1038225">
                  <a:moveTo>
                    <a:pt x="0" y="1038225"/>
                  </a:moveTo>
                  <a:lnTo>
                    <a:pt x="1971675" y="1038225"/>
                  </a:lnTo>
                  <a:lnTo>
                    <a:pt x="1971675" y="0"/>
                  </a:lnTo>
                  <a:lnTo>
                    <a:pt x="0" y="0"/>
                  </a:lnTo>
                  <a:lnTo>
                    <a:pt x="0" y="10382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805676" y="1033526"/>
              <a:ext cx="1971675" cy="1095375"/>
            </a:xfrm>
            <a:custGeom>
              <a:avLst/>
              <a:gdLst/>
              <a:ahLst/>
              <a:cxnLst/>
              <a:rect l="l" t="t" r="r" b="b"/>
              <a:pathLst>
                <a:path w="1971675" h="1095375">
                  <a:moveTo>
                    <a:pt x="0" y="1095375"/>
                  </a:moveTo>
                  <a:lnTo>
                    <a:pt x="1971675" y="1095375"/>
                  </a:lnTo>
                  <a:lnTo>
                    <a:pt x="1971675" y="0"/>
                  </a:lnTo>
                  <a:lnTo>
                    <a:pt x="0" y="0"/>
                  </a:lnTo>
                  <a:lnTo>
                    <a:pt x="0" y="1095375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805676" y="1033526"/>
              <a:ext cx="1971675" cy="57150"/>
            </a:xfrm>
            <a:custGeom>
              <a:avLst/>
              <a:gdLst/>
              <a:ahLst/>
              <a:cxnLst/>
              <a:rect l="l" t="t" r="r" b="b"/>
              <a:pathLst>
                <a:path w="1971675" h="57150">
                  <a:moveTo>
                    <a:pt x="1971675" y="0"/>
                  </a:moveTo>
                  <a:lnTo>
                    <a:pt x="0" y="0"/>
                  </a:lnTo>
                  <a:lnTo>
                    <a:pt x="0" y="57150"/>
                  </a:lnTo>
                  <a:lnTo>
                    <a:pt x="1971675" y="57150"/>
                  </a:lnTo>
                  <a:lnTo>
                    <a:pt x="1971675" y="0"/>
                  </a:lnTo>
                  <a:close/>
                </a:path>
              </a:pathLst>
            </a:custGeom>
            <a:solidFill>
              <a:srgbClr val="D9770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805676" y="1033526"/>
              <a:ext cx="1971675" cy="57150"/>
            </a:xfrm>
            <a:custGeom>
              <a:avLst/>
              <a:gdLst/>
              <a:ahLst/>
              <a:cxnLst/>
              <a:rect l="l" t="t" r="r" b="b"/>
              <a:pathLst>
                <a:path w="1971675" h="57150">
                  <a:moveTo>
                    <a:pt x="0" y="57150"/>
                  </a:moveTo>
                  <a:lnTo>
                    <a:pt x="1971675" y="57150"/>
                  </a:lnTo>
                  <a:lnTo>
                    <a:pt x="1971675" y="0"/>
                  </a:lnTo>
                  <a:lnTo>
                    <a:pt x="0" y="0"/>
                  </a:lnTo>
                  <a:lnTo>
                    <a:pt x="0" y="57150"/>
                  </a:lnTo>
                  <a:close/>
                </a:path>
              </a:pathLst>
            </a:custGeom>
            <a:ln w="12700">
              <a:solidFill>
                <a:srgbClr val="D9770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6812026" y="1137538"/>
            <a:ext cx="1958975" cy="8953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130"/>
              </a:spcBef>
              <a:tabLst>
                <a:tab pos="455295" algn="l"/>
              </a:tabLst>
            </a:pPr>
            <a:r>
              <a:rPr sz="3000" b="1" spc="-75" baseline="1388" dirty="0">
                <a:solidFill>
                  <a:srgbClr val="D97705"/>
                </a:solidFill>
                <a:latin typeface="Calibri"/>
                <a:cs typeface="Calibri"/>
              </a:rPr>
              <a:t>↑</a:t>
            </a:r>
            <a:r>
              <a:rPr sz="3000" b="1" baseline="1388" dirty="0">
                <a:solidFill>
                  <a:srgbClr val="D97705"/>
                </a:solidFill>
                <a:latin typeface="Calibri"/>
                <a:cs typeface="Calibri"/>
              </a:rPr>
              <a:t>	</a:t>
            </a:r>
            <a:r>
              <a:rPr sz="2150" b="1" spc="-20" dirty="0">
                <a:solidFill>
                  <a:srgbClr val="D97705"/>
                </a:solidFill>
                <a:latin typeface="Calibri"/>
                <a:cs typeface="Calibri"/>
              </a:rPr>
              <a:t>64.3</a:t>
            </a:r>
            <a:endParaRPr sz="2150">
              <a:latin typeface="Calibri"/>
              <a:cs typeface="Calibri"/>
            </a:endParaRPr>
          </a:p>
          <a:p>
            <a:pPr marL="89535">
              <a:lnSpc>
                <a:spcPct val="100000"/>
              </a:lnSpc>
              <a:spcBef>
                <a:spcPts val="1100"/>
              </a:spcBef>
            </a:pPr>
            <a:r>
              <a:rPr sz="950" b="1" spc="-10" dirty="0">
                <a:solidFill>
                  <a:srgbClr val="0E172A"/>
                </a:solidFill>
                <a:latin typeface="Calibri"/>
                <a:cs typeface="Calibri"/>
              </a:rPr>
              <a:t>Féminin</a:t>
            </a:r>
            <a:endParaRPr sz="950">
              <a:latin typeface="Calibri"/>
              <a:cs typeface="Calibri"/>
            </a:endParaRPr>
          </a:p>
          <a:p>
            <a:pPr marL="89535">
              <a:lnSpc>
                <a:spcPct val="100000"/>
              </a:lnSpc>
              <a:spcBef>
                <a:spcPts val="915"/>
              </a:spcBef>
            </a:pPr>
            <a:r>
              <a:rPr sz="900" dirty="0">
                <a:solidFill>
                  <a:srgbClr val="465469"/>
                </a:solidFill>
                <a:latin typeface="Calibri"/>
                <a:cs typeface="Calibri"/>
              </a:rPr>
              <a:t>Masculin</a:t>
            </a:r>
            <a:r>
              <a:rPr sz="900" spc="-1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9"/>
                </a:solidFill>
                <a:latin typeface="Calibri"/>
                <a:cs typeface="Calibri"/>
              </a:rPr>
              <a:t>:</a:t>
            </a:r>
            <a:r>
              <a:rPr sz="900" spc="-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465469"/>
                </a:solidFill>
                <a:latin typeface="Calibri"/>
                <a:cs typeface="Calibri"/>
              </a:rPr>
              <a:t>64.0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61937" y="2332037"/>
            <a:ext cx="208153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E172A"/>
                </a:solidFill>
                <a:latin typeface="Calibri"/>
                <a:cs typeface="Calibri"/>
              </a:rPr>
              <a:t>Score</a:t>
            </a:r>
            <a:r>
              <a:rPr sz="1200" b="1" spc="-1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E172A"/>
                </a:solidFill>
                <a:latin typeface="Calibri"/>
                <a:cs typeface="Calibri"/>
              </a:rPr>
              <a:t>moyen</a:t>
            </a:r>
            <a:r>
              <a:rPr sz="1200" b="1" spc="-5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E172A"/>
                </a:solidFill>
                <a:latin typeface="Calibri"/>
                <a:cs typeface="Calibri"/>
              </a:rPr>
              <a:t>/</a:t>
            </a:r>
            <a:r>
              <a:rPr sz="1200" b="1" spc="-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E172A"/>
                </a:solidFill>
                <a:latin typeface="Calibri"/>
                <a:cs typeface="Calibri"/>
              </a:rPr>
              <a:t>Méthode</a:t>
            </a:r>
            <a:r>
              <a:rPr sz="1200" b="1" spc="-1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E172A"/>
                </a:solidFill>
                <a:latin typeface="Calibri"/>
                <a:cs typeface="Calibri"/>
              </a:rPr>
              <a:t>d'étude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276225" y="2609850"/>
            <a:ext cx="4114800" cy="1619250"/>
            <a:chOff x="276225" y="2609850"/>
            <a:chExt cx="4114800" cy="1619250"/>
          </a:xfrm>
        </p:grpSpPr>
        <p:sp>
          <p:nvSpPr>
            <p:cNvPr id="40" name="object 40"/>
            <p:cNvSpPr/>
            <p:nvPr/>
          </p:nvSpPr>
          <p:spPr>
            <a:xfrm>
              <a:off x="276225" y="2609850"/>
              <a:ext cx="4114800" cy="1619250"/>
            </a:xfrm>
            <a:custGeom>
              <a:avLst/>
              <a:gdLst/>
              <a:ahLst/>
              <a:cxnLst/>
              <a:rect l="l" t="t" r="r" b="b"/>
              <a:pathLst>
                <a:path w="4114800" h="1619250">
                  <a:moveTo>
                    <a:pt x="3988435" y="0"/>
                  </a:moveTo>
                  <a:lnTo>
                    <a:pt x="126352" y="0"/>
                  </a:lnTo>
                  <a:lnTo>
                    <a:pt x="77168" y="9921"/>
                  </a:lnTo>
                  <a:lnTo>
                    <a:pt x="37006" y="36988"/>
                  </a:lnTo>
                  <a:lnTo>
                    <a:pt x="9928" y="77152"/>
                  </a:lnTo>
                  <a:lnTo>
                    <a:pt x="0" y="126364"/>
                  </a:lnTo>
                  <a:lnTo>
                    <a:pt x="0" y="1492897"/>
                  </a:lnTo>
                  <a:lnTo>
                    <a:pt x="9928" y="1542081"/>
                  </a:lnTo>
                  <a:lnTo>
                    <a:pt x="37006" y="1582243"/>
                  </a:lnTo>
                  <a:lnTo>
                    <a:pt x="77168" y="1609321"/>
                  </a:lnTo>
                  <a:lnTo>
                    <a:pt x="126352" y="1619250"/>
                  </a:lnTo>
                  <a:lnTo>
                    <a:pt x="3988435" y="1619250"/>
                  </a:lnTo>
                  <a:lnTo>
                    <a:pt x="4037647" y="1609321"/>
                  </a:lnTo>
                  <a:lnTo>
                    <a:pt x="4077811" y="1582243"/>
                  </a:lnTo>
                  <a:lnTo>
                    <a:pt x="4104878" y="1542081"/>
                  </a:lnTo>
                  <a:lnTo>
                    <a:pt x="4114800" y="1492897"/>
                  </a:lnTo>
                  <a:lnTo>
                    <a:pt x="4114800" y="126364"/>
                  </a:lnTo>
                  <a:lnTo>
                    <a:pt x="4104878" y="77152"/>
                  </a:lnTo>
                  <a:lnTo>
                    <a:pt x="4077811" y="36988"/>
                  </a:lnTo>
                  <a:lnTo>
                    <a:pt x="4037647" y="9921"/>
                  </a:lnTo>
                  <a:lnTo>
                    <a:pt x="3988435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966976" y="2748026"/>
              <a:ext cx="2133600" cy="1143000"/>
            </a:xfrm>
            <a:custGeom>
              <a:avLst/>
              <a:gdLst/>
              <a:ahLst/>
              <a:cxnLst/>
              <a:rect l="l" t="t" r="r" b="b"/>
              <a:pathLst>
                <a:path w="2133600" h="1143000">
                  <a:moveTo>
                    <a:pt x="0" y="1081024"/>
                  </a:moveTo>
                  <a:lnTo>
                    <a:pt x="0" y="1142936"/>
                  </a:lnTo>
                </a:path>
                <a:path w="2133600" h="1143000">
                  <a:moveTo>
                    <a:pt x="0" y="890524"/>
                  </a:moveTo>
                  <a:lnTo>
                    <a:pt x="0" y="1004824"/>
                  </a:lnTo>
                </a:path>
                <a:path w="2133600" h="1143000">
                  <a:moveTo>
                    <a:pt x="0" y="700024"/>
                  </a:moveTo>
                  <a:lnTo>
                    <a:pt x="0" y="814324"/>
                  </a:lnTo>
                </a:path>
                <a:path w="2133600" h="1143000">
                  <a:moveTo>
                    <a:pt x="0" y="509524"/>
                  </a:moveTo>
                  <a:lnTo>
                    <a:pt x="0" y="623824"/>
                  </a:lnTo>
                </a:path>
                <a:path w="2133600" h="1143000">
                  <a:moveTo>
                    <a:pt x="0" y="319024"/>
                  </a:moveTo>
                  <a:lnTo>
                    <a:pt x="0" y="433324"/>
                  </a:lnTo>
                </a:path>
                <a:path w="2133600" h="1143000">
                  <a:moveTo>
                    <a:pt x="0" y="128524"/>
                  </a:moveTo>
                  <a:lnTo>
                    <a:pt x="0" y="242824"/>
                  </a:lnTo>
                </a:path>
                <a:path w="2133600" h="1143000">
                  <a:moveTo>
                    <a:pt x="0" y="0"/>
                  </a:moveTo>
                  <a:lnTo>
                    <a:pt x="0" y="52324"/>
                  </a:lnTo>
                </a:path>
                <a:path w="2133600" h="1143000">
                  <a:moveTo>
                    <a:pt x="533400" y="1081024"/>
                  </a:moveTo>
                  <a:lnTo>
                    <a:pt x="533400" y="1142936"/>
                  </a:lnTo>
                </a:path>
                <a:path w="2133600" h="1143000">
                  <a:moveTo>
                    <a:pt x="533400" y="890524"/>
                  </a:moveTo>
                  <a:lnTo>
                    <a:pt x="533400" y="1004824"/>
                  </a:lnTo>
                </a:path>
                <a:path w="2133600" h="1143000">
                  <a:moveTo>
                    <a:pt x="533400" y="700024"/>
                  </a:moveTo>
                  <a:lnTo>
                    <a:pt x="533400" y="814324"/>
                  </a:lnTo>
                </a:path>
                <a:path w="2133600" h="1143000">
                  <a:moveTo>
                    <a:pt x="533400" y="0"/>
                  </a:moveTo>
                  <a:lnTo>
                    <a:pt x="533400" y="623824"/>
                  </a:lnTo>
                </a:path>
                <a:path w="2133600" h="1143000">
                  <a:moveTo>
                    <a:pt x="1066800" y="1081024"/>
                  </a:moveTo>
                  <a:lnTo>
                    <a:pt x="1066800" y="1142936"/>
                  </a:lnTo>
                </a:path>
                <a:path w="2133600" h="1143000">
                  <a:moveTo>
                    <a:pt x="1066800" y="0"/>
                  </a:moveTo>
                  <a:lnTo>
                    <a:pt x="1066800" y="1004824"/>
                  </a:lnTo>
                </a:path>
                <a:path w="2133600" h="1143000">
                  <a:moveTo>
                    <a:pt x="1600200" y="0"/>
                  </a:moveTo>
                  <a:lnTo>
                    <a:pt x="1600200" y="1142936"/>
                  </a:lnTo>
                </a:path>
                <a:path w="2133600" h="1143000">
                  <a:moveTo>
                    <a:pt x="2133600" y="0"/>
                  </a:moveTo>
                  <a:lnTo>
                    <a:pt x="2133600" y="1142936"/>
                  </a:lnTo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438275" y="3562349"/>
              <a:ext cx="1809750" cy="266700"/>
            </a:xfrm>
            <a:custGeom>
              <a:avLst/>
              <a:gdLst/>
              <a:ahLst/>
              <a:cxnLst/>
              <a:rect l="l" t="t" r="r" b="b"/>
              <a:pathLst>
                <a:path w="1809750" h="266700">
                  <a:moveTo>
                    <a:pt x="1600200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1600200" y="76200"/>
                  </a:lnTo>
                  <a:lnTo>
                    <a:pt x="1600200" y="0"/>
                  </a:lnTo>
                  <a:close/>
                </a:path>
                <a:path w="1809750" h="266700">
                  <a:moveTo>
                    <a:pt x="1809750" y="190500"/>
                  </a:moveTo>
                  <a:lnTo>
                    <a:pt x="0" y="190500"/>
                  </a:lnTo>
                  <a:lnTo>
                    <a:pt x="0" y="266700"/>
                  </a:lnTo>
                  <a:lnTo>
                    <a:pt x="1809750" y="266700"/>
                  </a:lnTo>
                  <a:lnTo>
                    <a:pt x="1809750" y="190500"/>
                  </a:lnTo>
                  <a:close/>
                </a:path>
              </a:pathLst>
            </a:custGeom>
            <a:solidFill>
              <a:srgbClr val="0D93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438275" y="3371850"/>
              <a:ext cx="1276350" cy="76200"/>
            </a:xfrm>
            <a:custGeom>
              <a:avLst/>
              <a:gdLst/>
              <a:ahLst/>
              <a:cxnLst/>
              <a:rect l="l" t="t" r="r" b="b"/>
              <a:pathLst>
                <a:path w="1276350" h="76200">
                  <a:moveTo>
                    <a:pt x="1276350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1276350" y="76200"/>
                  </a:lnTo>
                  <a:lnTo>
                    <a:pt x="1276350" y="0"/>
                  </a:lnTo>
                  <a:close/>
                </a:path>
              </a:pathLst>
            </a:custGeom>
            <a:solidFill>
              <a:srgbClr val="13B8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438275" y="2800349"/>
              <a:ext cx="1066800" cy="457200"/>
            </a:xfrm>
            <a:custGeom>
              <a:avLst/>
              <a:gdLst/>
              <a:ahLst/>
              <a:cxnLst/>
              <a:rect l="l" t="t" r="r" b="b"/>
              <a:pathLst>
                <a:path w="1066800" h="457200">
                  <a:moveTo>
                    <a:pt x="847725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847725" y="76200"/>
                  </a:lnTo>
                  <a:lnTo>
                    <a:pt x="847725" y="0"/>
                  </a:lnTo>
                  <a:close/>
                </a:path>
                <a:path w="1066800" h="457200">
                  <a:moveTo>
                    <a:pt x="962025" y="190500"/>
                  </a:moveTo>
                  <a:lnTo>
                    <a:pt x="0" y="190500"/>
                  </a:lnTo>
                  <a:lnTo>
                    <a:pt x="0" y="266700"/>
                  </a:lnTo>
                  <a:lnTo>
                    <a:pt x="962025" y="266700"/>
                  </a:lnTo>
                  <a:lnTo>
                    <a:pt x="962025" y="190500"/>
                  </a:lnTo>
                  <a:close/>
                </a:path>
                <a:path w="1066800" h="457200">
                  <a:moveTo>
                    <a:pt x="1066800" y="381000"/>
                  </a:moveTo>
                  <a:lnTo>
                    <a:pt x="0" y="381000"/>
                  </a:lnTo>
                  <a:lnTo>
                    <a:pt x="0" y="457200"/>
                  </a:lnTo>
                  <a:lnTo>
                    <a:pt x="1066800" y="457200"/>
                  </a:lnTo>
                  <a:lnTo>
                    <a:pt x="1066800" y="381000"/>
                  </a:lnTo>
                  <a:close/>
                </a:path>
              </a:pathLst>
            </a:custGeom>
            <a:solidFill>
              <a:srgbClr val="93A2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395475" y="2748026"/>
              <a:ext cx="2705100" cy="1190625"/>
            </a:xfrm>
            <a:custGeom>
              <a:avLst/>
              <a:gdLst/>
              <a:ahLst/>
              <a:cxnLst/>
              <a:rect l="l" t="t" r="r" b="b"/>
              <a:pathLst>
                <a:path w="2705100" h="1190625">
                  <a:moveTo>
                    <a:pt x="38100" y="1142936"/>
                  </a:moveTo>
                  <a:lnTo>
                    <a:pt x="2705100" y="1142936"/>
                  </a:lnTo>
                </a:path>
                <a:path w="2705100" h="1190625">
                  <a:moveTo>
                    <a:pt x="38100" y="1142936"/>
                  </a:moveTo>
                  <a:lnTo>
                    <a:pt x="38100" y="1190561"/>
                  </a:lnTo>
                </a:path>
                <a:path w="2705100" h="1190625">
                  <a:moveTo>
                    <a:pt x="571500" y="1142936"/>
                  </a:moveTo>
                  <a:lnTo>
                    <a:pt x="571500" y="1190561"/>
                  </a:lnTo>
                </a:path>
                <a:path w="2705100" h="1190625">
                  <a:moveTo>
                    <a:pt x="1104900" y="1142936"/>
                  </a:moveTo>
                  <a:lnTo>
                    <a:pt x="1104900" y="1190561"/>
                  </a:lnTo>
                </a:path>
                <a:path w="2705100" h="1190625">
                  <a:moveTo>
                    <a:pt x="1638300" y="1142936"/>
                  </a:moveTo>
                  <a:lnTo>
                    <a:pt x="1638300" y="1190561"/>
                  </a:lnTo>
                </a:path>
                <a:path w="2705100" h="1190625">
                  <a:moveTo>
                    <a:pt x="2171700" y="1142936"/>
                  </a:moveTo>
                  <a:lnTo>
                    <a:pt x="2171700" y="1190561"/>
                  </a:lnTo>
                </a:path>
                <a:path w="2705100" h="1190625">
                  <a:moveTo>
                    <a:pt x="2705100" y="1142936"/>
                  </a:moveTo>
                  <a:lnTo>
                    <a:pt x="2705100" y="1190561"/>
                  </a:lnTo>
                </a:path>
                <a:path w="2705100" h="1190625">
                  <a:moveTo>
                    <a:pt x="38100" y="1142936"/>
                  </a:moveTo>
                  <a:lnTo>
                    <a:pt x="38100" y="0"/>
                  </a:lnTo>
                </a:path>
                <a:path w="2705100" h="1190625">
                  <a:moveTo>
                    <a:pt x="0" y="1142936"/>
                  </a:moveTo>
                  <a:lnTo>
                    <a:pt x="38100" y="1142936"/>
                  </a:lnTo>
                </a:path>
                <a:path w="2705100" h="1190625">
                  <a:moveTo>
                    <a:pt x="0" y="952500"/>
                  </a:moveTo>
                  <a:lnTo>
                    <a:pt x="38100" y="952500"/>
                  </a:lnTo>
                </a:path>
                <a:path w="2705100" h="1190625">
                  <a:moveTo>
                    <a:pt x="0" y="762000"/>
                  </a:moveTo>
                  <a:lnTo>
                    <a:pt x="38100" y="762000"/>
                  </a:lnTo>
                </a:path>
                <a:path w="2705100" h="1190625">
                  <a:moveTo>
                    <a:pt x="0" y="571500"/>
                  </a:moveTo>
                  <a:lnTo>
                    <a:pt x="38100" y="571500"/>
                  </a:lnTo>
                </a:path>
                <a:path w="2705100" h="1190625">
                  <a:moveTo>
                    <a:pt x="0" y="381000"/>
                  </a:moveTo>
                  <a:lnTo>
                    <a:pt x="38100" y="381000"/>
                  </a:lnTo>
                </a:path>
                <a:path w="2705100" h="1190625">
                  <a:moveTo>
                    <a:pt x="0" y="190500"/>
                  </a:moveTo>
                  <a:lnTo>
                    <a:pt x="38100" y="190500"/>
                  </a:lnTo>
                </a:path>
                <a:path w="2705100" h="1190625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ln w="12700">
              <a:solidFill>
                <a:srgbClr val="8787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1340738" y="3956367"/>
            <a:ext cx="292354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2600" algn="l"/>
                <a:tab pos="1079500" algn="l"/>
                <a:tab pos="1549400" algn="l"/>
                <a:tab pos="2146300" algn="l"/>
                <a:tab pos="2616200" algn="l"/>
              </a:tabLst>
            </a:pPr>
            <a:r>
              <a:rPr sz="1200" spc="-25" dirty="0">
                <a:solidFill>
                  <a:srgbClr val="465469"/>
                </a:solidFill>
                <a:latin typeface="Arial MT"/>
                <a:cs typeface="Arial MT"/>
              </a:rPr>
              <a:t>63</a:t>
            </a:r>
            <a:r>
              <a:rPr sz="1200" dirty="0">
                <a:solidFill>
                  <a:srgbClr val="465469"/>
                </a:solidFill>
                <a:latin typeface="Arial MT"/>
                <a:cs typeface="Arial MT"/>
              </a:rPr>
              <a:t>	</a:t>
            </a:r>
            <a:r>
              <a:rPr sz="1200" spc="-20" dirty="0">
                <a:solidFill>
                  <a:srgbClr val="465469"/>
                </a:solidFill>
                <a:latin typeface="Arial MT"/>
                <a:cs typeface="Arial MT"/>
              </a:rPr>
              <a:t>63,5</a:t>
            </a:r>
            <a:r>
              <a:rPr sz="1200" dirty="0">
                <a:solidFill>
                  <a:srgbClr val="465469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465469"/>
                </a:solidFill>
                <a:latin typeface="Arial MT"/>
                <a:cs typeface="Arial MT"/>
              </a:rPr>
              <a:t>64</a:t>
            </a:r>
            <a:r>
              <a:rPr sz="1200" dirty="0">
                <a:solidFill>
                  <a:srgbClr val="465469"/>
                </a:solidFill>
                <a:latin typeface="Arial MT"/>
                <a:cs typeface="Arial MT"/>
              </a:rPr>
              <a:t>	</a:t>
            </a:r>
            <a:r>
              <a:rPr sz="1200" spc="-20" dirty="0">
                <a:solidFill>
                  <a:srgbClr val="465469"/>
                </a:solidFill>
                <a:latin typeface="Arial MT"/>
                <a:cs typeface="Arial MT"/>
              </a:rPr>
              <a:t>64,5</a:t>
            </a:r>
            <a:r>
              <a:rPr sz="1200" dirty="0">
                <a:solidFill>
                  <a:srgbClr val="465469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465469"/>
                </a:solidFill>
                <a:latin typeface="Arial MT"/>
                <a:cs typeface="Arial MT"/>
              </a:rPr>
              <a:t>65</a:t>
            </a:r>
            <a:r>
              <a:rPr sz="1200" dirty="0">
                <a:solidFill>
                  <a:srgbClr val="465469"/>
                </a:solidFill>
                <a:latin typeface="Arial MT"/>
                <a:cs typeface="Arial MT"/>
              </a:rPr>
              <a:t>	</a:t>
            </a:r>
            <a:r>
              <a:rPr sz="1200" spc="-20" dirty="0">
                <a:solidFill>
                  <a:srgbClr val="465469"/>
                </a:solidFill>
                <a:latin typeface="Arial MT"/>
                <a:cs typeface="Arial MT"/>
              </a:rPr>
              <a:t>65,5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44487" y="2724848"/>
            <a:ext cx="977900" cy="1162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7620" algn="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465469"/>
                </a:solidFill>
                <a:latin typeface="Arial MT"/>
                <a:cs typeface="Arial MT"/>
              </a:rPr>
              <a:t>Group</a:t>
            </a:r>
            <a:r>
              <a:rPr sz="1200" spc="-3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465469"/>
                </a:solidFill>
                <a:latin typeface="Arial MT"/>
                <a:cs typeface="Arial MT"/>
              </a:rPr>
              <a:t>Study</a:t>
            </a:r>
            <a:endParaRPr sz="1200">
              <a:latin typeface="Arial MT"/>
              <a:cs typeface="Arial MT"/>
            </a:endParaRPr>
          </a:p>
          <a:p>
            <a:pPr marL="12700" marR="5080" indent="542925" algn="r">
              <a:lnSpc>
                <a:spcPct val="104299"/>
              </a:lnSpc>
            </a:pPr>
            <a:r>
              <a:rPr sz="1200" spc="-10" dirty="0">
                <a:solidFill>
                  <a:srgbClr val="465469"/>
                </a:solidFill>
                <a:latin typeface="Arial MT"/>
                <a:cs typeface="Arial MT"/>
              </a:rPr>
              <a:t>Mixed Notes Textbook Coaching </a:t>
            </a:r>
            <a:r>
              <a:rPr sz="1200" dirty="0">
                <a:solidFill>
                  <a:srgbClr val="465469"/>
                </a:solidFill>
                <a:latin typeface="Arial MT"/>
                <a:cs typeface="Arial MT"/>
              </a:rPr>
              <a:t>Online</a:t>
            </a:r>
            <a:r>
              <a:rPr sz="1200" spc="-10" dirty="0">
                <a:solidFill>
                  <a:srgbClr val="465469"/>
                </a:solidFill>
                <a:latin typeface="Arial MT"/>
                <a:cs typeface="Arial MT"/>
              </a:rPr>
              <a:t> Videos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655565" y="2332037"/>
            <a:ext cx="236982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E172A"/>
                </a:solidFill>
                <a:latin typeface="Calibri"/>
                <a:cs typeface="Calibri"/>
              </a:rPr>
              <a:t>Score </a:t>
            </a:r>
            <a:r>
              <a:rPr sz="1200" b="1" spc="-10" dirty="0">
                <a:solidFill>
                  <a:srgbClr val="0E172A"/>
                </a:solidFill>
                <a:latin typeface="Calibri"/>
                <a:cs typeface="Calibri"/>
              </a:rPr>
              <a:t>moyen</a:t>
            </a:r>
            <a:r>
              <a:rPr sz="1200" b="1" spc="-3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E172A"/>
                </a:solidFill>
                <a:latin typeface="Calibri"/>
                <a:cs typeface="Calibri"/>
              </a:rPr>
              <a:t>/</a:t>
            </a:r>
            <a:r>
              <a:rPr sz="1200" b="1" spc="1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E172A"/>
                </a:solidFill>
                <a:latin typeface="Calibri"/>
                <a:cs typeface="Calibri"/>
              </a:rPr>
              <a:t>Éducation</a:t>
            </a:r>
            <a:r>
              <a:rPr sz="1200" b="1" spc="-3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E172A"/>
                </a:solidFill>
                <a:latin typeface="Calibri"/>
                <a:cs typeface="Calibri"/>
              </a:rPr>
              <a:t>des</a:t>
            </a:r>
            <a:r>
              <a:rPr sz="1200" b="1" spc="-2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E172A"/>
                </a:solidFill>
                <a:latin typeface="Calibri"/>
                <a:cs typeface="Calibri"/>
              </a:rPr>
              <a:t>Parents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4667250" y="2609850"/>
            <a:ext cx="4171950" cy="1704975"/>
            <a:chOff x="4667250" y="2609850"/>
            <a:chExt cx="4171950" cy="1704975"/>
          </a:xfrm>
        </p:grpSpPr>
        <p:sp>
          <p:nvSpPr>
            <p:cNvPr id="50" name="object 50"/>
            <p:cNvSpPr/>
            <p:nvPr/>
          </p:nvSpPr>
          <p:spPr>
            <a:xfrm>
              <a:off x="4667250" y="2609850"/>
              <a:ext cx="4171950" cy="1704975"/>
            </a:xfrm>
            <a:custGeom>
              <a:avLst/>
              <a:gdLst/>
              <a:ahLst/>
              <a:cxnLst/>
              <a:rect l="l" t="t" r="r" b="b"/>
              <a:pathLst>
                <a:path w="4171950" h="1704975">
                  <a:moveTo>
                    <a:pt x="4044950" y="0"/>
                  </a:moveTo>
                  <a:lnTo>
                    <a:pt x="127000" y="0"/>
                  </a:lnTo>
                  <a:lnTo>
                    <a:pt x="77581" y="9985"/>
                  </a:lnTo>
                  <a:lnTo>
                    <a:pt x="37211" y="37210"/>
                  </a:lnTo>
                  <a:lnTo>
                    <a:pt x="9985" y="77581"/>
                  </a:lnTo>
                  <a:lnTo>
                    <a:pt x="0" y="127000"/>
                  </a:lnTo>
                  <a:lnTo>
                    <a:pt x="0" y="1577936"/>
                  </a:lnTo>
                  <a:lnTo>
                    <a:pt x="9985" y="1627383"/>
                  </a:lnTo>
                  <a:lnTo>
                    <a:pt x="37211" y="1667764"/>
                  </a:lnTo>
                  <a:lnTo>
                    <a:pt x="77581" y="1694990"/>
                  </a:lnTo>
                  <a:lnTo>
                    <a:pt x="127000" y="1704975"/>
                  </a:lnTo>
                  <a:lnTo>
                    <a:pt x="4044950" y="1704975"/>
                  </a:lnTo>
                  <a:lnTo>
                    <a:pt x="4094368" y="1694990"/>
                  </a:lnTo>
                  <a:lnTo>
                    <a:pt x="4134739" y="1667764"/>
                  </a:lnTo>
                  <a:lnTo>
                    <a:pt x="4161964" y="1627383"/>
                  </a:lnTo>
                  <a:lnTo>
                    <a:pt x="4171950" y="1577936"/>
                  </a:lnTo>
                  <a:lnTo>
                    <a:pt x="4171950" y="127000"/>
                  </a:lnTo>
                  <a:lnTo>
                    <a:pt x="4161964" y="77581"/>
                  </a:lnTo>
                  <a:lnTo>
                    <a:pt x="4134739" y="37211"/>
                  </a:lnTo>
                  <a:lnTo>
                    <a:pt x="4094368" y="9985"/>
                  </a:lnTo>
                  <a:lnTo>
                    <a:pt x="4044950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424676" y="2748026"/>
              <a:ext cx="2190750" cy="1219200"/>
            </a:xfrm>
            <a:custGeom>
              <a:avLst/>
              <a:gdLst/>
              <a:ahLst/>
              <a:cxnLst/>
              <a:rect l="l" t="t" r="r" b="b"/>
              <a:pathLst>
                <a:path w="2190750" h="1219200">
                  <a:moveTo>
                    <a:pt x="0" y="1157224"/>
                  </a:moveTo>
                  <a:lnTo>
                    <a:pt x="0" y="1219136"/>
                  </a:lnTo>
                </a:path>
                <a:path w="2190750" h="1219200">
                  <a:moveTo>
                    <a:pt x="0" y="957199"/>
                  </a:moveTo>
                  <a:lnTo>
                    <a:pt x="0" y="1071499"/>
                  </a:lnTo>
                </a:path>
                <a:path w="2190750" h="1219200">
                  <a:moveTo>
                    <a:pt x="0" y="747649"/>
                  </a:moveTo>
                  <a:lnTo>
                    <a:pt x="0" y="871474"/>
                  </a:lnTo>
                </a:path>
                <a:path w="2190750" h="1219200">
                  <a:moveTo>
                    <a:pt x="0" y="547624"/>
                  </a:moveTo>
                  <a:lnTo>
                    <a:pt x="0" y="671449"/>
                  </a:lnTo>
                </a:path>
                <a:path w="2190750" h="1219200">
                  <a:moveTo>
                    <a:pt x="0" y="347599"/>
                  </a:moveTo>
                  <a:lnTo>
                    <a:pt x="0" y="461899"/>
                  </a:lnTo>
                </a:path>
                <a:path w="2190750" h="1219200">
                  <a:moveTo>
                    <a:pt x="0" y="138049"/>
                  </a:moveTo>
                  <a:lnTo>
                    <a:pt x="0" y="261874"/>
                  </a:lnTo>
                </a:path>
                <a:path w="2190750" h="1219200">
                  <a:moveTo>
                    <a:pt x="0" y="0"/>
                  </a:moveTo>
                  <a:lnTo>
                    <a:pt x="0" y="61849"/>
                  </a:lnTo>
                </a:path>
                <a:path w="2190750" h="1219200">
                  <a:moveTo>
                    <a:pt x="733425" y="1157224"/>
                  </a:moveTo>
                  <a:lnTo>
                    <a:pt x="733425" y="1219136"/>
                  </a:lnTo>
                </a:path>
                <a:path w="2190750" h="1219200">
                  <a:moveTo>
                    <a:pt x="733425" y="957199"/>
                  </a:moveTo>
                  <a:lnTo>
                    <a:pt x="733425" y="1071499"/>
                  </a:lnTo>
                </a:path>
                <a:path w="2190750" h="1219200">
                  <a:moveTo>
                    <a:pt x="733425" y="747649"/>
                  </a:moveTo>
                  <a:lnTo>
                    <a:pt x="733425" y="871474"/>
                  </a:lnTo>
                </a:path>
                <a:path w="2190750" h="1219200">
                  <a:moveTo>
                    <a:pt x="733425" y="0"/>
                  </a:moveTo>
                  <a:lnTo>
                    <a:pt x="733425" y="671449"/>
                  </a:lnTo>
                </a:path>
                <a:path w="2190750" h="1219200">
                  <a:moveTo>
                    <a:pt x="1457325" y="1157224"/>
                  </a:moveTo>
                  <a:lnTo>
                    <a:pt x="1457325" y="1219136"/>
                  </a:lnTo>
                </a:path>
                <a:path w="2190750" h="1219200">
                  <a:moveTo>
                    <a:pt x="1457325" y="0"/>
                  </a:moveTo>
                  <a:lnTo>
                    <a:pt x="1457325" y="1071499"/>
                  </a:lnTo>
                </a:path>
                <a:path w="2190750" h="1219200">
                  <a:moveTo>
                    <a:pt x="2190750" y="0"/>
                  </a:moveTo>
                  <a:lnTo>
                    <a:pt x="2190750" y="1219136"/>
                  </a:lnTo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5695950" y="3619499"/>
              <a:ext cx="2333625" cy="285750"/>
            </a:xfrm>
            <a:custGeom>
              <a:avLst/>
              <a:gdLst/>
              <a:ahLst/>
              <a:cxnLst/>
              <a:rect l="l" t="t" r="r" b="b"/>
              <a:pathLst>
                <a:path w="2333625" h="285750">
                  <a:moveTo>
                    <a:pt x="2047875" y="0"/>
                  </a:moveTo>
                  <a:lnTo>
                    <a:pt x="0" y="0"/>
                  </a:lnTo>
                  <a:lnTo>
                    <a:pt x="0" y="85725"/>
                  </a:lnTo>
                  <a:lnTo>
                    <a:pt x="2047875" y="85725"/>
                  </a:lnTo>
                  <a:lnTo>
                    <a:pt x="2047875" y="0"/>
                  </a:lnTo>
                  <a:close/>
                </a:path>
                <a:path w="2333625" h="285750">
                  <a:moveTo>
                    <a:pt x="2333625" y="200025"/>
                  </a:moveTo>
                  <a:lnTo>
                    <a:pt x="0" y="200025"/>
                  </a:lnTo>
                  <a:lnTo>
                    <a:pt x="0" y="285750"/>
                  </a:lnTo>
                  <a:lnTo>
                    <a:pt x="2333625" y="285750"/>
                  </a:lnTo>
                  <a:lnTo>
                    <a:pt x="2333625" y="200025"/>
                  </a:lnTo>
                  <a:close/>
                </a:path>
              </a:pathLst>
            </a:custGeom>
            <a:solidFill>
              <a:srgbClr val="16A2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695950" y="3209924"/>
              <a:ext cx="1676400" cy="285750"/>
            </a:xfrm>
            <a:custGeom>
              <a:avLst/>
              <a:gdLst/>
              <a:ahLst/>
              <a:cxnLst/>
              <a:rect l="l" t="t" r="r" b="b"/>
              <a:pathLst>
                <a:path w="1676400" h="285750">
                  <a:moveTo>
                    <a:pt x="1457325" y="0"/>
                  </a:moveTo>
                  <a:lnTo>
                    <a:pt x="0" y="0"/>
                  </a:lnTo>
                  <a:lnTo>
                    <a:pt x="0" y="85725"/>
                  </a:lnTo>
                  <a:lnTo>
                    <a:pt x="1457325" y="85725"/>
                  </a:lnTo>
                  <a:lnTo>
                    <a:pt x="1457325" y="0"/>
                  </a:lnTo>
                  <a:close/>
                </a:path>
                <a:path w="1676400" h="285750">
                  <a:moveTo>
                    <a:pt x="1676400" y="209550"/>
                  </a:moveTo>
                  <a:lnTo>
                    <a:pt x="0" y="209550"/>
                  </a:lnTo>
                  <a:lnTo>
                    <a:pt x="0" y="285750"/>
                  </a:lnTo>
                  <a:lnTo>
                    <a:pt x="1676400" y="285750"/>
                  </a:lnTo>
                  <a:lnTo>
                    <a:pt x="1676400" y="209550"/>
                  </a:lnTo>
                  <a:close/>
                </a:path>
              </a:pathLst>
            </a:custGeom>
            <a:solidFill>
              <a:srgbClr val="0D93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5695950" y="3009900"/>
              <a:ext cx="1238250" cy="85725"/>
            </a:xfrm>
            <a:custGeom>
              <a:avLst/>
              <a:gdLst/>
              <a:ahLst/>
              <a:cxnLst/>
              <a:rect l="l" t="t" r="r" b="b"/>
              <a:pathLst>
                <a:path w="1238250" h="85725">
                  <a:moveTo>
                    <a:pt x="1238250" y="0"/>
                  </a:moveTo>
                  <a:lnTo>
                    <a:pt x="0" y="0"/>
                  </a:lnTo>
                  <a:lnTo>
                    <a:pt x="0" y="85725"/>
                  </a:lnTo>
                  <a:lnTo>
                    <a:pt x="1238250" y="85725"/>
                  </a:lnTo>
                  <a:lnTo>
                    <a:pt x="1238250" y="0"/>
                  </a:lnTo>
                  <a:close/>
                </a:path>
              </a:pathLst>
            </a:custGeom>
            <a:solidFill>
              <a:srgbClr val="EA57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5695950" y="2809875"/>
              <a:ext cx="800100" cy="76200"/>
            </a:xfrm>
            <a:custGeom>
              <a:avLst/>
              <a:gdLst/>
              <a:ahLst/>
              <a:cxnLst/>
              <a:rect l="l" t="t" r="r" b="b"/>
              <a:pathLst>
                <a:path w="800100" h="76200">
                  <a:moveTo>
                    <a:pt x="800100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800100" y="76200"/>
                  </a:lnTo>
                  <a:lnTo>
                    <a:pt x="800100" y="0"/>
                  </a:lnTo>
                  <a:close/>
                </a:path>
              </a:pathLst>
            </a:custGeom>
            <a:solidFill>
              <a:srgbClr val="DC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653150" y="2748026"/>
              <a:ext cx="2962275" cy="1266825"/>
            </a:xfrm>
            <a:custGeom>
              <a:avLst/>
              <a:gdLst/>
              <a:ahLst/>
              <a:cxnLst/>
              <a:rect l="l" t="t" r="r" b="b"/>
              <a:pathLst>
                <a:path w="2962275" h="1266825">
                  <a:moveTo>
                    <a:pt x="47625" y="1219136"/>
                  </a:moveTo>
                  <a:lnTo>
                    <a:pt x="2962275" y="1219136"/>
                  </a:lnTo>
                </a:path>
                <a:path w="2962275" h="1266825">
                  <a:moveTo>
                    <a:pt x="47625" y="1219136"/>
                  </a:moveTo>
                  <a:lnTo>
                    <a:pt x="47625" y="1266761"/>
                  </a:lnTo>
                </a:path>
                <a:path w="2962275" h="1266825">
                  <a:moveTo>
                    <a:pt x="771525" y="1219136"/>
                  </a:moveTo>
                  <a:lnTo>
                    <a:pt x="771525" y="1266761"/>
                  </a:lnTo>
                </a:path>
                <a:path w="2962275" h="1266825">
                  <a:moveTo>
                    <a:pt x="1504950" y="1219136"/>
                  </a:moveTo>
                  <a:lnTo>
                    <a:pt x="1504950" y="1266761"/>
                  </a:lnTo>
                </a:path>
                <a:path w="2962275" h="1266825">
                  <a:moveTo>
                    <a:pt x="2228850" y="1219136"/>
                  </a:moveTo>
                  <a:lnTo>
                    <a:pt x="2228850" y="1266761"/>
                  </a:lnTo>
                </a:path>
                <a:path w="2962275" h="1266825">
                  <a:moveTo>
                    <a:pt x="2962275" y="1219136"/>
                  </a:moveTo>
                  <a:lnTo>
                    <a:pt x="2962275" y="1266761"/>
                  </a:lnTo>
                </a:path>
                <a:path w="2962275" h="1266825">
                  <a:moveTo>
                    <a:pt x="47625" y="1219136"/>
                  </a:moveTo>
                  <a:lnTo>
                    <a:pt x="47625" y="0"/>
                  </a:lnTo>
                </a:path>
                <a:path w="2962275" h="1266825">
                  <a:moveTo>
                    <a:pt x="0" y="1219136"/>
                  </a:moveTo>
                  <a:lnTo>
                    <a:pt x="47625" y="1219136"/>
                  </a:lnTo>
                </a:path>
                <a:path w="2962275" h="1266825">
                  <a:moveTo>
                    <a:pt x="0" y="1009650"/>
                  </a:moveTo>
                  <a:lnTo>
                    <a:pt x="47625" y="1009650"/>
                  </a:lnTo>
                </a:path>
                <a:path w="2962275" h="1266825">
                  <a:moveTo>
                    <a:pt x="0" y="809625"/>
                  </a:moveTo>
                  <a:lnTo>
                    <a:pt x="47625" y="809625"/>
                  </a:lnTo>
                </a:path>
                <a:path w="2962275" h="1266825">
                  <a:moveTo>
                    <a:pt x="0" y="609600"/>
                  </a:moveTo>
                  <a:lnTo>
                    <a:pt x="47625" y="609600"/>
                  </a:lnTo>
                </a:path>
                <a:path w="2962275" h="1266825">
                  <a:moveTo>
                    <a:pt x="0" y="400050"/>
                  </a:moveTo>
                  <a:lnTo>
                    <a:pt x="47625" y="400050"/>
                  </a:lnTo>
                </a:path>
                <a:path w="2962275" h="1266825">
                  <a:moveTo>
                    <a:pt x="0" y="200025"/>
                  </a:moveTo>
                  <a:lnTo>
                    <a:pt x="47625" y="200025"/>
                  </a:lnTo>
                </a:path>
                <a:path w="2962275" h="12668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ln w="12700">
              <a:solidFill>
                <a:srgbClr val="8787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5607303" y="4033202"/>
            <a:ext cx="31146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41680" algn="l"/>
                <a:tab pos="1471295" algn="l"/>
                <a:tab pos="2200910" algn="l"/>
                <a:tab pos="2929890" algn="l"/>
              </a:tabLst>
            </a:pPr>
            <a:r>
              <a:rPr sz="1200" spc="-25" dirty="0">
                <a:solidFill>
                  <a:srgbClr val="465469"/>
                </a:solidFill>
                <a:latin typeface="Arial MT"/>
                <a:cs typeface="Arial MT"/>
              </a:rPr>
              <a:t>62</a:t>
            </a:r>
            <a:r>
              <a:rPr sz="1200" dirty="0">
                <a:solidFill>
                  <a:srgbClr val="465469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465469"/>
                </a:solidFill>
                <a:latin typeface="Arial MT"/>
                <a:cs typeface="Arial MT"/>
              </a:rPr>
              <a:t>63</a:t>
            </a:r>
            <a:r>
              <a:rPr sz="1200" dirty="0">
                <a:solidFill>
                  <a:srgbClr val="465469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465469"/>
                </a:solidFill>
                <a:latin typeface="Arial MT"/>
                <a:cs typeface="Arial MT"/>
              </a:rPr>
              <a:t>64</a:t>
            </a:r>
            <a:r>
              <a:rPr sz="1200" dirty="0">
                <a:solidFill>
                  <a:srgbClr val="465469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465469"/>
                </a:solidFill>
                <a:latin typeface="Arial MT"/>
                <a:cs typeface="Arial MT"/>
              </a:rPr>
              <a:t>65</a:t>
            </a:r>
            <a:r>
              <a:rPr sz="1200" dirty="0">
                <a:solidFill>
                  <a:srgbClr val="465469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465469"/>
                </a:solidFill>
                <a:latin typeface="Arial MT"/>
                <a:cs typeface="Arial MT"/>
              </a:rPr>
              <a:t>66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4738115" y="2711005"/>
            <a:ext cx="852169" cy="1247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10489" algn="just">
              <a:lnSpc>
                <a:spcPct val="111300"/>
              </a:lnSpc>
              <a:spcBef>
                <a:spcPts val="95"/>
              </a:spcBef>
            </a:pPr>
            <a:r>
              <a:rPr sz="1200" dirty="0">
                <a:solidFill>
                  <a:srgbClr val="465469"/>
                </a:solidFill>
                <a:latin typeface="Arial MT"/>
                <a:cs typeface="Arial MT"/>
              </a:rPr>
              <a:t>No</a:t>
            </a:r>
            <a:r>
              <a:rPr sz="1200" spc="-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465469"/>
                </a:solidFill>
                <a:latin typeface="Arial MT"/>
                <a:cs typeface="Arial MT"/>
              </a:rPr>
              <a:t>Formal </a:t>
            </a:r>
            <a:r>
              <a:rPr sz="1200" dirty="0">
                <a:solidFill>
                  <a:srgbClr val="465469"/>
                </a:solidFill>
                <a:latin typeface="Arial MT"/>
                <a:cs typeface="Arial MT"/>
              </a:rPr>
              <a:t>High</a:t>
            </a:r>
            <a:r>
              <a:rPr sz="1200" spc="-3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465469"/>
                </a:solidFill>
                <a:latin typeface="Arial MT"/>
                <a:cs typeface="Arial MT"/>
              </a:rPr>
              <a:t>School</a:t>
            </a:r>
            <a:endParaRPr sz="1200">
              <a:latin typeface="Arial MT"/>
              <a:cs typeface="Arial MT"/>
            </a:endParaRPr>
          </a:p>
          <a:p>
            <a:pPr marL="140335" marR="6985" indent="135255" algn="just">
              <a:lnSpc>
                <a:spcPct val="111400"/>
              </a:lnSpc>
              <a:spcBef>
                <a:spcPts val="5"/>
              </a:spcBef>
            </a:pPr>
            <a:r>
              <a:rPr sz="1200" spc="-10" dirty="0">
                <a:solidFill>
                  <a:srgbClr val="465469"/>
                </a:solidFill>
                <a:latin typeface="Arial MT"/>
                <a:cs typeface="Arial MT"/>
              </a:rPr>
              <a:t>Diploma Graduate </a:t>
            </a:r>
            <a:r>
              <a:rPr sz="1200" spc="-20" dirty="0">
                <a:solidFill>
                  <a:srgbClr val="465469"/>
                </a:solidFill>
                <a:latin typeface="Arial MT"/>
                <a:cs typeface="Arial MT"/>
              </a:rPr>
              <a:t>Post-Grad</a:t>
            </a:r>
            <a:endParaRPr sz="1200">
              <a:latin typeface="Arial MT"/>
              <a:cs typeface="Arial MT"/>
            </a:endParaRPr>
          </a:p>
          <a:p>
            <a:pPr marL="538480">
              <a:lnSpc>
                <a:spcPct val="100000"/>
              </a:lnSpc>
              <a:spcBef>
                <a:spcPts val="160"/>
              </a:spcBef>
            </a:pPr>
            <a:r>
              <a:rPr sz="1200" spc="-25" dirty="0">
                <a:solidFill>
                  <a:srgbClr val="465469"/>
                </a:solidFill>
                <a:latin typeface="Arial MT"/>
                <a:cs typeface="Arial MT"/>
              </a:rPr>
              <a:t>PhD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6944359" y="4936807"/>
            <a:ext cx="1946910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i="1" dirty="0">
                <a:solidFill>
                  <a:srgbClr val="93A2B8"/>
                </a:solidFill>
                <a:latin typeface="Calibri"/>
                <a:cs typeface="Calibri"/>
              </a:rPr>
              <a:t>Section 2</a:t>
            </a:r>
            <a:r>
              <a:rPr sz="800" i="1" spc="-20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93A2B8"/>
                </a:solidFill>
                <a:latin typeface="Calibri"/>
                <a:cs typeface="Calibri"/>
              </a:rPr>
              <a:t>—</a:t>
            </a:r>
            <a:r>
              <a:rPr sz="800" i="1" spc="-20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93A2B8"/>
                </a:solidFill>
                <a:latin typeface="Calibri"/>
                <a:cs typeface="Calibri"/>
              </a:rPr>
              <a:t>Bivariée</a:t>
            </a:r>
            <a:r>
              <a:rPr sz="800" i="1" spc="35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800" i="1" spc="-10" dirty="0">
                <a:solidFill>
                  <a:srgbClr val="93A2B8"/>
                </a:solidFill>
                <a:latin typeface="Calibri"/>
                <a:cs typeface="Calibri"/>
              </a:rPr>
              <a:t>Numérique</a:t>
            </a:r>
            <a:r>
              <a:rPr sz="800" i="1" spc="-35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93A2B8"/>
                </a:solidFill>
                <a:latin typeface="Calibri"/>
                <a:cs typeface="Calibri"/>
              </a:rPr>
              <a:t>×</a:t>
            </a:r>
            <a:r>
              <a:rPr sz="800" i="1" spc="-5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800" i="1" spc="-10" dirty="0">
                <a:solidFill>
                  <a:srgbClr val="93A2B8"/>
                </a:solidFill>
                <a:latin typeface="Calibri"/>
                <a:cs typeface="Calibri"/>
              </a:rPr>
              <a:t>Catégorielle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280987" y="4367212"/>
            <a:ext cx="8591550" cy="504825"/>
          </a:xfrm>
          <a:prstGeom prst="rect">
            <a:avLst/>
          </a:prstGeom>
          <a:solidFill>
            <a:srgbClr val="CCFAF0"/>
          </a:solidFill>
          <a:ln w="12700">
            <a:solidFill>
              <a:srgbClr val="0D9387"/>
            </a:solidFill>
          </a:ln>
        </p:spPr>
        <p:txBody>
          <a:bodyPr vert="horz" wrap="square" lIns="0" tIns="89535" rIns="0" bIns="0" rtlCol="0">
            <a:spAutoFit/>
          </a:bodyPr>
          <a:lstStyle/>
          <a:p>
            <a:pPr marL="176530" marR="452120">
              <a:lnSpc>
                <a:spcPct val="105500"/>
              </a:lnSpc>
              <a:spcBef>
                <a:spcPts val="705"/>
              </a:spcBef>
            </a:pPr>
            <a:r>
              <a:rPr sz="950" b="1" dirty="0">
                <a:solidFill>
                  <a:srgbClr val="0E172A"/>
                </a:solidFill>
                <a:latin typeface="Calibri"/>
                <a:cs typeface="Calibri"/>
              </a:rPr>
              <a:t>Observation</a:t>
            </a:r>
            <a:r>
              <a:rPr sz="950" b="1" spc="9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0E172A"/>
                </a:solidFill>
                <a:latin typeface="Calibri"/>
                <a:cs typeface="Calibri"/>
              </a:rPr>
              <a:t>:</a:t>
            </a:r>
            <a:r>
              <a:rPr sz="950" b="1" spc="8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950" dirty="0">
                <a:latin typeface="Calibri"/>
                <a:cs typeface="Calibri"/>
              </a:rPr>
              <a:t>notre</a:t>
            </a:r>
            <a:r>
              <a:rPr sz="950" spc="130" dirty="0">
                <a:latin typeface="Calibri"/>
                <a:cs typeface="Calibri"/>
              </a:rPr>
              <a:t> </a:t>
            </a:r>
            <a:r>
              <a:rPr sz="950" dirty="0">
                <a:latin typeface="Calibri"/>
                <a:cs typeface="Calibri"/>
              </a:rPr>
              <a:t>jeu</a:t>
            </a:r>
            <a:r>
              <a:rPr sz="950" spc="90" dirty="0">
                <a:latin typeface="Calibri"/>
                <a:cs typeface="Calibri"/>
              </a:rPr>
              <a:t> </a:t>
            </a:r>
            <a:r>
              <a:rPr sz="950" dirty="0">
                <a:latin typeface="Calibri"/>
                <a:cs typeface="Calibri"/>
              </a:rPr>
              <a:t>de</a:t>
            </a:r>
            <a:r>
              <a:rPr sz="950" spc="30" dirty="0">
                <a:latin typeface="Calibri"/>
                <a:cs typeface="Calibri"/>
              </a:rPr>
              <a:t> </a:t>
            </a:r>
            <a:r>
              <a:rPr sz="950" dirty="0">
                <a:latin typeface="Calibri"/>
                <a:cs typeface="Calibri"/>
              </a:rPr>
              <a:t>données</a:t>
            </a:r>
            <a:r>
              <a:rPr sz="950" spc="65" dirty="0">
                <a:latin typeface="Calibri"/>
                <a:cs typeface="Calibri"/>
              </a:rPr>
              <a:t> </a:t>
            </a:r>
            <a:r>
              <a:rPr sz="950" dirty="0">
                <a:latin typeface="Calibri"/>
                <a:cs typeface="Calibri"/>
              </a:rPr>
              <a:t>décrit</a:t>
            </a:r>
            <a:r>
              <a:rPr sz="950" spc="145" dirty="0">
                <a:latin typeface="Calibri"/>
                <a:cs typeface="Calibri"/>
              </a:rPr>
              <a:t> </a:t>
            </a:r>
            <a:r>
              <a:rPr sz="950" dirty="0">
                <a:latin typeface="Calibri"/>
                <a:cs typeface="Calibri"/>
              </a:rPr>
              <a:t>un</a:t>
            </a:r>
            <a:r>
              <a:rPr sz="950" spc="85" dirty="0">
                <a:latin typeface="Calibri"/>
                <a:cs typeface="Calibri"/>
              </a:rPr>
              <a:t> </a:t>
            </a:r>
            <a:r>
              <a:rPr sz="950" dirty="0">
                <a:latin typeface="Calibri"/>
                <a:cs typeface="Calibri"/>
              </a:rPr>
              <a:t>environnement</a:t>
            </a:r>
            <a:r>
              <a:rPr sz="950" spc="145" dirty="0">
                <a:latin typeface="Calibri"/>
                <a:cs typeface="Calibri"/>
              </a:rPr>
              <a:t> </a:t>
            </a:r>
            <a:r>
              <a:rPr sz="950" dirty="0">
                <a:latin typeface="Calibri"/>
                <a:cs typeface="Calibri"/>
              </a:rPr>
              <a:t>basé</a:t>
            </a:r>
            <a:r>
              <a:rPr sz="950" spc="100" dirty="0">
                <a:latin typeface="Calibri"/>
                <a:cs typeface="Calibri"/>
              </a:rPr>
              <a:t> </a:t>
            </a:r>
            <a:r>
              <a:rPr sz="950" dirty="0">
                <a:latin typeface="Calibri"/>
                <a:cs typeface="Calibri"/>
              </a:rPr>
              <a:t>uniquement</a:t>
            </a:r>
            <a:r>
              <a:rPr sz="950" spc="140" dirty="0">
                <a:latin typeface="Calibri"/>
                <a:cs typeface="Calibri"/>
              </a:rPr>
              <a:t> </a:t>
            </a:r>
            <a:r>
              <a:rPr sz="950" dirty="0">
                <a:latin typeface="Calibri"/>
                <a:cs typeface="Calibri"/>
              </a:rPr>
              <a:t>sur</a:t>
            </a:r>
            <a:r>
              <a:rPr sz="950" spc="25" dirty="0">
                <a:latin typeface="Calibri"/>
                <a:cs typeface="Calibri"/>
              </a:rPr>
              <a:t> </a:t>
            </a:r>
            <a:r>
              <a:rPr sz="950" dirty="0">
                <a:latin typeface="Calibri"/>
                <a:cs typeface="Calibri"/>
              </a:rPr>
              <a:t>le</a:t>
            </a:r>
            <a:r>
              <a:rPr sz="950" spc="130" dirty="0">
                <a:latin typeface="Calibri"/>
                <a:cs typeface="Calibri"/>
              </a:rPr>
              <a:t> </a:t>
            </a:r>
            <a:r>
              <a:rPr sz="950" dirty="0">
                <a:latin typeface="Calibri"/>
                <a:cs typeface="Calibri"/>
              </a:rPr>
              <a:t>mérite</a:t>
            </a:r>
            <a:r>
              <a:rPr sz="950" spc="105" dirty="0">
                <a:latin typeface="Calibri"/>
                <a:cs typeface="Calibri"/>
              </a:rPr>
              <a:t> </a:t>
            </a:r>
            <a:r>
              <a:rPr sz="950" dirty="0">
                <a:latin typeface="Calibri"/>
                <a:cs typeface="Calibri"/>
              </a:rPr>
              <a:t>:</a:t>
            </a:r>
            <a:r>
              <a:rPr sz="950" spc="85" dirty="0">
                <a:latin typeface="Calibri"/>
                <a:cs typeface="Calibri"/>
              </a:rPr>
              <a:t> </a:t>
            </a:r>
            <a:r>
              <a:rPr sz="950" dirty="0">
                <a:latin typeface="Calibri"/>
                <a:cs typeface="Calibri"/>
              </a:rPr>
              <a:t>ce</a:t>
            </a:r>
            <a:r>
              <a:rPr sz="950" spc="35" dirty="0">
                <a:latin typeface="Calibri"/>
                <a:cs typeface="Calibri"/>
              </a:rPr>
              <a:t> </a:t>
            </a:r>
            <a:r>
              <a:rPr sz="950" dirty="0">
                <a:latin typeface="Calibri"/>
                <a:cs typeface="Calibri"/>
              </a:rPr>
              <a:t>n'est</a:t>
            </a:r>
            <a:r>
              <a:rPr sz="950" spc="140" dirty="0">
                <a:latin typeface="Calibri"/>
                <a:cs typeface="Calibri"/>
              </a:rPr>
              <a:t> </a:t>
            </a:r>
            <a:r>
              <a:rPr sz="950" dirty="0">
                <a:latin typeface="Calibri"/>
                <a:cs typeface="Calibri"/>
              </a:rPr>
              <a:t>pas</a:t>
            </a:r>
            <a:r>
              <a:rPr sz="950" spc="70" dirty="0">
                <a:latin typeface="Calibri"/>
                <a:cs typeface="Calibri"/>
              </a:rPr>
              <a:t> </a:t>
            </a:r>
            <a:r>
              <a:rPr sz="950" dirty="0">
                <a:latin typeface="Calibri"/>
                <a:cs typeface="Calibri"/>
              </a:rPr>
              <a:t>le</a:t>
            </a:r>
            <a:r>
              <a:rPr sz="950" spc="130" dirty="0">
                <a:latin typeface="Calibri"/>
                <a:cs typeface="Calibri"/>
              </a:rPr>
              <a:t> </a:t>
            </a:r>
            <a:r>
              <a:rPr sz="950" dirty="0">
                <a:latin typeface="Calibri"/>
                <a:cs typeface="Calibri"/>
              </a:rPr>
              <a:t>milieu</a:t>
            </a:r>
            <a:r>
              <a:rPr sz="950" spc="95" dirty="0">
                <a:latin typeface="Calibri"/>
                <a:cs typeface="Calibri"/>
              </a:rPr>
              <a:t> </a:t>
            </a:r>
            <a:r>
              <a:rPr sz="950" dirty="0">
                <a:latin typeface="Calibri"/>
                <a:cs typeface="Calibri"/>
              </a:rPr>
              <a:t>d'origine</a:t>
            </a:r>
            <a:r>
              <a:rPr sz="950" spc="125" dirty="0">
                <a:latin typeface="Calibri"/>
                <a:cs typeface="Calibri"/>
              </a:rPr>
              <a:t> </a:t>
            </a:r>
            <a:r>
              <a:rPr sz="950" dirty="0">
                <a:latin typeface="Calibri"/>
                <a:cs typeface="Calibri"/>
              </a:rPr>
              <a:t>qui</a:t>
            </a:r>
            <a:r>
              <a:rPr sz="950" spc="75" dirty="0">
                <a:latin typeface="Calibri"/>
                <a:cs typeface="Calibri"/>
              </a:rPr>
              <a:t> </a:t>
            </a:r>
            <a:r>
              <a:rPr sz="950" dirty="0">
                <a:latin typeface="Calibri"/>
                <a:cs typeface="Calibri"/>
              </a:rPr>
              <a:t>dicte</a:t>
            </a:r>
            <a:r>
              <a:rPr sz="950" spc="130" dirty="0">
                <a:latin typeface="Calibri"/>
                <a:cs typeface="Calibri"/>
              </a:rPr>
              <a:t> </a:t>
            </a:r>
            <a:r>
              <a:rPr sz="950" dirty="0">
                <a:latin typeface="Calibri"/>
                <a:cs typeface="Calibri"/>
              </a:rPr>
              <a:t>la</a:t>
            </a:r>
            <a:r>
              <a:rPr sz="950" spc="55" dirty="0">
                <a:latin typeface="Calibri"/>
                <a:cs typeface="Calibri"/>
              </a:rPr>
              <a:t> </a:t>
            </a:r>
            <a:r>
              <a:rPr sz="950" dirty="0">
                <a:latin typeface="Calibri"/>
                <a:cs typeface="Calibri"/>
              </a:rPr>
              <a:t>note,</a:t>
            </a:r>
            <a:r>
              <a:rPr sz="950" spc="150" dirty="0">
                <a:latin typeface="Calibri"/>
                <a:cs typeface="Calibri"/>
              </a:rPr>
              <a:t> </a:t>
            </a:r>
            <a:r>
              <a:rPr sz="950" dirty="0">
                <a:latin typeface="Calibri"/>
                <a:cs typeface="Calibri"/>
              </a:rPr>
              <a:t>mais</a:t>
            </a:r>
            <a:r>
              <a:rPr sz="950" spc="70" dirty="0">
                <a:latin typeface="Calibri"/>
                <a:cs typeface="Calibri"/>
              </a:rPr>
              <a:t> </a:t>
            </a:r>
            <a:r>
              <a:rPr sz="950" dirty="0">
                <a:latin typeface="Calibri"/>
                <a:cs typeface="Calibri"/>
              </a:rPr>
              <a:t>bien</a:t>
            </a:r>
            <a:r>
              <a:rPr sz="950" spc="95" dirty="0">
                <a:latin typeface="Calibri"/>
                <a:cs typeface="Calibri"/>
              </a:rPr>
              <a:t> </a:t>
            </a:r>
            <a:r>
              <a:rPr sz="950" spc="-25" dirty="0">
                <a:latin typeface="Calibri"/>
                <a:cs typeface="Calibri"/>
              </a:rPr>
              <a:t>le</a:t>
            </a:r>
            <a:r>
              <a:rPr sz="950" dirty="0">
                <a:latin typeface="Calibri"/>
                <a:cs typeface="Calibri"/>
              </a:rPr>
              <a:t> travail</a:t>
            </a:r>
            <a:r>
              <a:rPr sz="950" spc="85" dirty="0">
                <a:latin typeface="Calibri"/>
                <a:cs typeface="Calibri"/>
              </a:rPr>
              <a:t> </a:t>
            </a:r>
            <a:r>
              <a:rPr sz="950" dirty="0">
                <a:latin typeface="Calibri"/>
                <a:cs typeface="Calibri"/>
              </a:rPr>
              <a:t>de</a:t>
            </a:r>
            <a:r>
              <a:rPr sz="950" spc="135" dirty="0">
                <a:latin typeface="Calibri"/>
                <a:cs typeface="Calibri"/>
              </a:rPr>
              <a:t> </a:t>
            </a:r>
            <a:r>
              <a:rPr sz="950" spc="-10" dirty="0">
                <a:latin typeface="Calibri"/>
                <a:cs typeface="Calibri"/>
              </a:rPr>
              <a:t>l'étudiant.</a:t>
            </a:r>
            <a:endParaRPr sz="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586" y="-1523"/>
            <a:ext cx="9152255" cy="927100"/>
            <a:chOff x="-1586" y="-1523"/>
            <a:chExt cx="9152255" cy="927100"/>
          </a:xfrm>
        </p:grpSpPr>
        <p:sp>
          <p:nvSpPr>
            <p:cNvPr id="3" name="object 3"/>
            <p:cNvSpPr/>
            <p:nvPr/>
          </p:nvSpPr>
          <p:spPr>
            <a:xfrm>
              <a:off x="4763" y="4826"/>
              <a:ext cx="9139555" cy="914400"/>
            </a:xfrm>
            <a:custGeom>
              <a:avLst/>
              <a:gdLst/>
              <a:ahLst/>
              <a:cxnLst/>
              <a:rect l="l" t="t" r="r" b="b"/>
              <a:pathLst>
                <a:path w="9139555" h="914400">
                  <a:moveTo>
                    <a:pt x="9139236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39236" y="914400"/>
                  </a:lnTo>
                  <a:lnTo>
                    <a:pt x="9139236" y="0"/>
                  </a:lnTo>
                  <a:close/>
                </a:path>
              </a:pathLst>
            </a:custGeom>
            <a:solidFill>
              <a:srgbClr val="0D93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763" y="4826"/>
              <a:ext cx="9139555" cy="914400"/>
            </a:xfrm>
            <a:custGeom>
              <a:avLst/>
              <a:gdLst/>
              <a:ahLst/>
              <a:cxnLst/>
              <a:rect l="l" t="t" r="r" b="b"/>
              <a:pathLst>
                <a:path w="9139555" h="914400">
                  <a:moveTo>
                    <a:pt x="9139236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39236" y="914400"/>
                  </a:lnTo>
                </a:path>
              </a:pathLst>
            </a:custGeom>
            <a:ln w="12700">
              <a:solidFill>
                <a:srgbClr val="0D93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Analyse</a:t>
            </a:r>
            <a:r>
              <a:rPr spc="-50" dirty="0"/>
              <a:t> </a:t>
            </a:r>
            <a:r>
              <a:rPr dirty="0"/>
              <a:t>Bivariée</a:t>
            </a:r>
            <a:r>
              <a:rPr spc="-45" dirty="0"/>
              <a:t> </a:t>
            </a:r>
            <a:r>
              <a:rPr dirty="0"/>
              <a:t>—</a:t>
            </a:r>
            <a:r>
              <a:rPr spc="-20" dirty="0"/>
              <a:t> </a:t>
            </a:r>
            <a:r>
              <a:rPr spc="-10" dirty="0"/>
              <a:t>Catégorielle</a:t>
            </a:r>
            <a:r>
              <a:rPr spc="-20" dirty="0"/>
              <a:t> </a:t>
            </a:r>
            <a:r>
              <a:rPr dirty="0"/>
              <a:t>×</a:t>
            </a:r>
            <a:r>
              <a:rPr spc="-15" dirty="0"/>
              <a:t> </a:t>
            </a:r>
            <a:r>
              <a:rPr spc="-10" dirty="0"/>
              <a:t>Catégorielle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53377" y="612203"/>
            <a:ext cx="254127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i="1" dirty="0">
                <a:solidFill>
                  <a:srgbClr val="FFFFFF"/>
                </a:solidFill>
                <a:latin typeface="Calibri"/>
                <a:cs typeface="Calibri"/>
              </a:rPr>
              <a:t>Répartition</a:t>
            </a:r>
            <a:r>
              <a:rPr sz="1050" i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FFFFFF"/>
                </a:solidFill>
                <a:latin typeface="Calibri"/>
                <a:cs typeface="Calibri"/>
              </a:rPr>
              <a:t>des</a:t>
            </a:r>
            <a:r>
              <a:rPr sz="1050" i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FFFFFF"/>
                </a:solidFill>
                <a:latin typeface="Calibri"/>
                <a:cs typeface="Calibri"/>
              </a:rPr>
              <a:t>notes par</a:t>
            </a:r>
            <a:r>
              <a:rPr sz="1050" i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FFFFFF"/>
                </a:solidFill>
                <a:latin typeface="Calibri"/>
                <a:cs typeface="Calibri"/>
              </a:rPr>
              <a:t>méthode</a:t>
            </a:r>
            <a:r>
              <a:rPr sz="1050" i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i="1" spc="-10" dirty="0">
                <a:solidFill>
                  <a:srgbClr val="FFFFFF"/>
                </a:solidFill>
                <a:latin typeface="Calibri"/>
                <a:cs typeface="Calibri"/>
              </a:rPr>
              <a:t>d'étude</a:t>
            </a:r>
            <a:r>
              <a:rPr sz="1050" i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i="1" spc="-25" dirty="0">
                <a:solidFill>
                  <a:srgbClr val="FFFFFF"/>
                </a:solidFill>
                <a:latin typeface="Calibri"/>
                <a:cs typeface="Calibri"/>
              </a:rPr>
              <a:t>(%)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428101" y="93726"/>
            <a:ext cx="612775" cy="603250"/>
            <a:chOff x="8428101" y="93726"/>
            <a:chExt cx="612775" cy="603250"/>
          </a:xfrm>
        </p:grpSpPr>
        <p:sp>
          <p:nvSpPr>
            <p:cNvPr id="8" name="object 8"/>
            <p:cNvSpPr/>
            <p:nvPr/>
          </p:nvSpPr>
          <p:spPr>
            <a:xfrm>
              <a:off x="8434451" y="100076"/>
              <a:ext cx="600075" cy="590550"/>
            </a:xfrm>
            <a:custGeom>
              <a:avLst/>
              <a:gdLst/>
              <a:ahLst/>
              <a:cxnLst/>
              <a:rect l="l" t="t" r="r" b="b"/>
              <a:pathLst>
                <a:path w="600075" h="590550">
                  <a:moveTo>
                    <a:pt x="299974" y="0"/>
                  </a:moveTo>
                  <a:lnTo>
                    <a:pt x="251301" y="3861"/>
                  </a:lnTo>
                  <a:lnTo>
                    <a:pt x="205134" y="15041"/>
                  </a:lnTo>
                  <a:lnTo>
                    <a:pt x="162090" y="32935"/>
                  </a:lnTo>
                  <a:lnTo>
                    <a:pt x="122785" y="56936"/>
                  </a:lnTo>
                  <a:lnTo>
                    <a:pt x="87836" y="86439"/>
                  </a:lnTo>
                  <a:lnTo>
                    <a:pt x="57859" y="120837"/>
                  </a:lnTo>
                  <a:lnTo>
                    <a:pt x="33470" y="159526"/>
                  </a:lnTo>
                  <a:lnTo>
                    <a:pt x="15286" y="201899"/>
                  </a:lnTo>
                  <a:lnTo>
                    <a:pt x="3924" y="247350"/>
                  </a:lnTo>
                  <a:lnTo>
                    <a:pt x="0" y="295275"/>
                  </a:lnTo>
                  <a:lnTo>
                    <a:pt x="3924" y="343168"/>
                  </a:lnTo>
                  <a:lnTo>
                    <a:pt x="15286" y="388601"/>
                  </a:lnTo>
                  <a:lnTo>
                    <a:pt x="33470" y="430967"/>
                  </a:lnTo>
                  <a:lnTo>
                    <a:pt x="57859" y="469657"/>
                  </a:lnTo>
                  <a:lnTo>
                    <a:pt x="87836" y="504063"/>
                  </a:lnTo>
                  <a:lnTo>
                    <a:pt x="122785" y="533576"/>
                  </a:lnTo>
                  <a:lnTo>
                    <a:pt x="162090" y="557590"/>
                  </a:lnTo>
                  <a:lnTo>
                    <a:pt x="205134" y="575495"/>
                  </a:lnTo>
                  <a:lnTo>
                    <a:pt x="251301" y="586685"/>
                  </a:lnTo>
                  <a:lnTo>
                    <a:pt x="299974" y="590550"/>
                  </a:lnTo>
                  <a:lnTo>
                    <a:pt x="348650" y="586685"/>
                  </a:lnTo>
                  <a:lnTo>
                    <a:pt x="394826" y="575495"/>
                  </a:lnTo>
                  <a:lnTo>
                    <a:pt x="437884" y="557590"/>
                  </a:lnTo>
                  <a:lnTo>
                    <a:pt x="477207" y="533576"/>
                  </a:lnTo>
                  <a:lnTo>
                    <a:pt x="512175" y="504063"/>
                  </a:lnTo>
                  <a:lnTo>
                    <a:pt x="542171" y="469657"/>
                  </a:lnTo>
                  <a:lnTo>
                    <a:pt x="566577" y="430967"/>
                  </a:lnTo>
                  <a:lnTo>
                    <a:pt x="584775" y="388601"/>
                  </a:lnTo>
                  <a:lnTo>
                    <a:pt x="596147" y="343168"/>
                  </a:lnTo>
                  <a:lnTo>
                    <a:pt x="600075" y="295275"/>
                  </a:lnTo>
                  <a:lnTo>
                    <a:pt x="596147" y="247350"/>
                  </a:lnTo>
                  <a:lnTo>
                    <a:pt x="584775" y="201899"/>
                  </a:lnTo>
                  <a:lnTo>
                    <a:pt x="566577" y="159526"/>
                  </a:lnTo>
                  <a:lnTo>
                    <a:pt x="542171" y="120837"/>
                  </a:lnTo>
                  <a:lnTo>
                    <a:pt x="512175" y="86439"/>
                  </a:lnTo>
                  <a:lnTo>
                    <a:pt x="477207" y="56936"/>
                  </a:lnTo>
                  <a:lnTo>
                    <a:pt x="437884" y="32935"/>
                  </a:lnTo>
                  <a:lnTo>
                    <a:pt x="394826" y="15041"/>
                  </a:lnTo>
                  <a:lnTo>
                    <a:pt x="348650" y="3861"/>
                  </a:lnTo>
                  <a:lnTo>
                    <a:pt x="2999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434451" y="100076"/>
              <a:ext cx="600075" cy="590550"/>
            </a:xfrm>
            <a:custGeom>
              <a:avLst/>
              <a:gdLst/>
              <a:ahLst/>
              <a:cxnLst/>
              <a:rect l="l" t="t" r="r" b="b"/>
              <a:pathLst>
                <a:path w="600075" h="590550">
                  <a:moveTo>
                    <a:pt x="0" y="295275"/>
                  </a:moveTo>
                  <a:lnTo>
                    <a:pt x="3924" y="247350"/>
                  </a:lnTo>
                  <a:lnTo>
                    <a:pt x="15286" y="201899"/>
                  </a:lnTo>
                  <a:lnTo>
                    <a:pt x="33470" y="159526"/>
                  </a:lnTo>
                  <a:lnTo>
                    <a:pt x="57859" y="120837"/>
                  </a:lnTo>
                  <a:lnTo>
                    <a:pt x="87836" y="86439"/>
                  </a:lnTo>
                  <a:lnTo>
                    <a:pt x="122785" y="56936"/>
                  </a:lnTo>
                  <a:lnTo>
                    <a:pt x="162090" y="32935"/>
                  </a:lnTo>
                  <a:lnTo>
                    <a:pt x="205134" y="15041"/>
                  </a:lnTo>
                  <a:lnTo>
                    <a:pt x="251301" y="3861"/>
                  </a:lnTo>
                  <a:lnTo>
                    <a:pt x="299974" y="0"/>
                  </a:lnTo>
                  <a:lnTo>
                    <a:pt x="348650" y="3861"/>
                  </a:lnTo>
                  <a:lnTo>
                    <a:pt x="394826" y="15041"/>
                  </a:lnTo>
                  <a:lnTo>
                    <a:pt x="437884" y="32935"/>
                  </a:lnTo>
                  <a:lnTo>
                    <a:pt x="477207" y="56936"/>
                  </a:lnTo>
                  <a:lnTo>
                    <a:pt x="512175" y="86439"/>
                  </a:lnTo>
                  <a:lnTo>
                    <a:pt x="542171" y="120837"/>
                  </a:lnTo>
                  <a:lnTo>
                    <a:pt x="566577" y="159526"/>
                  </a:lnTo>
                  <a:lnTo>
                    <a:pt x="584775" y="201899"/>
                  </a:lnTo>
                  <a:lnTo>
                    <a:pt x="596147" y="247350"/>
                  </a:lnTo>
                  <a:lnTo>
                    <a:pt x="600075" y="295275"/>
                  </a:lnTo>
                  <a:lnTo>
                    <a:pt x="596147" y="343168"/>
                  </a:lnTo>
                  <a:lnTo>
                    <a:pt x="584775" y="388601"/>
                  </a:lnTo>
                  <a:lnTo>
                    <a:pt x="566577" y="430967"/>
                  </a:lnTo>
                  <a:lnTo>
                    <a:pt x="542171" y="469657"/>
                  </a:lnTo>
                  <a:lnTo>
                    <a:pt x="512175" y="504063"/>
                  </a:lnTo>
                  <a:lnTo>
                    <a:pt x="477207" y="533576"/>
                  </a:lnTo>
                  <a:lnTo>
                    <a:pt x="437884" y="557590"/>
                  </a:lnTo>
                  <a:lnTo>
                    <a:pt x="394826" y="575495"/>
                  </a:lnTo>
                  <a:lnTo>
                    <a:pt x="348650" y="586685"/>
                  </a:lnTo>
                  <a:lnTo>
                    <a:pt x="299974" y="590550"/>
                  </a:lnTo>
                  <a:lnTo>
                    <a:pt x="251301" y="586685"/>
                  </a:lnTo>
                  <a:lnTo>
                    <a:pt x="205134" y="575495"/>
                  </a:lnTo>
                  <a:lnTo>
                    <a:pt x="162090" y="557590"/>
                  </a:lnTo>
                  <a:lnTo>
                    <a:pt x="122785" y="533576"/>
                  </a:lnTo>
                  <a:lnTo>
                    <a:pt x="87836" y="504063"/>
                  </a:lnTo>
                  <a:lnTo>
                    <a:pt x="57859" y="469657"/>
                  </a:lnTo>
                  <a:lnTo>
                    <a:pt x="33470" y="430967"/>
                  </a:lnTo>
                  <a:lnTo>
                    <a:pt x="15286" y="388601"/>
                  </a:lnTo>
                  <a:lnTo>
                    <a:pt x="3924" y="343168"/>
                  </a:lnTo>
                  <a:lnTo>
                    <a:pt x="0" y="29527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8672576" y="245173"/>
            <a:ext cx="12700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-50" dirty="0">
                <a:solidFill>
                  <a:srgbClr val="0D9387"/>
                </a:solidFill>
                <a:latin typeface="Calibri"/>
                <a:cs typeface="Calibri"/>
              </a:rPr>
              <a:t>2</a:t>
            </a:r>
            <a:endParaRPr sz="1550">
              <a:latin typeface="Calibri"/>
              <a:cs typeface="Calibri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271145" y="1021080"/>
          <a:ext cx="7548877" cy="31597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5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2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21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09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2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15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439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148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090"/>
                        </a:spcBef>
                      </a:pPr>
                      <a:r>
                        <a:rPr sz="10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Méthode</a:t>
                      </a:r>
                      <a:r>
                        <a:rPr sz="105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sz="105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Note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3843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0D9387"/>
                    </a:solidFill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090"/>
                        </a:spcBef>
                      </a:pPr>
                      <a:r>
                        <a:rPr sz="105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3843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0D9387"/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1090"/>
                        </a:spcBef>
                      </a:pPr>
                      <a:r>
                        <a:rPr sz="105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3843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0D9387"/>
                    </a:solidFill>
                  </a:tcPr>
                </a:tc>
                <a:tc>
                  <a:txBody>
                    <a:bodyPr/>
                    <a:lstStyle/>
                    <a:p>
                      <a:pPr marL="39370" algn="ctr">
                        <a:lnSpc>
                          <a:spcPct val="100000"/>
                        </a:lnSpc>
                        <a:spcBef>
                          <a:spcPts val="1090"/>
                        </a:spcBef>
                      </a:pPr>
                      <a:r>
                        <a:rPr sz="105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3843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0D9387"/>
                    </a:solidFill>
                  </a:tcPr>
                </a:tc>
                <a:tc>
                  <a:txBody>
                    <a:bodyPr/>
                    <a:lstStyle/>
                    <a:p>
                      <a:pPr marL="40640" algn="ctr">
                        <a:lnSpc>
                          <a:spcPct val="100000"/>
                        </a:lnSpc>
                        <a:spcBef>
                          <a:spcPts val="1090"/>
                        </a:spcBef>
                      </a:pPr>
                      <a:r>
                        <a:rPr sz="105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3843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0D9387"/>
                    </a:solidFill>
                  </a:tcPr>
                </a:tc>
                <a:tc>
                  <a:txBody>
                    <a:bodyPr/>
                    <a:lstStyle/>
                    <a:p>
                      <a:pPr marL="42545" algn="ctr">
                        <a:lnSpc>
                          <a:spcPct val="100000"/>
                        </a:lnSpc>
                        <a:spcBef>
                          <a:spcPts val="1090"/>
                        </a:spcBef>
                      </a:pPr>
                      <a:r>
                        <a:rPr sz="105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3843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0D9387"/>
                    </a:solidFill>
                  </a:tcPr>
                </a:tc>
                <a:tc>
                  <a:txBody>
                    <a:bodyPr/>
                    <a:lstStyle/>
                    <a:p>
                      <a:pPr marL="44450" algn="ctr">
                        <a:lnSpc>
                          <a:spcPct val="100000"/>
                        </a:lnSpc>
                        <a:spcBef>
                          <a:spcPts val="1090"/>
                        </a:spcBef>
                      </a:pPr>
                      <a:r>
                        <a:rPr sz="105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3843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0D93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148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1050" spc="-1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Coaching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3906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1050" spc="-2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5.1%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3906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1050" spc="-1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11.2%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3906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1050" spc="-1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24.8%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3906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C5EECE"/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1050" spc="-25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25%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3906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C5EECE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1050" spc="-1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22.2%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3906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C5EECE"/>
                    </a:solidFill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1050" spc="-1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11.7%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3906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FEB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148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105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Online </a:t>
                      </a:r>
                      <a:r>
                        <a:rPr sz="1050" spc="-1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Videos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4033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1050" spc="-2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4.9%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4033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1050" spc="-25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11%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4033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1050" spc="-1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24.5%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4033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C5EECE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1050" spc="-1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25.3%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4033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C5EECE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1050" spc="-1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22.6%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4033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C5EECE"/>
                    </a:solidFill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1050" spc="-1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11.7%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4033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FEB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050" spc="-1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Mixed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050" spc="-2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4.7%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050" spc="-1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10.8%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050" spc="-1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24.6%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C5EECE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050" spc="-1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25.1%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C5EECE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050" spc="-1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22.6%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C5EECE"/>
                    </a:solidFill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050" spc="-1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12.2%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FEB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148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r>
                        <a:rPr sz="1050" spc="-1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Textbook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4160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r>
                        <a:rPr sz="1050" spc="-2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4.8%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4160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r>
                        <a:rPr sz="1050" spc="-1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10.9%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4160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r>
                        <a:rPr sz="1050" spc="-1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24.6%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4160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C5EECE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r>
                        <a:rPr sz="1050" spc="-1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25.1%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4160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C5EECE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r>
                        <a:rPr sz="1050" spc="-1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22.5%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4160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C5EECE"/>
                    </a:solidFill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r>
                        <a:rPr sz="1050" spc="-1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12.1%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4160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FEB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148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sz="1050" spc="-1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Notes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4287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sz="1050" spc="-2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4.8%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4287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sz="1050" spc="-1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10.9%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4287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sz="1050" spc="-1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24.7%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4287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C5EECE"/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sz="1050" spc="-25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25%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4287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C5EECE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sz="1050" spc="-1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22.4%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4287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C5EECE"/>
                    </a:solidFill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sz="1050" spc="-1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12.2%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4287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FEB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148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r>
                        <a:rPr sz="105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Group</a:t>
                      </a:r>
                      <a:r>
                        <a:rPr sz="1050" spc="-2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Study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4351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r>
                        <a:rPr sz="1050" spc="-2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4.7%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4351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r>
                        <a:rPr sz="1050" spc="-1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10.7%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4351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r>
                        <a:rPr sz="1050" spc="-1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24.4%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4351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C5EECE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r>
                        <a:rPr sz="1050" spc="-1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25.2%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4351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C5EECE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r>
                        <a:rPr sz="1050" spc="-1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22.8%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4351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C5EECE"/>
                    </a:solidFill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r>
                        <a:rPr sz="1050" spc="-1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12.2%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4351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FEB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271462" y="4291012"/>
            <a:ext cx="8115300" cy="476250"/>
          </a:xfrm>
          <a:prstGeom prst="rect">
            <a:avLst/>
          </a:prstGeom>
          <a:solidFill>
            <a:srgbClr val="CCFAF0"/>
          </a:solidFill>
          <a:ln w="12700">
            <a:solidFill>
              <a:srgbClr val="0D9387"/>
            </a:solidFill>
          </a:ln>
        </p:spPr>
        <p:txBody>
          <a:bodyPr vert="horz" wrap="square" lIns="0" tIns="70485" rIns="0" bIns="0" rtlCol="0">
            <a:spAutoFit/>
          </a:bodyPr>
          <a:lstStyle/>
          <a:p>
            <a:pPr marL="90170" marR="309245">
              <a:lnSpc>
                <a:spcPct val="105500"/>
              </a:lnSpc>
              <a:spcBef>
                <a:spcPts val="555"/>
              </a:spcBef>
            </a:pPr>
            <a:r>
              <a:rPr sz="950" b="1" spc="10" dirty="0">
                <a:solidFill>
                  <a:srgbClr val="0E172A"/>
                </a:solidFill>
                <a:latin typeface="Calibri"/>
                <a:cs typeface="Calibri"/>
              </a:rPr>
              <a:t>Observation</a:t>
            </a:r>
            <a:r>
              <a:rPr sz="950" b="1" spc="5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950" b="1" spc="10" dirty="0">
                <a:solidFill>
                  <a:srgbClr val="0E172A"/>
                </a:solidFill>
                <a:latin typeface="Calibri"/>
                <a:cs typeface="Calibri"/>
              </a:rPr>
              <a:t>:</a:t>
            </a:r>
            <a:r>
              <a:rPr sz="950" b="1" spc="8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950" spc="10" dirty="0">
                <a:solidFill>
                  <a:srgbClr val="0E172A"/>
                </a:solidFill>
                <a:latin typeface="Calibri"/>
                <a:cs typeface="Calibri"/>
              </a:rPr>
              <a:t>La</a:t>
            </a:r>
            <a:r>
              <a:rPr sz="950" spc="4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950" spc="10" dirty="0">
                <a:solidFill>
                  <a:srgbClr val="0E172A"/>
                </a:solidFill>
                <a:latin typeface="Calibri"/>
                <a:cs typeface="Calibri"/>
              </a:rPr>
              <a:t>méthode</a:t>
            </a:r>
            <a:r>
              <a:rPr sz="950" spc="11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950" spc="10" dirty="0">
                <a:solidFill>
                  <a:srgbClr val="0E172A"/>
                </a:solidFill>
                <a:latin typeface="Calibri"/>
                <a:cs typeface="Calibri"/>
              </a:rPr>
              <a:t>d'étude n'influence</a:t>
            </a:r>
            <a:r>
              <a:rPr sz="950" spc="1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950" spc="10" dirty="0">
                <a:solidFill>
                  <a:srgbClr val="0E172A"/>
                </a:solidFill>
                <a:latin typeface="Calibri"/>
                <a:cs typeface="Calibri"/>
              </a:rPr>
              <a:t>pas</a:t>
            </a:r>
            <a:r>
              <a:rPr sz="950" spc="5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950" spc="10" dirty="0">
                <a:solidFill>
                  <a:srgbClr val="0E172A"/>
                </a:solidFill>
                <a:latin typeface="Calibri"/>
                <a:cs typeface="Calibri"/>
              </a:rPr>
              <a:t>significativement</a:t>
            </a:r>
            <a:r>
              <a:rPr sz="950" spc="3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950" spc="10" dirty="0">
                <a:solidFill>
                  <a:srgbClr val="0E172A"/>
                </a:solidFill>
                <a:latin typeface="Calibri"/>
                <a:cs typeface="Calibri"/>
              </a:rPr>
              <a:t>la</a:t>
            </a:r>
            <a:r>
              <a:rPr sz="950" spc="12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950" spc="10" dirty="0">
                <a:solidFill>
                  <a:srgbClr val="0E172A"/>
                </a:solidFill>
                <a:latin typeface="Calibri"/>
                <a:cs typeface="Calibri"/>
              </a:rPr>
              <a:t>distribution</a:t>
            </a:r>
            <a:r>
              <a:rPr sz="950" spc="7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950" spc="10" dirty="0">
                <a:solidFill>
                  <a:srgbClr val="0E172A"/>
                </a:solidFill>
                <a:latin typeface="Calibri"/>
                <a:cs typeface="Calibri"/>
              </a:rPr>
              <a:t>des</a:t>
            </a:r>
            <a:r>
              <a:rPr sz="950" spc="5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950" spc="10" dirty="0">
                <a:solidFill>
                  <a:srgbClr val="0E172A"/>
                </a:solidFill>
                <a:latin typeface="Calibri"/>
                <a:cs typeface="Calibri"/>
              </a:rPr>
              <a:t>notes.</a:t>
            </a:r>
            <a:r>
              <a:rPr sz="950" spc="3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950" spc="10" dirty="0">
                <a:solidFill>
                  <a:srgbClr val="0E172A"/>
                </a:solidFill>
                <a:latin typeface="Calibri"/>
                <a:cs typeface="Calibri"/>
              </a:rPr>
              <a:t>Les</a:t>
            </a:r>
            <a:r>
              <a:rPr sz="950" spc="14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950" spc="10" dirty="0">
                <a:solidFill>
                  <a:srgbClr val="0E172A"/>
                </a:solidFill>
                <a:latin typeface="Calibri"/>
                <a:cs typeface="Calibri"/>
              </a:rPr>
              <a:t>pourcentages</a:t>
            </a:r>
            <a:r>
              <a:rPr sz="950" spc="14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950" spc="10" dirty="0">
                <a:solidFill>
                  <a:srgbClr val="0E172A"/>
                </a:solidFill>
                <a:latin typeface="Calibri"/>
                <a:cs typeface="Calibri"/>
              </a:rPr>
              <a:t>sont</a:t>
            </a:r>
            <a:r>
              <a:rPr sz="950" spc="3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950" spc="10" dirty="0">
                <a:solidFill>
                  <a:srgbClr val="0E172A"/>
                </a:solidFill>
                <a:latin typeface="Calibri"/>
                <a:cs typeface="Calibri"/>
              </a:rPr>
              <a:t>quasi-identiques</a:t>
            </a:r>
            <a:r>
              <a:rPr sz="950" spc="5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950" spc="10" dirty="0">
                <a:solidFill>
                  <a:srgbClr val="0E172A"/>
                </a:solidFill>
                <a:latin typeface="Calibri"/>
                <a:cs typeface="Calibri"/>
              </a:rPr>
              <a:t>entre</a:t>
            </a:r>
            <a:r>
              <a:rPr sz="950" spc="10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950" spc="10" dirty="0">
                <a:solidFill>
                  <a:srgbClr val="0E172A"/>
                </a:solidFill>
                <a:latin typeface="Calibri"/>
                <a:cs typeface="Calibri"/>
              </a:rPr>
              <a:t>toutes</a:t>
            </a:r>
            <a:r>
              <a:rPr sz="950" spc="5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950" spc="-25" dirty="0">
                <a:solidFill>
                  <a:srgbClr val="0E172A"/>
                </a:solidFill>
                <a:latin typeface="Calibri"/>
                <a:cs typeface="Calibri"/>
              </a:rPr>
              <a:t>les</a:t>
            </a:r>
            <a:r>
              <a:rPr sz="950" dirty="0">
                <a:solidFill>
                  <a:srgbClr val="0E172A"/>
                </a:solidFill>
                <a:latin typeface="Calibri"/>
                <a:cs typeface="Calibri"/>
              </a:rPr>
              <a:t> méthodes</a:t>
            </a:r>
            <a:r>
              <a:rPr sz="950" spc="8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0E172A"/>
                </a:solidFill>
                <a:latin typeface="Calibri"/>
                <a:cs typeface="Calibri"/>
              </a:rPr>
              <a:t>,</a:t>
            </a:r>
            <a:r>
              <a:rPr sz="950" spc="13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0E172A"/>
                </a:solidFill>
                <a:latin typeface="Calibri"/>
                <a:cs typeface="Calibri"/>
              </a:rPr>
              <a:t>d'autres</a:t>
            </a:r>
            <a:r>
              <a:rPr sz="950" spc="11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0E172A"/>
                </a:solidFill>
                <a:latin typeface="Calibri"/>
                <a:cs typeface="Calibri"/>
              </a:rPr>
              <a:t>facteurs</a:t>
            </a:r>
            <a:r>
              <a:rPr sz="950" spc="10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0E172A"/>
                </a:solidFill>
                <a:latin typeface="Calibri"/>
                <a:cs typeface="Calibri"/>
              </a:rPr>
              <a:t>sont</a:t>
            </a:r>
            <a:r>
              <a:rPr sz="950" spc="8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0E172A"/>
                </a:solidFill>
                <a:latin typeface="Calibri"/>
                <a:cs typeface="Calibri"/>
              </a:rPr>
              <a:t>plus</a:t>
            </a:r>
            <a:r>
              <a:rPr sz="950" spc="10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0E172A"/>
                </a:solidFill>
                <a:latin typeface="Calibri"/>
                <a:cs typeface="Calibri"/>
              </a:rPr>
              <a:t>déterminants.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636131" y="4877434"/>
            <a:ext cx="2254885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i="1" dirty="0">
                <a:solidFill>
                  <a:srgbClr val="93A2B8"/>
                </a:solidFill>
                <a:latin typeface="Calibri"/>
                <a:cs typeface="Calibri"/>
              </a:rPr>
              <a:t>Section</a:t>
            </a:r>
            <a:r>
              <a:rPr sz="800" i="1" spc="15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93A2B8"/>
                </a:solidFill>
                <a:latin typeface="Calibri"/>
                <a:cs typeface="Calibri"/>
              </a:rPr>
              <a:t>2</a:t>
            </a:r>
            <a:r>
              <a:rPr sz="800" i="1" spc="-10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93A2B8"/>
                </a:solidFill>
                <a:latin typeface="Calibri"/>
                <a:cs typeface="Calibri"/>
              </a:rPr>
              <a:t>—</a:t>
            </a:r>
            <a:r>
              <a:rPr sz="800" i="1" spc="-5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800" i="1" spc="-10" dirty="0">
                <a:solidFill>
                  <a:srgbClr val="93A2B8"/>
                </a:solidFill>
                <a:latin typeface="Calibri"/>
                <a:cs typeface="Calibri"/>
              </a:rPr>
              <a:t>Tableau</a:t>
            </a:r>
            <a:r>
              <a:rPr sz="800" i="1" spc="25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93A2B8"/>
                </a:solidFill>
                <a:latin typeface="Calibri"/>
                <a:cs typeface="Calibri"/>
              </a:rPr>
              <a:t>Croisé</a:t>
            </a:r>
            <a:r>
              <a:rPr sz="800" i="1" spc="-30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800" i="1" spc="-10" dirty="0">
                <a:solidFill>
                  <a:srgbClr val="93A2B8"/>
                </a:solidFill>
                <a:latin typeface="Calibri"/>
                <a:cs typeface="Calibri"/>
              </a:rPr>
              <a:t>Catégorielle</a:t>
            </a:r>
            <a:r>
              <a:rPr sz="800" i="1" spc="15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93A2B8"/>
                </a:solidFill>
                <a:latin typeface="Calibri"/>
                <a:cs typeface="Calibri"/>
              </a:rPr>
              <a:t>×</a:t>
            </a:r>
            <a:r>
              <a:rPr sz="800" i="1" spc="5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800" i="1" spc="-10" dirty="0">
                <a:solidFill>
                  <a:srgbClr val="93A2B8"/>
                </a:solidFill>
                <a:latin typeface="Calibri"/>
                <a:cs typeface="Calibri"/>
              </a:rPr>
              <a:t>Catégorielle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586" y="-1523"/>
            <a:ext cx="9152255" cy="927100"/>
            <a:chOff x="-1586" y="-1523"/>
            <a:chExt cx="9152255" cy="927100"/>
          </a:xfrm>
        </p:grpSpPr>
        <p:sp>
          <p:nvSpPr>
            <p:cNvPr id="3" name="object 3"/>
            <p:cNvSpPr/>
            <p:nvPr/>
          </p:nvSpPr>
          <p:spPr>
            <a:xfrm>
              <a:off x="4763" y="4826"/>
              <a:ext cx="9139555" cy="914400"/>
            </a:xfrm>
            <a:custGeom>
              <a:avLst/>
              <a:gdLst/>
              <a:ahLst/>
              <a:cxnLst/>
              <a:rect l="l" t="t" r="r" b="b"/>
              <a:pathLst>
                <a:path w="9139555" h="914400">
                  <a:moveTo>
                    <a:pt x="9139236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39236" y="914400"/>
                  </a:lnTo>
                  <a:lnTo>
                    <a:pt x="9139236" y="0"/>
                  </a:lnTo>
                  <a:close/>
                </a:path>
              </a:pathLst>
            </a:custGeom>
            <a:solidFill>
              <a:srgbClr val="0D93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763" y="4826"/>
              <a:ext cx="9139555" cy="914400"/>
            </a:xfrm>
            <a:custGeom>
              <a:avLst/>
              <a:gdLst/>
              <a:ahLst/>
              <a:cxnLst/>
              <a:rect l="l" t="t" r="r" b="b"/>
              <a:pathLst>
                <a:path w="9139555" h="914400">
                  <a:moveTo>
                    <a:pt x="9139236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39236" y="914400"/>
                  </a:lnTo>
                </a:path>
              </a:pathLst>
            </a:custGeom>
            <a:ln w="12700">
              <a:solidFill>
                <a:srgbClr val="0D93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Analyse</a:t>
            </a:r>
            <a:r>
              <a:rPr spc="-85" dirty="0"/>
              <a:t> </a:t>
            </a:r>
            <a:r>
              <a:rPr dirty="0"/>
              <a:t>Multivariée</a:t>
            </a:r>
            <a:r>
              <a:rPr spc="-55" dirty="0"/>
              <a:t> </a:t>
            </a:r>
            <a:r>
              <a:rPr dirty="0"/>
              <a:t>—</a:t>
            </a:r>
            <a:r>
              <a:rPr spc="-55" dirty="0"/>
              <a:t> </a:t>
            </a:r>
            <a:r>
              <a:rPr dirty="0"/>
              <a:t>ACP</a:t>
            </a:r>
            <a:r>
              <a:rPr spc="-75" dirty="0"/>
              <a:t> </a:t>
            </a:r>
            <a:r>
              <a:rPr dirty="0"/>
              <a:t>(Analyse</a:t>
            </a:r>
            <a:r>
              <a:rPr spc="-15" dirty="0"/>
              <a:t> </a:t>
            </a:r>
            <a:r>
              <a:rPr dirty="0"/>
              <a:t>en</a:t>
            </a:r>
            <a:r>
              <a:rPr spc="-80" dirty="0"/>
              <a:t> </a:t>
            </a:r>
            <a:r>
              <a:rPr dirty="0"/>
              <a:t>Composantes</a:t>
            </a:r>
            <a:r>
              <a:rPr spc="-25" dirty="0"/>
              <a:t> </a:t>
            </a:r>
            <a:r>
              <a:rPr spc="-10" dirty="0"/>
              <a:t>Principales)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53377" y="612203"/>
            <a:ext cx="161353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i="1" dirty="0">
                <a:solidFill>
                  <a:srgbClr val="FFFFFF"/>
                </a:solidFill>
                <a:latin typeface="Calibri"/>
                <a:cs typeface="Calibri"/>
              </a:rPr>
              <a:t>Réduction</a:t>
            </a:r>
            <a:r>
              <a:rPr sz="1050" i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050" i="1" spc="-10" dirty="0">
                <a:solidFill>
                  <a:srgbClr val="FFFFFF"/>
                </a:solidFill>
                <a:latin typeface="Calibri"/>
                <a:cs typeface="Calibri"/>
              </a:rPr>
              <a:t> dimensionnalité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428101" y="93726"/>
            <a:ext cx="612775" cy="603250"/>
            <a:chOff x="8428101" y="93726"/>
            <a:chExt cx="612775" cy="603250"/>
          </a:xfrm>
        </p:grpSpPr>
        <p:sp>
          <p:nvSpPr>
            <p:cNvPr id="8" name="object 8"/>
            <p:cNvSpPr/>
            <p:nvPr/>
          </p:nvSpPr>
          <p:spPr>
            <a:xfrm>
              <a:off x="8434451" y="100076"/>
              <a:ext cx="600075" cy="590550"/>
            </a:xfrm>
            <a:custGeom>
              <a:avLst/>
              <a:gdLst/>
              <a:ahLst/>
              <a:cxnLst/>
              <a:rect l="l" t="t" r="r" b="b"/>
              <a:pathLst>
                <a:path w="600075" h="590550">
                  <a:moveTo>
                    <a:pt x="299974" y="0"/>
                  </a:moveTo>
                  <a:lnTo>
                    <a:pt x="251301" y="3861"/>
                  </a:lnTo>
                  <a:lnTo>
                    <a:pt x="205134" y="15041"/>
                  </a:lnTo>
                  <a:lnTo>
                    <a:pt x="162090" y="32935"/>
                  </a:lnTo>
                  <a:lnTo>
                    <a:pt x="122785" y="56936"/>
                  </a:lnTo>
                  <a:lnTo>
                    <a:pt x="87836" y="86439"/>
                  </a:lnTo>
                  <a:lnTo>
                    <a:pt x="57859" y="120837"/>
                  </a:lnTo>
                  <a:lnTo>
                    <a:pt x="33470" y="159526"/>
                  </a:lnTo>
                  <a:lnTo>
                    <a:pt x="15286" y="201899"/>
                  </a:lnTo>
                  <a:lnTo>
                    <a:pt x="3924" y="247350"/>
                  </a:lnTo>
                  <a:lnTo>
                    <a:pt x="0" y="295275"/>
                  </a:lnTo>
                  <a:lnTo>
                    <a:pt x="3924" y="343168"/>
                  </a:lnTo>
                  <a:lnTo>
                    <a:pt x="15286" y="388601"/>
                  </a:lnTo>
                  <a:lnTo>
                    <a:pt x="33470" y="430967"/>
                  </a:lnTo>
                  <a:lnTo>
                    <a:pt x="57859" y="469657"/>
                  </a:lnTo>
                  <a:lnTo>
                    <a:pt x="87836" y="504063"/>
                  </a:lnTo>
                  <a:lnTo>
                    <a:pt x="122785" y="533576"/>
                  </a:lnTo>
                  <a:lnTo>
                    <a:pt x="162090" y="557590"/>
                  </a:lnTo>
                  <a:lnTo>
                    <a:pt x="205134" y="575495"/>
                  </a:lnTo>
                  <a:lnTo>
                    <a:pt x="251301" y="586685"/>
                  </a:lnTo>
                  <a:lnTo>
                    <a:pt x="299974" y="590550"/>
                  </a:lnTo>
                  <a:lnTo>
                    <a:pt x="348650" y="586685"/>
                  </a:lnTo>
                  <a:lnTo>
                    <a:pt x="394826" y="575495"/>
                  </a:lnTo>
                  <a:lnTo>
                    <a:pt x="437884" y="557590"/>
                  </a:lnTo>
                  <a:lnTo>
                    <a:pt x="477207" y="533576"/>
                  </a:lnTo>
                  <a:lnTo>
                    <a:pt x="512175" y="504063"/>
                  </a:lnTo>
                  <a:lnTo>
                    <a:pt x="542171" y="469657"/>
                  </a:lnTo>
                  <a:lnTo>
                    <a:pt x="566577" y="430967"/>
                  </a:lnTo>
                  <a:lnTo>
                    <a:pt x="584775" y="388601"/>
                  </a:lnTo>
                  <a:lnTo>
                    <a:pt x="596147" y="343168"/>
                  </a:lnTo>
                  <a:lnTo>
                    <a:pt x="600075" y="295275"/>
                  </a:lnTo>
                  <a:lnTo>
                    <a:pt x="596147" y="247350"/>
                  </a:lnTo>
                  <a:lnTo>
                    <a:pt x="584775" y="201899"/>
                  </a:lnTo>
                  <a:lnTo>
                    <a:pt x="566577" y="159526"/>
                  </a:lnTo>
                  <a:lnTo>
                    <a:pt x="542171" y="120837"/>
                  </a:lnTo>
                  <a:lnTo>
                    <a:pt x="512175" y="86439"/>
                  </a:lnTo>
                  <a:lnTo>
                    <a:pt x="477207" y="56936"/>
                  </a:lnTo>
                  <a:lnTo>
                    <a:pt x="437884" y="32935"/>
                  </a:lnTo>
                  <a:lnTo>
                    <a:pt x="394826" y="15041"/>
                  </a:lnTo>
                  <a:lnTo>
                    <a:pt x="348650" y="3861"/>
                  </a:lnTo>
                  <a:lnTo>
                    <a:pt x="2999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434451" y="100076"/>
              <a:ext cx="600075" cy="590550"/>
            </a:xfrm>
            <a:custGeom>
              <a:avLst/>
              <a:gdLst/>
              <a:ahLst/>
              <a:cxnLst/>
              <a:rect l="l" t="t" r="r" b="b"/>
              <a:pathLst>
                <a:path w="600075" h="590550">
                  <a:moveTo>
                    <a:pt x="0" y="295275"/>
                  </a:moveTo>
                  <a:lnTo>
                    <a:pt x="3924" y="247350"/>
                  </a:lnTo>
                  <a:lnTo>
                    <a:pt x="15286" y="201899"/>
                  </a:lnTo>
                  <a:lnTo>
                    <a:pt x="33470" y="159526"/>
                  </a:lnTo>
                  <a:lnTo>
                    <a:pt x="57859" y="120837"/>
                  </a:lnTo>
                  <a:lnTo>
                    <a:pt x="87836" y="86439"/>
                  </a:lnTo>
                  <a:lnTo>
                    <a:pt x="122785" y="56936"/>
                  </a:lnTo>
                  <a:lnTo>
                    <a:pt x="162090" y="32935"/>
                  </a:lnTo>
                  <a:lnTo>
                    <a:pt x="205134" y="15041"/>
                  </a:lnTo>
                  <a:lnTo>
                    <a:pt x="251301" y="3861"/>
                  </a:lnTo>
                  <a:lnTo>
                    <a:pt x="299974" y="0"/>
                  </a:lnTo>
                  <a:lnTo>
                    <a:pt x="348650" y="3861"/>
                  </a:lnTo>
                  <a:lnTo>
                    <a:pt x="394826" y="15041"/>
                  </a:lnTo>
                  <a:lnTo>
                    <a:pt x="437884" y="32935"/>
                  </a:lnTo>
                  <a:lnTo>
                    <a:pt x="477207" y="56936"/>
                  </a:lnTo>
                  <a:lnTo>
                    <a:pt x="512175" y="86439"/>
                  </a:lnTo>
                  <a:lnTo>
                    <a:pt x="542171" y="120837"/>
                  </a:lnTo>
                  <a:lnTo>
                    <a:pt x="566577" y="159526"/>
                  </a:lnTo>
                  <a:lnTo>
                    <a:pt x="584775" y="201899"/>
                  </a:lnTo>
                  <a:lnTo>
                    <a:pt x="596147" y="247350"/>
                  </a:lnTo>
                  <a:lnTo>
                    <a:pt x="600075" y="295275"/>
                  </a:lnTo>
                  <a:lnTo>
                    <a:pt x="596147" y="343168"/>
                  </a:lnTo>
                  <a:lnTo>
                    <a:pt x="584775" y="388601"/>
                  </a:lnTo>
                  <a:lnTo>
                    <a:pt x="566577" y="430967"/>
                  </a:lnTo>
                  <a:lnTo>
                    <a:pt x="542171" y="469657"/>
                  </a:lnTo>
                  <a:lnTo>
                    <a:pt x="512175" y="504063"/>
                  </a:lnTo>
                  <a:lnTo>
                    <a:pt x="477207" y="533576"/>
                  </a:lnTo>
                  <a:lnTo>
                    <a:pt x="437884" y="557590"/>
                  </a:lnTo>
                  <a:lnTo>
                    <a:pt x="394826" y="575495"/>
                  </a:lnTo>
                  <a:lnTo>
                    <a:pt x="348650" y="586685"/>
                  </a:lnTo>
                  <a:lnTo>
                    <a:pt x="299974" y="590550"/>
                  </a:lnTo>
                  <a:lnTo>
                    <a:pt x="251301" y="586685"/>
                  </a:lnTo>
                  <a:lnTo>
                    <a:pt x="205134" y="575495"/>
                  </a:lnTo>
                  <a:lnTo>
                    <a:pt x="162090" y="557590"/>
                  </a:lnTo>
                  <a:lnTo>
                    <a:pt x="122785" y="533576"/>
                  </a:lnTo>
                  <a:lnTo>
                    <a:pt x="87836" y="504063"/>
                  </a:lnTo>
                  <a:lnTo>
                    <a:pt x="57859" y="469657"/>
                  </a:lnTo>
                  <a:lnTo>
                    <a:pt x="33470" y="430967"/>
                  </a:lnTo>
                  <a:lnTo>
                    <a:pt x="15286" y="388601"/>
                  </a:lnTo>
                  <a:lnTo>
                    <a:pt x="3924" y="343168"/>
                  </a:lnTo>
                  <a:lnTo>
                    <a:pt x="0" y="29527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8672576" y="245173"/>
            <a:ext cx="12700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-50" dirty="0">
                <a:solidFill>
                  <a:srgbClr val="0D9387"/>
                </a:solidFill>
                <a:latin typeface="Calibri"/>
                <a:cs typeface="Calibri"/>
              </a:rPr>
              <a:t>2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1937" y="1049591"/>
            <a:ext cx="228092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0E172A"/>
                </a:solidFill>
                <a:latin typeface="Calibri"/>
                <a:cs typeface="Calibri"/>
              </a:rPr>
              <a:t>Variance</a:t>
            </a:r>
            <a:r>
              <a:rPr sz="1200" b="1" spc="-4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E172A"/>
                </a:solidFill>
                <a:latin typeface="Calibri"/>
                <a:cs typeface="Calibri"/>
              </a:rPr>
              <a:t>expliquée</a:t>
            </a:r>
            <a:r>
              <a:rPr sz="1200" b="1" spc="-3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E172A"/>
                </a:solidFill>
                <a:latin typeface="Calibri"/>
                <a:cs typeface="Calibri"/>
              </a:rPr>
              <a:t>par</a:t>
            </a:r>
            <a:r>
              <a:rPr sz="1200" b="1" spc="-10" dirty="0">
                <a:solidFill>
                  <a:srgbClr val="0E172A"/>
                </a:solidFill>
                <a:latin typeface="Calibri"/>
                <a:cs typeface="Calibri"/>
              </a:rPr>
              <a:t> composante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76225" y="1323975"/>
            <a:ext cx="4200525" cy="2333625"/>
            <a:chOff x="276225" y="1323975"/>
            <a:chExt cx="4200525" cy="2333625"/>
          </a:xfrm>
        </p:grpSpPr>
        <p:sp>
          <p:nvSpPr>
            <p:cNvPr id="13" name="object 13"/>
            <p:cNvSpPr/>
            <p:nvPr/>
          </p:nvSpPr>
          <p:spPr>
            <a:xfrm>
              <a:off x="276225" y="1323975"/>
              <a:ext cx="4200525" cy="2333625"/>
            </a:xfrm>
            <a:custGeom>
              <a:avLst/>
              <a:gdLst/>
              <a:ahLst/>
              <a:cxnLst/>
              <a:rect l="l" t="t" r="r" b="b"/>
              <a:pathLst>
                <a:path w="4200525" h="2333625">
                  <a:moveTo>
                    <a:pt x="4073398" y="0"/>
                  </a:moveTo>
                  <a:lnTo>
                    <a:pt x="127088" y="0"/>
                  </a:lnTo>
                  <a:lnTo>
                    <a:pt x="77618" y="9987"/>
                  </a:lnTo>
                  <a:lnTo>
                    <a:pt x="37222" y="37226"/>
                  </a:lnTo>
                  <a:lnTo>
                    <a:pt x="9986" y="77634"/>
                  </a:lnTo>
                  <a:lnTo>
                    <a:pt x="0" y="127126"/>
                  </a:lnTo>
                  <a:lnTo>
                    <a:pt x="0" y="2206498"/>
                  </a:lnTo>
                  <a:lnTo>
                    <a:pt x="9986" y="2255990"/>
                  </a:lnTo>
                  <a:lnTo>
                    <a:pt x="37222" y="2296398"/>
                  </a:lnTo>
                  <a:lnTo>
                    <a:pt x="77618" y="2323637"/>
                  </a:lnTo>
                  <a:lnTo>
                    <a:pt x="127088" y="2333625"/>
                  </a:lnTo>
                  <a:lnTo>
                    <a:pt x="4073398" y="2333625"/>
                  </a:lnTo>
                  <a:lnTo>
                    <a:pt x="4122890" y="2323637"/>
                  </a:lnTo>
                  <a:lnTo>
                    <a:pt x="4163298" y="2296398"/>
                  </a:lnTo>
                  <a:lnTo>
                    <a:pt x="4190537" y="2255990"/>
                  </a:lnTo>
                  <a:lnTo>
                    <a:pt x="4200525" y="2206498"/>
                  </a:lnTo>
                  <a:lnTo>
                    <a:pt x="4200525" y="127126"/>
                  </a:lnTo>
                  <a:lnTo>
                    <a:pt x="4190537" y="77634"/>
                  </a:lnTo>
                  <a:lnTo>
                    <a:pt x="4163298" y="37226"/>
                  </a:lnTo>
                  <a:lnTo>
                    <a:pt x="4122890" y="9987"/>
                  </a:lnTo>
                  <a:lnTo>
                    <a:pt x="4073398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61987" y="1471676"/>
              <a:ext cx="3677285" cy="1581150"/>
            </a:xfrm>
            <a:custGeom>
              <a:avLst/>
              <a:gdLst/>
              <a:ahLst/>
              <a:cxnLst/>
              <a:rect l="l" t="t" r="r" b="b"/>
              <a:pathLst>
                <a:path w="3677285" h="1581150">
                  <a:moveTo>
                    <a:pt x="0" y="1581150"/>
                  </a:moveTo>
                  <a:lnTo>
                    <a:pt x="157162" y="1581150"/>
                  </a:lnTo>
                </a:path>
                <a:path w="3677285" h="1581150">
                  <a:moveTo>
                    <a:pt x="366712" y="1581150"/>
                  </a:moveTo>
                  <a:lnTo>
                    <a:pt x="681037" y="1581150"/>
                  </a:lnTo>
                </a:path>
                <a:path w="3677285" h="1581150">
                  <a:moveTo>
                    <a:pt x="890587" y="1581150"/>
                  </a:moveTo>
                  <a:lnTo>
                    <a:pt x="3676713" y="1581150"/>
                  </a:lnTo>
                </a:path>
                <a:path w="3677285" h="1581150">
                  <a:moveTo>
                    <a:pt x="0" y="1314450"/>
                  </a:moveTo>
                  <a:lnTo>
                    <a:pt x="157162" y="1314450"/>
                  </a:lnTo>
                </a:path>
                <a:path w="3677285" h="1581150">
                  <a:moveTo>
                    <a:pt x="366712" y="1314450"/>
                  </a:moveTo>
                  <a:lnTo>
                    <a:pt x="681037" y="1314450"/>
                  </a:lnTo>
                </a:path>
                <a:path w="3677285" h="1581150">
                  <a:moveTo>
                    <a:pt x="890587" y="1314450"/>
                  </a:moveTo>
                  <a:lnTo>
                    <a:pt x="3676713" y="1314450"/>
                  </a:lnTo>
                </a:path>
                <a:path w="3677285" h="1581150">
                  <a:moveTo>
                    <a:pt x="0" y="1057275"/>
                  </a:moveTo>
                  <a:lnTo>
                    <a:pt x="157162" y="1057275"/>
                  </a:lnTo>
                </a:path>
                <a:path w="3677285" h="1581150">
                  <a:moveTo>
                    <a:pt x="366712" y="1057275"/>
                  </a:moveTo>
                  <a:lnTo>
                    <a:pt x="3676713" y="1057275"/>
                  </a:lnTo>
                </a:path>
                <a:path w="3677285" h="1581150">
                  <a:moveTo>
                    <a:pt x="0" y="790575"/>
                  </a:moveTo>
                  <a:lnTo>
                    <a:pt x="157162" y="790575"/>
                  </a:lnTo>
                </a:path>
                <a:path w="3677285" h="1581150">
                  <a:moveTo>
                    <a:pt x="366712" y="790575"/>
                  </a:moveTo>
                  <a:lnTo>
                    <a:pt x="3676713" y="790575"/>
                  </a:lnTo>
                </a:path>
                <a:path w="3677285" h="1581150">
                  <a:moveTo>
                    <a:pt x="0" y="523875"/>
                  </a:moveTo>
                  <a:lnTo>
                    <a:pt x="157162" y="523875"/>
                  </a:lnTo>
                </a:path>
                <a:path w="3677285" h="1581150">
                  <a:moveTo>
                    <a:pt x="366712" y="523875"/>
                  </a:moveTo>
                  <a:lnTo>
                    <a:pt x="3676713" y="523875"/>
                  </a:lnTo>
                </a:path>
                <a:path w="3677285" h="1581150">
                  <a:moveTo>
                    <a:pt x="0" y="0"/>
                  </a:moveTo>
                  <a:lnTo>
                    <a:pt x="3676713" y="0"/>
                  </a:lnTo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19150" y="1809749"/>
              <a:ext cx="733425" cy="1504950"/>
            </a:xfrm>
            <a:custGeom>
              <a:avLst/>
              <a:gdLst/>
              <a:ahLst/>
              <a:cxnLst/>
              <a:rect l="l" t="t" r="r" b="b"/>
              <a:pathLst>
                <a:path w="733425" h="1504950">
                  <a:moveTo>
                    <a:pt x="209550" y="0"/>
                  </a:moveTo>
                  <a:lnTo>
                    <a:pt x="0" y="0"/>
                  </a:lnTo>
                  <a:lnTo>
                    <a:pt x="0" y="1504950"/>
                  </a:lnTo>
                  <a:lnTo>
                    <a:pt x="209550" y="1504950"/>
                  </a:lnTo>
                  <a:lnTo>
                    <a:pt x="209550" y="0"/>
                  </a:lnTo>
                  <a:close/>
                </a:path>
                <a:path w="733425" h="1504950">
                  <a:moveTo>
                    <a:pt x="733425" y="923925"/>
                  </a:moveTo>
                  <a:lnTo>
                    <a:pt x="523875" y="923925"/>
                  </a:lnTo>
                  <a:lnTo>
                    <a:pt x="523875" y="1504950"/>
                  </a:lnTo>
                  <a:lnTo>
                    <a:pt x="733425" y="1504950"/>
                  </a:lnTo>
                  <a:lnTo>
                    <a:pt x="733425" y="923925"/>
                  </a:lnTo>
                  <a:close/>
                </a:path>
              </a:pathLst>
            </a:custGeom>
            <a:solidFill>
              <a:srgbClr val="0D93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866900" y="3095625"/>
              <a:ext cx="209550" cy="219075"/>
            </a:xfrm>
            <a:custGeom>
              <a:avLst/>
              <a:gdLst/>
              <a:ahLst/>
              <a:cxnLst/>
              <a:rect l="l" t="t" r="r" b="b"/>
              <a:pathLst>
                <a:path w="209550" h="219075">
                  <a:moveTo>
                    <a:pt x="209550" y="0"/>
                  </a:moveTo>
                  <a:lnTo>
                    <a:pt x="0" y="0"/>
                  </a:lnTo>
                  <a:lnTo>
                    <a:pt x="0" y="219075"/>
                  </a:lnTo>
                  <a:lnTo>
                    <a:pt x="209550" y="219075"/>
                  </a:lnTo>
                  <a:lnTo>
                    <a:pt x="209550" y="0"/>
                  </a:lnTo>
                  <a:close/>
                </a:path>
              </a:pathLst>
            </a:custGeom>
            <a:solidFill>
              <a:srgbClr val="13B8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390775" y="3152775"/>
              <a:ext cx="1790700" cy="161925"/>
            </a:xfrm>
            <a:custGeom>
              <a:avLst/>
              <a:gdLst/>
              <a:ahLst/>
              <a:cxnLst/>
              <a:rect l="l" t="t" r="r" b="b"/>
              <a:pathLst>
                <a:path w="1790700" h="161925">
                  <a:moveTo>
                    <a:pt x="209550" y="0"/>
                  </a:moveTo>
                  <a:lnTo>
                    <a:pt x="0" y="0"/>
                  </a:lnTo>
                  <a:lnTo>
                    <a:pt x="0" y="161925"/>
                  </a:lnTo>
                  <a:lnTo>
                    <a:pt x="209550" y="161925"/>
                  </a:lnTo>
                  <a:lnTo>
                    <a:pt x="209550" y="0"/>
                  </a:lnTo>
                  <a:close/>
                </a:path>
                <a:path w="1790700" h="161925">
                  <a:moveTo>
                    <a:pt x="742950" y="57150"/>
                  </a:moveTo>
                  <a:lnTo>
                    <a:pt x="533400" y="57150"/>
                  </a:lnTo>
                  <a:lnTo>
                    <a:pt x="533400" y="161925"/>
                  </a:lnTo>
                  <a:lnTo>
                    <a:pt x="742950" y="161925"/>
                  </a:lnTo>
                  <a:lnTo>
                    <a:pt x="742950" y="57150"/>
                  </a:lnTo>
                  <a:close/>
                </a:path>
                <a:path w="1790700" h="161925">
                  <a:moveTo>
                    <a:pt x="1266825" y="104775"/>
                  </a:moveTo>
                  <a:lnTo>
                    <a:pt x="1057275" y="104775"/>
                  </a:lnTo>
                  <a:lnTo>
                    <a:pt x="1057275" y="161925"/>
                  </a:lnTo>
                  <a:lnTo>
                    <a:pt x="1266825" y="161925"/>
                  </a:lnTo>
                  <a:lnTo>
                    <a:pt x="1266825" y="104775"/>
                  </a:lnTo>
                  <a:close/>
                </a:path>
                <a:path w="1790700" h="161925">
                  <a:moveTo>
                    <a:pt x="1790700" y="152400"/>
                  </a:moveTo>
                  <a:lnTo>
                    <a:pt x="1581150" y="152400"/>
                  </a:lnTo>
                  <a:lnTo>
                    <a:pt x="1581150" y="161925"/>
                  </a:lnTo>
                  <a:lnTo>
                    <a:pt x="1790700" y="161925"/>
                  </a:lnTo>
                  <a:lnTo>
                    <a:pt x="1790700" y="152400"/>
                  </a:lnTo>
                  <a:close/>
                </a:path>
              </a:pathLst>
            </a:custGeom>
            <a:solidFill>
              <a:srgbClr val="93A2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14362" y="1471548"/>
              <a:ext cx="3724910" cy="1886585"/>
            </a:xfrm>
            <a:custGeom>
              <a:avLst/>
              <a:gdLst/>
              <a:ahLst/>
              <a:cxnLst/>
              <a:rect l="l" t="t" r="r" b="b"/>
              <a:pathLst>
                <a:path w="3724910" h="1886585">
                  <a:moveTo>
                    <a:pt x="47625" y="1838452"/>
                  </a:moveTo>
                  <a:lnTo>
                    <a:pt x="47625" y="0"/>
                  </a:lnTo>
                </a:path>
                <a:path w="3724910" h="1886585">
                  <a:moveTo>
                    <a:pt x="0" y="1838325"/>
                  </a:moveTo>
                  <a:lnTo>
                    <a:pt x="47625" y="1838325"/>
                  </a:lnTo>
                </a:path>
                <a:path w="3724910" h="1886585">
                  <a:moveTo>
                    <a:pt x="0" y="1581277"/>
                  </a:moveTo>
                  <a:lnTo>
                    <a:pt x="47625" y="1581277"/>
                  </a:lnTo>
                </a:path>
                <a:path w="3724910" h="1886585">
                  <a:moveTo>
                    <a:pt x="0" y="1314577"/>
                  </a:moveTo>
                  <a:lnTo>
                    <a:pt x="47625" y="1314577"/>
                  </a:lnTo>
                </a:path>
                <a:path w="3724910" h="1886585">
                  <a:moveTo>
                    <a:pt x="0" y="1057402"/>
                  </a:moveTo>
                  <a:lnTo>
                    <a:pt x="47625" y="1057402"/>
                  </a:lnTo>
                </a:path>
                <a:path w="3724910" h="1886585">
                  <a:moveTo>
                    <a:pt x="0" y="790701"/>
                  </a:moveTo>
                  <a:lnTo>
                    <a:pt x="47625" y="790701"/>
                  </a:lnTo>
                </a:path>
                <a:path w="3724910" h="1886585">
                  <a:moveTo>
                    <a:pt x="0" y="524001"/>
                  </a:moveTo>
                  <a:lnTo>
                    <a:pt x="47625" y="524001"/>
                  </a:lnTo>
                </a:path>
                <a:path w="3724910" h="1886585">
                  <a:moveTo>
                    <a:pt x="0" y="266826"/>
                  </a:moveTo>
                  <a:lnTo>
                    <a:pt x="47625" y="266826"/>
                  </a:lnTo>
                </a:path>
                <a:path w="3724910" h="1886585">
                  <a:moveTo>
                    <a:pt x="0" y="126"/>
                  </a:moveTo>
                  <a:lnTo>
                    <a:pt x="47625" y="126"/>
                  </a:lnTo>
                </a:path>
                <a:path w="3724910" h="1886585">
                  <a:moveTo>
                    <a:pt x="47625" y="1838452"/>
                  </a:moveTo>
                  <a:lnTo>
                    <a:pt x="3724338" y="1838452"/>
                  </a:lnTo>
                </a:path>
                <a:path w="3724910" h="1886585">
                  <a:moveTo>
                    <a:pt x="47625" y="1838452"/>
                  </a:moveTo>
                  <a:lnTo>
                    <a:pt x="47625" y="1886077"/>
                  </a:lnTo>
                </a:path>
                <a:path w="3724910" h="1886585">
                  <a:moveTo>
                    <a:pt x="571500" y="1838452"/>
                  </a:moveTo>
                  <a:lnTo>
                    <a:pt x="571500" y="1886077"/>
                  </a:lnTo>
                </a:path>
                <a:path w="3724910" h="1886585">
                  <a:moveTo>
                    <a:pt x="1095438" y="1838452"/>
                  </a:moveTo>
                  <a:lnTo>
                    <a:pt x="1095438" y="1886077"/>
                  </a:lnTo>
                </a:path>
                <a:path w="3724910" h="1886585">
                  <a:moveTo>
                    <a:pt x="1619313" y="1838452"/>
                  </a:moveTo>
                  <a:lnTo>
                    <a:pt x="1619313" y="1886077"/>
                  </a:lnTo>
                </a:path>
                <a:path w="3724910" h="1886585">
                  <a:moveTo>
                    <a:pt x="2152713" y="1838452"/>
                  </a:moveTo>
                  <a:lnTo>
                    <a:pt x="2152713" y="1886077"/>
                  </a:lnTo>
                </a:path>
                <a:path w="3724910" h="1886585">
                  <a:moveTo>
                    <a:pt x="2676588" y="1838452"/>
                  </a:moveTo>
                  <a:lnTo>
                    <a:pt x="2676588" y="1886077"/>
                  </a:lnTo>
                </a:path>
                <a:path w="3724910" h="1886585">
                  <a:moveTo>
                    <a:pt x="3200463" y="1838452"/>
                  </a:moveTo>
                  <a:lnTo>
                    <a:pt x="3200463" y="1886077"/>
                  </a:lnTo>
                </a:path>
                <a:path w="3724910" h="1886585">
                  <a:moveTo>
                    <a:pt x="3724338" y="1838452"/>
                  </a:moveTo>
                  <a:lnTo>
                    <a:pt x="3724338" y="1886077"/>
                  </a:lnTo>
                </a:path>
              </a:pathLst>
            </a:custGeom>
            <a:ln w="12700">
              <a:solidFill>
                <a:srgbClr val="8787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49287" y="1617281"/>
            <a:ext cx="3702685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15265" algn="l"/>
                <a:tab pos="3689350" algn="l"/>
              </a:tabLst>
            </a:pPr>
            <a:r>
              <a:rPr sz="800" u="sng" dirty="0">
                <a:solidFill>
                  <a:srgbClr val="0E172A"/>
                </a:solidFill>
                <a:uFill>
                  <a:solidFill>
                    <a:srgbClr val="E1E8EF"/>
                  </a:solidFill>
                </a:uFill>
                <a:latin typeface="Arial MT"/>
                <a:cs typeface="Arial MT"/>
              </a:rPr>
              <a:t>	</a:t>
            </a:r>
            <a:r>
              <a:rPr sz="800" u="sng" spc="-25" dirty="0">
                <a:solidFill>
                  <a:srgbClr val="0E172A"/>
                </a:solidFill>
                <a:uFill>
                  <a:solidFill>
                    <a:srgbClr val="E1E8EF"/>
                  </a:solidFill>
                </a:uFill>
                <a:latin typeface="Arial MT"/>
                <a:cs typeface="Arial MT"/>
              </a:rPr>
              <a:t>57</a:t>
            </a:r>
            <a:r>
              <a:rPr sz="800" u="sng" dirty="0">
                <a:solidFill>
                  <a:srgbClr val="0E172A"/>
                </a:solidFill>
                <a:uFill>
                  <a:solidFill>
                    <a:srgbClr val="E1E8EF"/>
                  </a:solidFill>
                </a:uFill>
                <a:latin typeface="Arial MT"/>
                <a:cs typeface="Arial MT"/>
              </a:rPr>
              <a:t>	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79219" y="2541270"/>
            <a:ext cx="139700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25" dirty="0">
                <a:solidFill>
                  <a:srgbClr val="0E172A"/>
                </a:solidFill>
                <a:latin typeface="Arial MT"/>
                <a:cs typeface="Arial MT"/>
              </a:rPr>
              <a:t>22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934210" y="2901378"/>
            <a:ext cx="84455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50" dirty="0">
                <a:solidFill>
                  <a:srgbClr val="0E172A"/>
                </a:solidFill>
                <a:latin typeface="Arial MT"/>
                <a:cs typeface="Arial MT"/>
              </a:rPr>
              <a:t>8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460879" y="2962275"/>
            <a:ext cx="83820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50" dirty="0">
                <a:solidFill>
                  <a:srgbClr val="0E172A"/>
                </a:solidFill>
                <a:latin typeface="Arial MT"/>
                <a:cs typeface="Arial MT"/>
              </a:rPr>
              <a:t>6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987675" y="3022282"/>
            <a:ext cx="84455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50" dirty="0">
                <a:solidFill>
                  <a:srgbClr val="0E172A"/>
                </a:solidFill>
                <a:latin typeface="Arial MT"/>
                <a:cs typeface="Arial MT"/>
              </a:rPr>
              <a:t>4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514471" y="3067113"/>
            <a:ext cx="84455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50" dirty="0">
                <a:solidFill>
                  <a:srgbClr val="0E172A"/>
                </a:solidFill>
                <a:latin typeface="Arial MT"/>
                <a:cs typeface="Arial MT"/>
              </a:rPr>
              <a:t>2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041140" y="3114357"/>
            <a:ext cx="84455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50" dirty="0">
                <a:solidFill>
                  <a:srgbClr val="0E172A"/>
                </a:solidFill>
                <a:latin typeface="Arial MT"/>
                <a:cs typeface="Arial MT"/>
              </a:rPr>
              <a:t>0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44487" y="1275905"/>
            <a:ext cx="196850" cy="2130425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1200" spc="-25" dirty="0">
                <a:solidFill>
                  <a:srgbClr val="465469"/>
                </a:solidFill>
                <a:latin typeface="Arial MT"/>
                <a:cs typeface="Arial MT"/>
              </a:rPr>
              <a:t>70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1200" spc="-25" dirty="0">
                <a:solidFill>
                  <a:srgbClr val="465469"/>
                </a:solidFill>
                <a:latin typeface="Arial MT"/>
                <a:cs typeface="Arial MT"/>
              </a:rPr>
              <a:t>60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1200" spc="-25" dirty="0">
                <a:solidFill>
                  <a:srgbClr val="465469"/>
                </a:solidFill>
                <a:latin typeface="Arial MT"/>
                <a:cs typeface="Arial MT"/>
              </a:rPr>
              <a:t>50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200" spc="-25" dirty="0">
                <a:solidFill>
                  <a:srgbClr val="465469"/>
                </a:solidFill>
                <a:latin typeface="Arial MT"/>
                <a:cs typeface="Arial MT"/>
              </a:rPr>
              <a:t>40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1200" spc="-25" dirty="0">
                <a:solidFill>
                  <a:srgbClr val="465469"/>
                </a:solidFill>
                <a:latin typeface="Arial MT"/>
                <a:cs typeface="Arial MT"/>
              </a:rPr>
              <a:t>30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1200" spc="-25" dirty="0">
                <a:solidFill>
                  <a:srgbClr val="465469"/>
                </a:solidFill>
                <a:latin typeface="Arial MT"/>
                <a:cs typeface="Arial MT"/>
              </a:rPr>
              <a:t>20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200" spc="-25" dirty="0">
                <a:solidFill>
                  <a:srgbClr val="465469"/>
                </a:solidFill>
                <a:latin typeface="Arial MT"/>
                <a:cs typeface="Arial MT"/>
              </a:rPr>
              <a:t>10</a:t>
            </a:r>
            <a:endParaRPr sz="1200">
              <a:latin typeface="Arial MT"/>
              <a:cs typeface="Arial MT"/>
            </a:endParaRPr>
          </a:p>
          <a:p>
            <a:pPr marL="97155">
              <a:lnSpc>
                <a:spcPct val="100000"/>
              </a:lnSpc>
              <a:spcBef>
                <a:spcPts val="630"/>
              </a:spcBef>
            </a:pPr>
            <a:r>
              <a:rPr sz="1200" spc="-50" dirty="0">
                <a:solidFill>
                  <a:srgbClr val="465469"/>
                </a:solidFill>
                <a:latin typeface="Arial MT"/>
                <a:cs typeface="Arial MT"/>
              </a:rPr>
              <a:t>0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60412" y="3379152"/>
            <a:ext cx="34810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9115" algn="l"/>
                <a:tab pos="1066165" algn="l"/>
                <a:tab pos="1592580" algn="l"/>
                <a:tab pos="2118995" algn="l"/>
                <a:tab pos="2646045" algn="l"/>
                <a:tab pos="3172460" algn="l"/>
              </a:tabLst>
            </a:pPr>
            <a:r>
              <a:rPr sz="1200" spc="-25" dirty="0">
                <a:solidFill>
                  <a:srgbClr val="465469"/>
                </a:solidFill>
                <a:latin typeface="Arial MT"/>
                <a:cs typeface="Arial MT"/>
              </a:rPr>
              <a:t>PC1</a:t>
            </a:r>
            <a:r>
              <a:rPr sz="1200" dirty="0">
                <a:solidFill>
                  <a:srgbClr val="465469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465469"/>
                </a:solidFill>
                <a:latin typeface="Arial MT"/>
                <a:cs typeface="Arial MT"/>
              </a:rPr>
              <a:t>PC2</a:t>
            </a:r>
            <a:r>
              <a:rPr sz="1200" dirty="0">
                <a:solidFill>
                  <a:srgbClr val="465469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465469"/>
                </a:solidFill>
                <a:latin typeface="Arial MT"/>
                <a:cs typeface="Arial MT"/>
              </a:rPr>
              <a:t>PC3</a:t>
            </a:r>
            <a:r>
              <a:rPr sz="1200" dirty="0">
                <a:solidFill>
                  <a:srgbClr val="465469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465469"/>
                </a:solidFill>
                <a:latin typeface="Arial MT"/>
                <a:cs typeface="Arial MT"/>
              </a:rPr>
              <a:t>PC4</a:t>
            </a:r>
            <a:r>
              <a:rPr sz="1200" dirty="0">
                <a:solidFill>
                  <a:srgbClr val="465469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465469"/>
                </a:solidFill>
                <a:latin typeface="Arial MT"/>
                <a:cs typeface="Arial MT"/>
              </a:rPr>
              <a:t>PC5</a:t>
            </a:r>
            <a:r>
              <a:rPr sz="1200" dirty="0">
                <a:solidFill>
                  <a:srgbClr val="465469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465469"/>
                </a:solidFill>
                <a:latin typeface="Arial MT"/>
                <a:cs typeface="Arial MT"/>
              </a:rPr>
              <a:t>PC6</a:t>
            </a:r>
            <a:r>
              <a:rPr sz="1200" dirty="0">
                <a:solidFill>
                  <a:srgbClr val="465469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465469"/>
                </a:solidFill>
                <a:latin typeface="Arial MT"/>
                <a:cs typeface="Arial MT"/>
              </a:rPr>
              <a:t>PC7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655565" y="2599308"/>
            <a:ext cx="25342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E172A"/>
                </a:solidFill>
                <a:latin typeface="Calibri"/>
                <a:cs typeface="Calibri"/>
              </a:rPr>
              <a:t>Projection</a:t>
            </a:r>
            <a:r>
              <a:rPr sz="1200" b="1" spc="-4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E172A"/>
                </a:solidFill>
                <a:latin typeface="Calibri"/>
                <a:cs typeface="Calibri"/>
              </a:rPr>
              <a:t>PC1</a:t>
            </a:r>
            <a:r>
              <a:rPr sz="1200" b="1" spc="-1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E172A"/>
                </a:solidFill>
                <a:latin typeface="Calibri"/>
                <a:cs typeface="Calibri"/>
              </a:rPr>
              <a:t>vs</a:t>
            </a:r>
            <a:r>
              <a:rPr sz="1200" b="1" spc="-3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E172A"/>
                </a:solidFill>
                <a:latin typeface="Calibri"/>
                <a:cs typeface="Calibri"/>
              </a:rPr>
              <a:t>PC2</a:t>
            </a:r>
            <a:r>
              <a:rPr sz="1200" b="1" spc="1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E172A"/>
                </a:solidFill>
                <a:latin typeface="Calibri"/>
                <a:cs typeface="Calibri"/>
              </a:rPr>
              <a:t>—</a:t>
            </a:r>
            <a:r>
              <a:rPr sz="1200" b="1" spc="-2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E172A"/>
                </a:solidFill>
                <a:latin typeface="Calibri"/>
                <a:cs typeface="Calibri"/>
              </a:rPr>
              <a:t>par</a:t>
            </a:r>
            <a:r>
              <a:rPr sz="1200" b="1" spc="-5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E172A"/>
                </a:solidFill>
                <a:latin typeface="Calibri"/>
                <a:cs typeface="Calibri"/>
              </a:rPr>
              <a:t>note</a:t>
            </a:r>
            <a:r>
              <a:rPr sz="1200" b="1" spc="-10" dirty="0">
                <a:solidFill>
                  <a:srgbClr val="0E172A"/>
                </a:solidFill>
                <a:latin typeface="Calibri"/>
                <a:cs typeface="Calibri"/>
              </a:rPr>
              <a:t> finale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80987" y="3776662"/>
            <a:ext cx="4371975" cy="1143000"/>
          </a:xfrm>
          <a:prstGeom prst="rect">
            <a:avLst/>
          </a:prstGeom>
          <a:solidFill>
            <a:srgbClr val="CCFAF0"/>
          </a:solidFill>
          <a:ln w="12700">
            <a:solidFill>
              <a:srgbClr val="0D9387"/>
            </a:solidFill>
          </a:ln>
        </p:spPr>
        <p:txBody>
          <a:bodyPr vert="horz" wrap="square" lIns="0" tIns="80010" rIns="0" bIns="0" rtlCol="0">
            <a:spAutoFit/>
          </a:bodyPr>
          <a:lstStyle/>
          <a:p>
            <a:pPr marL="166370" marR="153670">
              <a:lnSpc>
                <a:spcPct val="105500"/>
              </a:lnSpc>
              <a:spcBef>
                <a:spcPts val="630"/>
              </a:spcBef>
            </a:pPr>
            <a:r>
              <a:rPr sz="950" spc="10" dirty="0">
                <a:solidFill>
                  <a:srgbClr val="0E172A"/>
                </a:solidFill>
                <a:latin typeface="Calibri"/>
                <a:cs typeface="Calibri"/>
              </a:rPr>
              <a:t>PC1</a:t>
            </a:r>
            <a:r>
              <a:rPr sz="950" spc="7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950" spc="10" dirty="0">
                <a:solidFill>
                  <a:srgbClr val="0E172A"/>
                </a:solidFill>
                <a:latin typeface="Calibri"/>
                <a:cs typeface="Calibri"/>
              </a:rPr>
              <a:t>capture</a:t>
            </a:r>
            <a:r>
              <a:rPr sz="950" spc="9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950" spc="10" dirty="0">
                <a:solidFill>
                  <a:srgbClr val="0E172A"/>
                </a:solidFill>
                <a:latin typeface="Calibri"/>
                <a:cs typeface="Calibri"/>
              </a:rPr>
              <a:t>57.2%</a:t>
            </a:r>
            <a:r>
              <a:rPr sz="950" spc="2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950" spc="10" dirty="0">
                <a:solidFill>
                  <a:srgbClr val="0E172A"/>
                </a:solidFill>
                <a:latin typeface="Calibri"/>
                <a:cs typeface="Calibri"/>
              </a:rPr>
              <a:t>de</a:t>
            </a:r>
            <a:r>
              <a:rPr sz="950" spc="9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950" spc="10" dirty="0">
                <a:solidFill>
                  <a:srgbClr val="0E172A"/>
                </a:solidFill>
                <a:latin typeface="Calibri"/>
                <a:cs typeface="Calibri"/>
              </a:rPr>
              <a:t>la</a:t>
            </a:r>
            <a:r>
              <a:rPr sz="950" spc="2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950" spc="10" dirty="0">
                <a:solidFill>
                  <a:srgbClr val="0E172A"/>
                </a:solidFill>
                <a:latin typeface="Calibri"/>
                <a:cs typeface="Calibri"/>
              </a:rPr>
              <a:t>variance</a:t>
            </a:r>
            <a:r>
              <a:rPr sz="950" spc="9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950" spc="10" dirty="0">
                <a:solidFill>
                  <a:srgbClr val="0E172A"/>
                </a:solidFill>
                <a:latin typeface="Calibri"/>
                <a:cs typeface="Calibri"/>
              </a:rPr>
              <a:t>(axe</a:t>
            </a:r>
            <a:r>
              <a:rPr sz="950" spc="9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950" spc="10" dirty="0">
                <a:solidFill>
                  <a:srgbClr val="0E172A"/>
                </a:solidFill>
                <a:latin typeface="Calibri"/>
                <a:cs typeface="Calibri"/>
              </a:rPr>
              <a:t>de</a:t>
            </a:r>
            <a:r>
              <a:rPr sz="95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950" spc="10" dirty="0">
                <a:solidFill>
                  <a:srgbClr val="0E172A"/>
                </a:solidFill>
                <a:latin typeface="Calibri"/>
                <a:cs typeface="Calibri"/>
              </a:rPr>
              <a:t>performance).</a:t>
            </a:r>
            <a:r>
              <a:rPr sz="950" spc="2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950" spc="10" dirty="0">
                <a:solidFill>
                  <a:srgbClr val="0E172A"/>
                </a:solidFill>
                <a:latin typeface="Calibri"/>
                <a:cs typeface="Calibri"/>
              </a:rPr>
              <a:t>PC1</a:t>
            </a:r>
            <a:r>
              <a:rPr sz="950" spc="7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950" spc="10" dirty="0">
                <a:solidFill>
                  <a:srgbClr val="0E172A"/>
                </a:solidFill>
                <a:latin typeface="Calibri"/>
                <a:cs typeface="Calibri"/>
              </a:rPr>
              <a:t>+</a:t>
            </a:r>
            <a:r>
              <a:rPr sz="950" spc="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950" spc="10" dirty="0">
                <a:solidFill>
                  <a:srgbClr val="0E172A"/>
                </a:solidFill>
                <a:latin typeface="Calibri"/>
                <a:cs typeface="Calibri"/>
              </a:rPr>
              <a:t>PC2</a:t>
            </a:r>
            <a:r>
              <a:rPr sz="950" spc="7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950" spc="10" dirty="0">
                <a:solidFill>
                  <a:srgbClr val="0E172A"/>
                </a:solidFill>
                <a:latin typeface="Calibri"/>
                <a:cs typeface="Calibri"/>
              </a:rPr>
              <a:t>=</a:t>
            </a:r>
            <a:r>
              <a:rPr sz="950" spc="9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950" spc="10" dirty="0">
                <a:solidFill>
                  <a:srgbClr val="0E172A"/>
                </a:solidFill>
                <a:latin typeface="Calibri"/>
                <a:cs typeface="Calibri"/>
              </a:rPr>
              <a:t>79.3%</a:t>
            </a:r>
            <a:r>
              <a:rPr sz="950" spc="2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950" spc="10" dirty="0">
                <a:solidFill>
                  <a:srgbClr val="0E172A"/>
                </a:solidFill>
                <a:latin typeface="Calibri"/>
                <a:cs typeface="Calibri"/>
              </a:rPr>
              <a:t>:</a:t>
            </a:r>
            <a:r>
              <a:rPr sz="950" spc="9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950" spc="-50" dirty="0">
                <a:solidFill>
                  <a:srgbClr val="0E172A"/>
                </a:solidFill>
                <a:latin typeface="Calibri"/>
                <a:cs typeface="Calibri"/>
              </a:rPr>
              <a:t>2</a:t>
            </a:r>
            <a:r>
              <a:rPr sz="950" spc="10" dirty="0">
                <a:solidFill>
                  <a:srgbClr val="0E172A"/>
                </a:solidFill>
                <a:latin typeface="Calibri"/>
                <a:cs typeface="Calibri"/>
              </a:rPr>
              <a:t> composantes</a:t>
            </a:r>
            <a:r>
              <a:rPr sz="950" spc="114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0E172A"/>
                </a:solidFill>
                <a:latin typeface="Calibri"/>
                <a:cs typeface="Calibri"/>
              </a:rPr>
              <a:t>suffisent.</a:t>
            </a: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950">
              <a:latin typeface="Calibri"/>
              <a:cs typeface="Calibri"/>
            </a:endParaRPr>
          </a:p>
          <a:p>
            <a:pPr marL="166370" marR="99060">
              <a:lnSpc>
                <a:spcPct val="105500"/>
              </a:lnSpc>
              <a:spcBef>
                <a:spcPts val="5"/>
              </a:spcBef>
            </a:pPr>
            <a:r>
              <a:rPr sz="950" spc="10" dirty="0">
                <a:latin typeface="Calibri"/>
                <a:cs typeface="Calibri"/>
              </a:rPr>
              <a:t>L'ACP</a:t>
            </a:r>
            <a:r>
              <a:rPr sz="950" spc="-15" dirty="0">
                <a:latin typeface="Calibri"/>
                <a:cs typeface="Calibri"/>
              </a:rPr>
              <a:t> </a:t>
            </a:r>
            <a:r>
              <a:rPr sz="950" spc="10" dirty="0">
                <a:latin typeface="Calibri"/>
                <a:cs typeface="Calibri"/>
              </a:rPr>
              <a:t>confirme</a:t>
            </a:r>
            <a:r>
              <a:rPr sz="950" spc="105" dirty="0">
                <a:latin typeface="Calibri"/>
                <a:cs typeface="Calibri"/>
              </a:rPr>
              <a:t> </a:t>
            </a:r>
            <a:r>
              <a:rPr sz="950" spc="10" dirty="0">
                <a:latin typeface="Calibri"/>
                <a:cs typeface="Calibri"/>
              </a:rPr>
              <a:t>la</a:t>
            </a:r>
            <a:r>
              <a:rPr sz="950" spc="40" dirty="0">
                <a:latin typeface="Calibri"/>
                <a:cs typeface="Calibri"/>
              </a:rPr>
              <a:t> </a:t>
            </a:r>
            <a:r>
              <a:rPr sz="950" spc="10" dirty="0">
                <a:latin typeface="Calibri"/>
                <a:cs typeface="Calibri"/>
              </a:rPr>
              <a:t>structure de</a:t>
            </a:r>
            <a:r>
              <a:rPr sz="950" spc="105" dirty="0">
                <a:latin typeface="Calibri"/>
                <a:cs typeface="Calibri"/>
              </a:rPr>
              <a:t> </a:t>
            </a:r>
            <a:r>
              <a:rPr sz="950" spc="10" dirty="0">
                <a:latin typeface="Calibri"/>
                <a:cs typeface="Calibri"/>
              </a:rPr>
              <a:t>nos</a:t>
            </a:r>
            <a:r>
              <a:rPr sz="950" spc="50" dirty="0">
                <a:latin typeface="Calibri"/>
                <a:cs typeface="Calibri"/>
              </a:rPr>
              <a:t> </a:t>
            </a:r>
            <a:r>
              <a:rPr sz="950" spc="10" dirty="0">
                <a:latin typeface="Calibri"/>
                <a:cs typeface="Calibri"/>
              </a:rPr>
              <a:t>données</a:t>
            </a:r>
            <a:r>
              <a:rPr sz="950" spc="40" dirty="0">
                <a:latin typeface="Calibri"/>
                <a:cs typeface="Calibri"/>
              </a:rPr>
              <a:t> </a:t>
            </a:r>
            <a:r>
              <a:rPr sz="950" spc="10" dirty="0">
                <a:latin typeface="Calibri"/>
                <a:cs typeface="Calibri"/>
              </a:rPr>
              <a:t>en</a:t>
            </a:r>
            <a:r>
              <a:rPr sz="950" spc="70" dirty="0">
                <a:latin typeface="Calibri"/>
                <a:cs typeface="Calibri"/>
              </a:rPr>
              <a:t> </a:t>
            </a:r>
            <a:r>
              <a:rPr sz="950" spc="10" dirty="0">
                <a:latin typeface="Calibri"/>
                <a:cs typeface="Calibri"/>
              </a:rPr>
              <a:t>séparant</a:t>
            </a:r>
            <a:r>
              <a:rPr sz="950" spc="110" dirty="0">
                <a:latin typeface="Calibri"/>
                <a:cs typeface="Calibri"/>
              </a:rPr>
              <a:t> </a:t>
            </a:r>
            <a:r>
              <a:rPr sz="950" spc="10" dirty="0">
                <a:latin typeface="Calibri"/>
                <a:cs typeface="Calibri"/>
              </a:rPr>
              <a:t>clairement</a:t>
            </a:r>
            <a:r>
              <a:rPr sz="950" spc="20" dirty="0">
                <a:latin typeface="Calibri"/>
                <a:cs typeface="Calibri"/>
              </a:rPr>
              <a:t> </a:t>
            </a:r>
            <a:r>
              <a:rPr sz="950" spc="10" dirty="0">
                <a:latin typeface="Calibri"/>
                <a:cs typeface="Calibri"/>
              </a:rPr>
              <a:t>l'effort</a:t>
            </a:r>
            <a:r>
              <a:rPr sz="950" spc="110" dirty="0">
                <a:latin typeface="Calibri"/>
                <a:cs typeface="Calibri"/>
              </a:rPr>
              <a:t> </a:t>
            </a:r>
            <a:r>
              <a:rPr sz="950" spc="10" dirty="0">
                <a:latin typeface="Calibri"/>
                <a:cs typeface="Calibri"/>
              </a:rPr>
              <a:t>et</a:t>
            </a:r>
            <a:r>
              <a:rPr sz="950" spc="20" dirty="0">
                <a:latin typeface="Calibri"/>
                <a:cs typeface="Calibri"/>
              </a:rPr>
              <a:t> </a:t>
            </a:r>
            <a:r>
              <a:rPr sz="950" spc="-25" dirty="0">
                <a:latin typeface="Calibri"/>
                <a:cs typeface="Calibri"/>
              </a:rPr>
              <a:t>la</a:t>
            </a:r>
            <a:r>
              <a:rPr sz="950" dirty="0">
                <a:latin typeface="Calibri"/>
                <a:cs typeface="Calibri"/>
              </a:rPr>
              <a:t> réussite</a:t>
            </a:r>
            <a:r>
              <a:rPr sz="950" spc="135" dirty="0">
                <a:latin typeface="Calibri"/>
                <a:cs typeface="Calibri"/>
              </a:rPr>
              <a:t> </a:t>
            </a:r>
            <a:r>
              <a:rPr sz="950" dirty="0">
                <a:latin typeface="Calibri"/>
                <a:cs typeface="Calibri"/>
              </a:rPr>
              <a:t>(PC1)</a:t>
            </a:r>
            <a:r>
              <a:rPr sz="950" spc="90" dirty="0">
                <a:latin typeface="Calibri"/>
                <a:cs typeface="Calibri"/>
              </a:rPr>
              <a:t> </a:t>
            </a:r>
            <a:r>
              <a:rPr sz="950" dirty="0">
                <a:latin typeface="Calibri"/>
                <a:cs typeface="Calibri"/>
              </a:rPr>
              <a:t>de</a:t>
            </a:r>
            <a:r>
              <a:rPr sz="950" spc="140" dirty="0">
                <a:latin typeface="Calibri"/>
                <a:cs typeface="Calibri"/>
              </a:rPr>
              <a:t> </a:t>
            </a:r>
            <a:r>
              <a:rPr sz="950" dirty="0">
                <a:latin typeface="Calibri"/>
                <a:cs typeface="Calibri"/>
              </a:rPr>
              <a:t>la</a:t>
            </a:r>
            <a:r>
              <a:rPr sz="950" spc="65" dirty="0">
                <a:latin typeface="Calibri"/>
                <a:cs typeface="Calibri"/>
              </a:rPr>
              <a:t> </a:t>
            </a:r>
            <a:r>
              <a:rPr sz="950" dirty="0">
                <a:latin typeface="Calibri"/>
                <a:cs typeface="Calibri"/>
              </a:rPr>
              <a:t>simple</a:t>
            </a:r>
            <a:r>
              <a:rPr sz="950" spc="135" dirty="0">
                <a:latin typeface="Calibri"/>
                <a:cs typeface="Calibri"/>
              </a:rPr>
              <a:t> </a:t>
            </a:r>
            <a:r>
              <a:rPr sz="950" dirty="0">
                <a:latin typeface="Calibri"/>
                <a:cs typeface="Calibri"/>
              </a:rPr>
              <a:t>assiduité</a:t>
            </a:r>
            <a:r>
              <a:rPr sz="950" spc="110" dirty="0">
                <a:latin typeface="Calibri"/>
                <a:cs typeface="Calibri"/>
              </a:rPr>
              <a:t> </a:t>
            </a:r>
            <a:r>
              <a:rPr sz="950" dirty="0">
                <a:latin typeface="Calibri"/>
                <a:cs typeface="Calibri"/>
              </a:rPr>
              <a:t>(PC2).</a:t>
            </a:r>
            <a:r>
              <a:rPr sz="950" spc="60" dirty="0">
                <a:latin typeface="Calibri"/>
                <a:cs typeface="Calibri"/>
              </a:rPr>
              <a:t> </a:t>
            </a:r>
            <a:r>
              <a:rPr sz="950" dirty="0">
                <a:latin typeface="Calibri"/>
                <a:cs typeface="Calibri"/>
              </a:rPr>
              <a:t>Cette</a:t>
            </a:r>
            <a:r>
              <a:rPr sz="950" spc="135" dirty="0">
                <a:latin typeface="Calibri"/>
                <a:cs typeface="Calibri"/>
              </a:rPr>
              <a:t> </a:t>
            </a:r>
            <a:r>
              <a:rPr sz="950" dirty="0">
                <a:latin typeface="Calibri"/>
                <a:cs typeface="Calibri"/>
              </a:rPr>
              <a:t>réduction</a:t>
            </a:r>
            <a:r>
              <a:rPr sz="950" spc="100" dirty="0">
                <a:latin typeface="Calibri"/>
                <a:cs typeface="Calibri"/>
              </a:rPr>
              <a:t> </a:t>
            </a:r>
            <a:r>
              <a:rPr sz="950" spc="-10" dirty="0">
                <a:latin typeface="Calibri"/>
                <a:cs typeface="Calibri"/>
              </a:rPr>
              <a:t>dimensionnelle </a:t>
            </a:r>
            <a:r>
              <a:rPr sz="950" spc="10" dirty="0">
                <a:latin typeface="Calibri"/>
                <a:cs typeface="Calibri"/>
              </a:rPr>
              <a:t>élimine</a:t>
            </a:r>
            <a:r>
              <a:rPr sz="950" spc="-5" dirty="0">
                <a:latin typeface="Calibri"/>
                <a:cs typeface="Calibri"/>
              </a:rPr>
              <a:t> </a:t>
            </a:r>
            <a:r>
              <a:rPr sz="950" spc="10" dirty="0">
                <a:latin typeface="Calibri"/>
                <a:cs typeface="Calibri"/>
              </a:rPr>
              <a:t>la</a:t>
            </a:r>
            <a:r>
              <a:rPr sz="950" spc="110" dirty="0">
                <a:latin typeface="Calibri"/>
                <a:cs typeface="Calibri"/>
              </a:rPr>
              <a:t> </a:t>
            </a:r>
            <a:r>
              <a:rPr sz="950" spc="10" dirty="0">
                <a:latin typeface="Calibri"/>
                <a:cs typeface="Calibri"/>
              </a:rPr>
              <a:t>redondance</a:t>
            </a:r>
            <a:r>
              <a:rPr sz="950" spc="85" dirty="0">
                <a:latin typeface="Calibri"/>
                <a:cs typeface="Calibri"/>
              </a:rPr>
              <a:t> </a:t>
            </a:r>
            <a:r>
              <a:rPr sz="950" spc="10" dirty="0">
                <a:latin typeface="Calibri"/>
                <a:cs typeface="Calibri"/>
              </a:rPr>
              <a:t>et</a:t>
            </a:r>
            <a:r>
              <a:rPr sz="950" spc="100" dirty="0">
                <a:latin typeface="Calibri"/>
                <a:cs typeface="Calibri"/>
              </a:rPr>
              <a:t> </a:t>
            </a:r>
            <a:r>
              <a:rPr sz="950" spc="10" dirty="0">
                <a:latin typeface="Calibri"/>
                <a:cs typeface="Calibri"/>
              </a:rPr>
              <a:t>optimise</a:t>
            </a:r>
            <a:r>
              <a:rPr sz="950" spc="85" dirty="0">
                <a:latin typeface="Calibri"/>
                <a:cs typeface="Calibri"/>
              </a:rPr>
              <a:t> </a:t>
            </a:r>
            <a:r>
              <a:rPr sz="950" spc="10" dirty="0">
                <a:latin typeface="Calibri"/>
                <a:cs typeface="Calibri"/>
              </a:rPr>
              <a:t>nos</a:t>
            </a:r>
            <a:r>
              <a:rPr sz="950" spc="35" dirty="0">
                <a:latin typeface="Calibri"/>
                <a:cs typeface="Calibri"/>
              </a:rPr>
              <a:t> </a:t>
            </a:r>
            <a:r>
              <a:rPr sz="950" spc="10" dirty="0">
                <a:latin typeface="Calibri"/>
                <a:cs typeface="Calibri"/>
              </a:rPr>
              <a:t>futurs</a:t>
            </a:r>
            <a:r>
              <a:rPr sz="950" spc="30" dirty="0">
                <a:latin typeface="Calibri"/>
                <a:cs typeface="Calibri"/>
              </a:rPr>
              <a:t> </a:t>
            </a:r>
            <a:r>
              <a:rPr sz="950" spc="10" dirty="0">
                <a:latin typeface="Calibri"/>
                <a:cs typeface="Calibri"/>
              </a:rPr>
              <a:t>modèles</a:t>
            </a:r>
            <a:r>
              <a:rPr sz="950" spc="35" dirty="0">
                <a:latin typeface="Calibri"/>
                <a:cs typeface="Calibri"/>
              </a:rPr>
              <a:t> </a:t>
            </a:r>
            <a:r>
              <a:rPr sz="950" spc="-10" dirty="0">
                <a:latin typeface="Calibri"/>
                <a:cs typeface="Calibri"/>
              </a:rPr>
              <a:t>prédictifs.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285990" y="4936807"/>
            <a:ext cx="1611630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i="1" dirty="0">
                <a:solidFill>
                  <a:srgbClr val="93A2B8"/>
                </a:solidFill>
                <a:latin typeface="Calibri"/>
                <a:cs typeface="Calibri"/>
              </a:rPr>
              <a:t>Section</a:t>
            </a:r>
            <a:r>
              <a:rPr sz="800" i="1" spc="5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93A2B8"/>
                </a:solidFill>
                <a:latin typeface="Calibri"/>
                <a:cs typeface="Calibri"/>
              </a:rPr>
              <a:t>2</a:t>
            </a:r>
            <a:r>
              <a:rPr sz="800" i="1" spc="-25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93A2B8"/>
                </a:solidFill>
                <a:latin typeface="Calibri"/>
                <a:cs typeface="Calibri"/>
              </a:rPr>
              <a:t>—</a:t>
            </a:r>
            <a:r>
              <a:rPr sz="800" i="1" spc="-15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93A2B8"/>
                </a:solidFill>
                <a:latin typeface="Calibri"/>
                <a:cs typeface="Calibri"/>
              </a:rPr>
              <a:t>ACP</a:t>
            </a:r>
            <a:r>
              <a:rPr sz="800" i="1" spc="15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93A2B8"/>
                </a:solidFill>
                <a:latin typeface="Calibri"/>
                <a:cs typeface="Calibri"/>
              </a:rPr>
              <a:t>/</a:t>
            </a:r>
            <a:r>
              <a:rPr sz="800" i="1" spc="-40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93A2B8"/>
                </a:solidFill>
                <a:latin typeface="Calibri"/>
                <a:cs typeface="Calibri"/>
              </a:rPr>
              <a:t>Analyse</a:t>
            </a:r>
            <a:r>
              <a:rPr sz="800" i="1" spc="-35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800" i="1" spc="-10" dirty="0">
                <a:solidFill>
                  <a:srgbClr val="93A2B8"/>
                </a:solidFill>
                <a:latin typeface="Calibri"/>
                <a:cs typeface="Calibri"/>
              </a:rPr>
              <a:t>Multivariée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31" name="object 3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48200" y="933450"/>
            <a:ext cx="4486275" cy="1543050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76775" y="2914650"/>
            <a:ext cx="4467225" cy="19716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D9770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6350" y="-6350"/>
            <a:ext cx="4132579" cy="4132579"/>
            <a:chOff x="-6350" y="-6350"/>
            <a:chExt cx="4132579" cy="4132579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4119879" cy="4119879"/>
            </a:xfrm>
            <a:custGeom>
              <a:avLst/>
              <a:gdLst/>
              <a:ahLst/>
              <a:cxnLst/>
              <a:rect l="l" t="t" r="r" b="b"/>
              <a:pathLst>
                <a:path w="4119879" h="4119879">
                  <a:moveTo>
                    <a:pt x="3540841" y="0"/>
                  </a:moveTo>
                  <a:lnTo>
                    <a:pt x="0" y="0"/>
                  </a:lnTo>
                  <a:lnTo>
                    <a:pt x="0" y="3540769"/>
                  </a:lnTo>
                  <a:lnTo>
                    <a:pt x="62432" y="3591027"/>
                  </a:lnTo>
                  <a:lnTo>
                    <a:pt x="98175" y="3618320"/>
                  </a:lnTo>
                  <a:lnTo>
                    <a:pt x="134416" y="3644986"/>
                  </a:lnTo>
                  <a:lnTo>
                    <a:pt x="171147" y="3671014"/>
                  </a:lnTo>
                  <a:lnTo>
                    <a:pt x="208360" y="3696398"/>
                  </a:lnTo>
                  <a:lnTo>
                    <a:pt x="246046" y="3721129"/>
                  </a:lnTo>
                  <a:lnTo>
                    <a:pt x="284199" y="3745199"/>
                  </a:lnTo>
                  <a:lnTo>
                    <a:pt x="322808" y="3768600"/>
                  </a:lnTo>
                  <a:lnTo>
                    <a:pt x="361867" y="3791324"/>
                  </a:lnTo>
                  <a:lnTo>
                    <a:pt x="401368" y="3813362"/>
                  </a:lnTo>
                  <a:lnTo>
                    <a:pt x="441301" y="3834707"/>
                  </a:lnTo>
                  <a:lnTo>
                    <a:pt x="481659" y="3855349"/>
                  </a:lnTo>
                  <a:lnTo>
                    <a:pt x="522434" y="3875282"/>
                  </a:lnTo>
                  <a:lnTo>
                    <a:pt x="563618" y="3894497"/>
                  </a:lnTo>
                  <a:lnTo>
                    <a:pt x="605202" y="3912986"/>
                  </a:lnTo>
                  <a:lnTo>
                    <a:pt x="647178" y="3930741"/>
                  </a:lnTo>
                  <a:lnTo>
                    <a:pt x="689539" y="3947753"/>
                  </a:lnTo>
                  <a:lnTo>
                    <a:pt x="732276" y="3964015"/>
                  </a:lnTo>
                  <a:lnTo>
                    <a:pt x="775380" y="3979518"/>
                  </a:lnTo>
                  <a:lnTo>
                    <a:pt x="818845" y="3994254"/>
                  </a:lnTo>
                  <a:lnTo>
                    <a:pt x="862661" y="4008215"/>
                  </a:lnTo>
                  <a:lnTo>
                    <a:pt x="906820" y="4021394"/>
                  </a:lnTo>
                  <a:lnTo>
                    <a:pt x="951315" y="4033781"/>
                  </a:lnTo>
                  <a:lnTo>
                    <a:pt x="996137" y="4045368"/>
                  </a:lnTo>
                  <a:lnTo>
                    <a:pt x="1041278" y="4056148"/>
                  </a:lnTo>
                  <a:lnTo>
                    <a:pt x="1086731" y="4066113"/>
                  </a:lnTo>
                  <a:lnTo>
                    <a:pt x="1132486" y="4075253"/>
                  </a:lnTo>
                  <a:lnTo>
                    <a:pt x="1178535" y="4083562"/>
                  </a:lnTo>
                  <a:lnTo>
                    <a:pt x="1224871" y="4091031"/>
                  </a:lnTo>
                  <a:lnTo>
                    <a:pt x="1271486" y="4097651"/>
                  </a:lnTo>
                  <a:lnTo>
                    <a:pt x="1318371" y="4103416"/>
                  </a:lnTo>
                  <a:lnTo>
                    <a:pt x="1365518" y="4108315"/>
                  </a:lnTo>
                  <a:lnTo>
                    <a:pt x="1412918" y="4112342"/>
                  </a:lnTo>
                  <a:lnTo>
                    <a:pt x="1460565" y="4115489"/>
                  </a:lnTo>
                  <a:lnTo>
                    <a:pt x="1508449" y="4117746"/>
                  </a:lnTo>
                  <a:lnTo>
                    <a:pt x="1556563" y="4119107"/>
                  </a:lnTo>
                  <a:lnTo>
                    <a:pt x="1604899" y="4119562"/>
                  </a:lnTo>
                  <a:lnTo>
                    <a:pt x="1653239" y="4119107"/>
                  </a:lnTo>
                  <a:lnTo>
                    <a:pt x="1701359" y="4117746"/>
                  </a:lnTo>
                  <a:lnTo>
                    <a:pt x="1749249" y="4115489"/>
                  </a:lnTo>
                  <a:lnTo>
                    <a:pt x="1796901" y="4112342"/>
                  </a:lnTo>
                  <a:lnTo>
                    <a:pt x="1844307" y="4108315"/>
                  </a:lnTo>
                  <a:lnTo>
                    <a:pt x="1891459" y="4103416"/>
                  </a:lnTo>
                  <a:lnTo>
                    <a:pt x="1938349" y="4097651"/>
                  </a:lnTo>
                  <a:lnTo>
                    <a:pt x="1984968" y="4091031"/>
                  </a:lnTo>
                  <a:lnTo>
                    <a:pt x="2031309" y="4083562"/>
                  </a:lnTo>
                  <a:lnTo>
                    <a:pt x="2077364" y="4075253"/>
                  </a:lnTo>
                  <a:lnTo>
                    <a:pt x="2123123" y="4066113"/>
                  </a:lnTo>
                  <a:lnTo>
                    <a:pt x="2168580" y="4056148"/>
                  </a:lnTo>
                  <a:lnTo>
                    <a:pt x="2213726" y="4045368"/>
                  </a:lnTo>
                  <a:lnTo>
                    <a:pt x="2258552" y="4033781"/>
                  </a:lnTo>
                  <a:lnTo>
                    <a:pt x="2303051" y="4021394"/>
                  </a:lnTo>
                  <a:lnTo>
                    <a:pt x="2347215" y="4008215"/>
                  </a:lnTo>
                  <a:lnTo>
                    <a:pt x="2391035" y="3994254"/>
                  </a:lnTo>
                  <a:lnTo>
                    <a:pt x="2434503" y="3979518"/>
                  </a:lnTo>
                  <a:lnTo>
                    <a:pt x="2477612" y="3964015"/>
                  </a:lnTo>
                  <a:lnTo>
                    <a:pt x="2520352" y="3947753"/>
                  </a:lnTo>
                  <a:lnTo>
                    <a:pt x="2562716" y="3930741"/>
                  </a:lnTo>
                  <a:lnTo>
                    <a:pt x="2604696" y="3912986"/>
                  </a:lnTo>
                  <a:lnTo>
                    <a:pt x="2646284" y="3894497"/>
                  </a:lnTo>
                  <a:lnTo>
                    <a:pt x="2687471" y="3875282"/>
                  </a:lnTo>
                  <a:lnTo>
                    <a:pt x="2728249" y="3855349"/>
                  </a:lnTo>
                  <a:lnTo>
                    <a:pt x="2768611" y="3834707"/>
                  </a:lnTo>
                  <a:lnTo>
                    <a:pt x="2808547" y="3813362"/>
                  </a:lnTo>
                  <a:lnTo>
                    <a:pt x="2848050" y="3791324"/>
                  </a:lnTo>
                  <a:lnTo>
                    <a:pt x="2887112" y="3768600"/>
                  </a:lnTo>
                  <a:lnTo>
                    <a:pt x="2925725" y="3745199"/>
                  </a:lnTo>
                  <a:lnTo>
                    <a:pt x="2963880" y="3721129"/>
                  </a:lnTo>
                  <a:lnTo>
                    <a:pt x="3001569" y="3696398"/>
                  </a:lnTo>
                  <a:lnTo>
                    <a:pt x="3038785" y="3671014"/>
                  </a:lnTo>
                  <a:lnTo>
                    <a:pt x="3075518" y="3644986"/>
                  </a:lnTo>
                  <a:lnTo>
                    <a:pt x="3111762" y="3618320"/>
                  </a:lnTo>
                  <a:lnTo>
                    <a:pt x="3147507" y="3591027"/>
                  </a:lnTo>
                  <a:lnTo>
                    <a:pt x="3182746" y="3563113"/>
                  </a:lnTo>
                  <a:lnTo>
                    <a:pt x="3217470" y="3534586"/>
                  </a:lnTo>
                  <a:lnTo>
                    <a:pt x="3251672" y="3505456"/>
                  </a:lnTo>
                  <a:lnTo>
                    <a:pt x="3285343" y="3475730"/>
                  </a:lnTo>
                  <a:lnTo>
                    <a:pt x="3318475" y="3445416"/>
                  </a:lnTo>
                  <a:lnTo>
                    <a:pt x="3351059" y="3414522"/>
                  </a:lnTo>
                  <a:lnTo>
                    <a:pt x="3383089" y="3383057"/>
                  </a:lnTo>
                  <a:lnTo>
                    <a:pt x="3414555" y="3351029"/>
                  </a:lnTo>
                  <a:lnTo>
                    <a:pt x="3445450" y="3318445"/>
                  </a:lnTo>
                  <a:lnTo>
                    <a:pt x="3475765" y="3285314"/>
                  </a:lnTo>
                  <a:lnTo>
                    <a:pt x="3505492" y="3251645"/>
                  </a:lnTo>
                  <a:lnTo>
                    <a:pt x="3534624" y="3217444"/>
                  </a:lnTo>
                  <a:lnTo>
                    <a:pt x="3563151" y="3182721"/>
                  </a:lnTo>
                  <a:lnTo>
                    <a:pt x="3591066" y="3147483"/>
                  </a:lnTo>
                  <a:lnTo>
                    <a:pt x="3618361" y="3111739"/>
                  </a:lnTo>
                  <a:lnTo>
                    <a:pt x="3645027" y="3075497"/>
                  </a:lnTo>
                  <a:lnTo>
                    <a:pt x="3671057" y="3038764"/>
                  </a:lnTo>
                  <a:lnTo>
                    <a:pt x="3696442" y="3001550"/>
                  </a:lnTo>
                  <a:lnTo>
                    <a:pt x="3721174" y="2963861"/>
                  </a:lnTo>
                  <a:lnTo>
                    <a:pt x="3745245" y="2925707"/>
                  </a:lnTo>
                  <a:lnTo>
                    <a:pt x="3768647" y="2887096"/>
                  </a:lnTo>
                  <a:lnTo>
                    <a:pt x="3791372" y="2848035"/>
                  </a:lnTo>
                  <a:lnTo>
                    <a:pt x="3813411" y="2808532"/>
                  </a:lnTo>
                  <a:lnTo>
                    <a:pt x="3834756" y="2768597"/>
                  </a:lnTo>
                  <a:lnTo>
                    <a:pt x="3855400" y="2728236"/>
                  </a:lnTo>
                  <a:lnTo>
                    <a:pt x="3875334" y="2687459"/>
                  </a:lnTo>
                  <a:lnTo>
                    <a:pt x="3894550" y="2646273"/>
                  </a:lnTo>
                  <a:lnTo>
                    <a:pt x="3913039" y="2604686"/>
                  </a:lnTo>
                  <a:lnTo>
                    <a:pt x="3930795" y="2562707"/>
                  </a:lnTo>
                  <a:lnTo>
                    <a:pt x="3947808" y="2520343"/>
                  </a:lnTo>
                  <a:lnTo>
                    <a:pt x="3964071" y="2477604"/>
                  </a:lnTo>
                  <a:lnTo>
                    <a:pt x="3979574" y="2434496"/>
                  </a:lnTo>
                  <a:lnTo>
                    <a:pt x="3994311" y="2391028"/>
                  </a:lnTo>
                  <a:lnTo>
                    <a:pt x="4008273" y="2347209"/>
                  </a:lnTo>
                  <a:lnTo>
                    <a:pt x="4021452" y="2303046"/>
                  </a:lnTo>
                  <a:lnTo>
                    <a:pt x="4033840" y="2258547"/>
                  </a:lnTo>
                  <a:lnTo>
                    <a:pt x="4045428" y="2213722"/>
                  </a:lnTo>
                  <a:lnTo>
                    <a:pt x="4056208" y="2168576"/>
                  </a:lnTo>
                  <a:lnTo>
                    <a:pt x="4066173" y="2123120"/>
                  </a:lnTo>
                  <a:lnTo>
                    <a:pt x="4075315" y="2077361"/>
                  </a:lnTo>
                  <a:lnTo>
                    <a:pt x="4083624" y="2031307"/>
                  </a:lnTo>
                  <a:lnTo>
                    <a:pt x="4091093" y="1984967"/>
                  </a:lnTo>
                  <a:lnTo>
                    <a:pt x="4097714" y="1938348"/>
                  </a:lnTo>
                  <a:lnTo>
                    <a:pt x="4103478" y="1891458"/>
                  </a:lnTo>
                  <a:lnTo>
                    <a:pt x="4108378" y="1844306"/>
                  </a:lnTo>
                  <a:lnTo>
                    <a:pt x="4112406" y="1796900"/>
                  </a:lnTo>
                  <a:lnTo>
                    <a:pt x="4115552" y="1749249"/>
                  </a:lnTo>
                  <a:lnTo>
                    <a:pt x="4117810" y="1701359"/>
                  </a:lnTo>
                  <a:lnTo>
                    <a:pt x="4119170" y="1653239"/>
                  </a:lnTo>
                  <a:lnTo>
                    <a:pt x="4119626" y="1604899"/>
                  </a:lnTo>
                  <a:lnTo>
                    <a:pt x="4119170" y="1556562"/>
                  </a:lnTo>
                  <a:lnTo>
                    <a:pt x="4117810" y="1508447"/>
                  </a:lnTo>
                  <a:lnTo>
                    <a:pt x="4115552" y="1460561"/>
                  </a:lnTo>
                  <a:lnTo>
                    <a:pt x="4112406" y="1412913"/>
                  </a:lnTo>
                  <a:lnTo>
                    <a:pt x="4108378" y="1365511"/>
                  </a:lnTo>
                  <a:lnTo>
                    <a:pt x="4103478" y="1318363"/>
                  </a:lnTo>
                  <a:lnTo>
                    <a:pt x="4097714" y="1271477"/>
                  </a:lnTo>
                  <a:lnTo>
                    <a:pt x="4091093" y="1224861"/>
                  </a:lnTo>
                  <a:lnTo>
                    <a:pt x="4083624" y="1178524"/>
                  </a:lnTo>
                  <a:lnTo>
                    <a:pt x="4075315" y="1132473"/>
                  </a:lnTo>
                  <a:lnTo>
                    <a:pt x="4066173" y="1086717"/>
                  </a:lnTo>
                  <a:lnTo>
                    <a:pt x="4056208" y="1041263"/>
                  </a:lnTo>
                  <a:lnTo>
                    <a:pt x="4045428" y="996121"/>
                  </a:lnTo>
                  <a:lnTo>
                    <a:pt x="4033840" y="951297"/>
                  </a:lnTo>
                  <a:lnTo>
                    <a:pt x="4021452" y="906801"/>
                  </a:lnTo>
                  <a:lnTo>
                    <a:pt x="4008273" y="862641"/>
                  </a:lnTo>
                  <a:lnTo>
                    <a:pt x="3994311" y="818824"/>
                  </a:lnTo>
                  <a:lnTo>
                    <a:pt x="3979574" y="775358"/>
                  </a:lnTo>
                  <a:lnTo>
                    <a:pt x="3964071" y="732252"/>
                  </a:lnTo>
                  <a:lnTo>
                    <a:pt x="3947808" y="689514"/>
                  </a:lnTo>
                  <a:lnTo>
                    <a:pt x="3930795" y="647153"/>
                  </a:lnTo>
                  <a:lnTo>
                    <a:pt x="3913039" y="605175"/>
                  </a:lnTo>
                  <a:lnTo>
                    <a:pt x="3894550" y="563590"/>
                  </a:lnTo>
                  <a:lnTo>
                    <a:pt x="3875334" y="522405"/>
                  </a:lnTo>
                  <a:lnTo>
                    <a:pt x="3855400" y="481629"/>
                  </a:lnTo>
                  <a:lnTo>
                    <a:pt x="3834756" y="441270"/>
                  </a:lnTo>
                  <a:lnTo>
                    <a:pt x="3813411" y="401336"/>
                  </a:lnTo>
                  <a:lnTo>
                    <a:pt x="3791372" y="361835"/>
                  </a:lnTo>
                  <a:lnTo>
                    <a:pt x="3768647" y="322775"/>
                  </a:lnTo>
                  <a:lnTo>
                    <a:pt x="3745245" y="284164"/>
                  </a:lnTo>
                  <a:lnTo>
                    <a:pt x="3721174" y="246011"/>
                  </a:lnTo>
                  <a:lnTo>
                    <a:pt x="3696442" y="208323"/>
                  </a:lnTo>
                  <a:lnTo>
                    <a:pt x="3671057" y="171109"/>
                  </a:lnTo>
                  <a:lnTo>
                    <a:pt x="3645027" y="134377"/>
                  </a:lnTo>
                  <a:lnTo>
                    <a:pt x="3618361" y="98136"/>
                  </a:lnTo>
                  <a:lnTo>
                    <a:pt x="3591066" y="62392"/>
                  </a:lnTo>
                  <a:lnTo>
                    <a:pt x="3563151" y="27155"/>
                  </a:lnTo>
                  <a:lnTo>
                    <a:pt x="3540841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4119879" cy="4119879"/>
            </a:xfrm>
            <a:custGeom>
              <a:avLst/>
              <a:gdLst/>
              <a:ahLst/>
              <a:cxnLst/>
              <a:rect l="l" t="t" r="r" b="b"/>
              <a:pathLst>
                <a:path w="4119879" h="4119879">
                  <a:moveTo>
                    <a:pt x="3540841" y="0"/>
                  </a:moveTo>
                  <a:lnTo>
                    <a:pt x="3591066" y="62392"/>
                  </a:lnTo>
                  <a:lnTo>
                    <a:pt x="3618361" y="98136"/>
                  </a:lnTo>
                  <a:lnTo>
                    <a:pt x="3645027" y="134377"/>
                  </a:lnTo>
                  <a:lnTo>
                    <a:pt x="3671057" y="171109"/>
                  </a:lnTo>
                  <a:lnTo>
                    <a:pt x="3696442" y="208323"/>
                  </a:lnTo>
                  <a:lnTo>
                    <a:pt x="3721174" y="246011"/>
                  </a:lnTo>
                  <a:lnTo>
                    <a:pt x="3745245" y="284164"/>
                  </a:lnTo>
                  <a:lnTo>
                    <a:pt x="3768647" y="322775"/>
                  </a:lnTo>
                  <a:lnTo>
                    <a:pt x="3791372" y="361835"/>
                  </a:lnTo>
                  <a:lnTo>
                    <a:pt x="3813411" y="401336"/>
                  </a:lnTo>
                  <a:lnTo>
                    <a:pt x="3834756" y="441270"/>
                  </a:lnTo>
                  <a:lnTo>
                    <a:pt x="3855400" y="481629"/>
                  </a:lnTo>
                  <a:lnTo>
                    <a:pt x="3875334" y="522405"/>
                  </a:lnTo>
                  <a:lnTo>
                    <a:pt x="3894550" y="563590"/>
                  </a:lnTo>
                  <a:lnTo>
                    <a:pt x="3913039" y="605175"/>
                  </a:lnTo>
                  <a:lnTo>
                    <a:pt x="3930795" y="647153"/>
                  </a:lnTo>
                  <a:lnTo>
                    <a:pt x="3947808" y="689514"/>
                  </a:lnTo>
                  <a:lnTo>
                    <a:pt x="3964071" y="732252"/>
                  </a:lnTo>
                  <a:lnTo>
                    <a:pt x="3979574" y="775358"/>
                  </a:lnTo>
                  <a:lnTo>
                    <a:pt x="3994311" y="818824"/>
                  </a:lnTo>
                  <a:lnTo>
                    <a:pt x="4008273" y="862641"/>
                  </a:lnTo>
                  <a:lnTo>
                    <a:pt x="4021452" y="906801"/>
                  </a:lnTo>
                  <a:lnTo>
                    <a:pt x="4033840" y="951297"/>
                  </a:lnTo>
                  <a:lnTo>
                    <a:pt x="4045428" y="996121"/>
                  </a:lnTo>
                  <a:lnTo>
                    <a:pt x="4056208" y="1041263"/>
                  </a:lnTo>
                  <a:lnTo>
                    <a:pt x="4066173" y="1086717"/>
                  </a:lnTo>
                  <a:lnTo>
                    <a:pt x="4075315" y="1132473"/>
                  </a:lnTo>
                  <a:lnTo>
                    <a:pt x="4083624" y="1178524"/>
                  </a:lnTo>
                  <a:lnTo>
                    <a:pt x="4091093" y="1224861"/>
                  </a:lnTo>
                  <a:lnTo>
                    <a:pt x="4097714" y="1271477"/>
                  </a:lnTo>
                  <a:lnTo>
                    <a:pt x="4103478" y="1318363"/>
                  </a:lnTo>
                  <a:lnTo>
                    <a:pt x="4108378" y="1365511"/>
                  </a:lnTo>
                  <a:lnTo>
                    <a:pt x="4112406" y="1412913"/>
                  </a:lnTo>
                  <a:lnTo>
                    <a:pt x="4115552" y="1460561"/>
                  </a:lnTo>
                  <a:lnTo>
                    <a:pt x="4117810" y="1508447"/>
                  </a:lnTo>
                  <a:lnTo>
                    <a:pt x="4119170" y="1556562"/>
                  </a:lnTo>
                  <a:lnTo>
                    <a:pt x="4119626" y="1604899"/>
                  </a:lnTo>
                  <a:lnTo>
                    <a:pt x="4119170" y="1653239"/>
                  </a:lnTo>
                  <a:lnTo>
                    <a:pt x="4117810" y="1701359"/>
                  </a:lnTo>
                  <a:lnTo>
                    <a:pt x="4115552" y="1749249"/>
                  </a:lnTo>
                  <a:lnTo>
                    <a:pt x="4112406" y="1796900"/>
                  </a:lnTo>
                  <a:lnTo>
                    <a:pt x="4108378" y="1844306"/>
                  </a:lnTo>
                  <a:lnTo>
                    <a:pt x="4103478" y="1891458"/>
                  </a:lnTo>
                  <a:lnTo>
                    <a:pt x="4097714" y="1938348"/>
                  </a:lnTo>
                  <a:lnTo>
                    <a:pt x="4091093" y="1984967"/>
                  </a:lnTo>
                  <a:lnTo>
                    <a:pt x="4083624" y="2031307"/>
                  </a:lnTo>
                  <a:lnTo>
                    <a:pt x="4075315" y="2077361"/>
                  </a:lnTo>
                  <a:lnTo>
                    <a:pt x="4066173" y="2123120"/>
                  </a:lnTo>
                  <a:lnTo>
                    <a:pt x="4056208" y="2168576"/>
                  </a:lnTo>
                  <a:lnTo>
                    <a:pt x="4045428" y="2213722"/>
                  </a:lnTo>
                  <a:lnTo>
                    <a:pt x="4033840" y="2258547"/>
                  </a:lnTo>
                  <a:lnTo>
                    <a:pt x="4021452" y="2303046"/>
                  </a:lnTo>
                  <a:lnTo>
                    <a:pt x="4008273" y="2347209"/>
                  </a:lnTo>
                  <a:lnTo>
                    <a:pt x="3994311" y="2391028"/>
                  </a:lnTo>
                  <a:lnTo>
                    <a:pt x="3979574" y="2434496"/>
                  </a:lnTo>
                  <a:lnTo>
                    <a:pt x="3964071" y="2477604"/>
                  </a:lnTo>
                  <a:lnTo>
                    <a:pt x="3947808" y="2520343"/>
                  </a:lnTo>
                  <a:lnTo>
                    <a:pt x="3930795" y="2562707"/>
                  </a:lnTo>
                  <a:lnTo>
                    <a:pt x="3913039" y="2604686"/>
                  </a:lnTo>
                  <a:lnTo>
                    <a:pt x="3894550" y="2646273"/>
                  </a:lnTo>
                  <a:lnTo>
                    <a:pt x="3875334" y="2687459"/>
                  </a:lnTo>
                  <a:lnTo>
                    <a:pt x="3855400" y="2728236"/>
                  </a:lnTo>
                  <a:lnTo>
                    <a:pt x="3834756" y="2768597"/>
                  </a:lnTo>
                  <a:lnTo>
                    <a:pt x="3813411" y="2808532"/>
                  </a:lnTo>
                  <a:lnTo>
                    <a:pt x="3791372" y="2848035"/>
                  </a:lnTo>
                  <a:lnTo>
                    <a:pt x="3768647" y="2887096"/>
                  </a:lnTo>
                  <a:lnTo>
                    <a:pt x="3745245" y="2925707"/>
                  </a:lnTo>
                  <a:lnTo>
                    <a:pt x="3721174" y="2963861"/>
                  </a:lnTo>
                  <a:lnTo>
                    <a:pt x="3696442" y="3001550"/>
                  </a:lnTo>
                  <a:lnTo>
                    <a:pt x="3671057" y="3038764"/>
                  </a:lnTo>
                  <a:lnTo>
                    <a:pt x="3645027" y="3075497"/>
                  </a:lnTo>
                  <a:lnTo>
                    <a:pt x="3618361" y="3111739"/>
                  </a:lnTo>
                  <a:lnTo>
                    <a:pt x="3591066" y="3147483"/>
                  </a:lnTo>
                  <a:lnTo>
                    <a:pt x="3563151" y="3182721"/>
                  </a:lnTo>
                  <a:lnTo>
                    <a:pt x="3534624" y="3217444"/>
                  </a:lnTo>
                  <a:lnTo>
                    <a:pt x="3505492" y="3251645"/>
                  </a:lnTo>
                  <a:lnTo>
                    <a:pt x="3475765" y="3285314"/>
                  </a:lnTo>
                  <a:lnTo>
                    <a:pt x="3445450" y="3318445"/>
                  </a:lnTo>
                  <a:lnTo>
                    <a:pt x="3414555" y="3351029"/>
                  </a:lnTo>
                  <a:lnTo>
                    <a:pt x="3383089" y="3383057"/>
                  </a:lnTo>
                  <a:lnTo>
                    <a:pt x="3351059" y="3414522"/>
                  </a:lnTo>
                  <a:lnTo>
                    <a:pt x="3318475" y="3445416"/>
                  </a:lnTo>
                  <a:lnTo>
                    <a:pt x="3285343" y="3475730"/>
                  </a:lnTo>
                  <a:lnTo>
                    <a:pt x="3251672" y="3505456"/>
                  </a:lnTo>
                  <a:lnTo>
                    <a:pt x="3217470" y="3534586"/>
                  </a:lnTo>
                  <a:lnTo>
                    <a:pt x="3182746" y="3563113"/>
                  </a:lnTo>
                  <a:lnTo>
                    <a:pt x="3147507" y="3591027"/>
                  </a:lnTo>
                  <a:lnTo>
                    <a:pt x="3111762" y="3618320"/>
                  </a:lnTo>
                  <a:lnTo>
                    <a:pt x="3075518" y="3644986"/>
                  </a:lnTo>
                  <a:lnTo>
                    <a:pt x="3038785" y="3671014"/>
                  </a:lnTo>
                  <a:lnTo>
                    <a:pt x="3001569" y="3696398"/>
                  </a:lnTo>
                  <a:lnTo>
                    <a:pt x="2963880" y="3721129"/>
                  </a:lnTo>
                  <a:lnTo>
                    <a:pt x="2925725" y="3745199"/>
                  </a:lnTo>
                  <a:lnTo>
                    <a:pt x="2887112" y="3768600"/>
                  </a:lnTo>
                  <a:lnTo>
                    <a:pt x="2848050" y="3791324"/>
                  </a:lnTo>
                  <a:lnTo>
                    <a:pt x="2808547" y="3813362"/>
                  </a:lnTo>
                  <a:lnTo>
                    <a:pt x="2768611" y="3834707"/>
                  </a:lnTo>
                  <a:lnTo>
                    <a:pt x="2728249" y="3855349"/>
                  </a:lnTo>
                  <a:lnTo>
                    <a:pt x="2687471" y="3875282"/>
                  </a:lnTo>
                  <a:lnTo>
                    <a:pt x="2646284" y="3894497"/>
                  </a:lnTo>
                  <a:lnTo>
                    <a:pt x="2604696" y="3912986"/>
                  </a:lnTo>
                  <a:lnTo>
                    <a:pt x="2562716" y="3930741"/>
                  </a:lnTo>
                  <a:lnTo>
                    <a:pt x="2520352" y="3947753"/>
                  </a:lnTo>
                  <a:lnTo>
                    <a:pt x="2477612" y="3964015"/>
                  </a:lnTo>
                  <a:lnTo>
                    <a:pt x="2434503" y="3979518"/>
                  </a:lnTo>
                  <a:lnTo>
                    <a:pt x="2391035" y="3994254"/>
                  </a:lnTo>
                  <a:lnTo>
                    <a:pt x="2347215" y="4008215"/>
                  </a:lnTo>
                  <a:lnTo>
                    <a:pt x="2303051" y="4021394"/>
                  </a:lnTo>
                  <a:lnTo>
                    <a:pt x="2258552" y="4033781"/>
                  </a:lnTo>
                  <a:lnTo>
                    <a:pt x="2213726" y="4045368"/>
                  </a:lnTo>
                  <a:lnTo>
                    <a:pt x="2168580" y="4056148"/>
                  </a:lnTo>
                  <a:lnTo>
                    <a:pt x="2123123" y="4066113"/>
                  </a:lnTo>
                  <a:lnTo>
                    <a:pt x="2077364" y="4075253"/>
                  </a:lnTo>
                  <a:lnTo>
                    <a:pt x="2031309" y="4083562"/>
                  </a:lnTo>
                  <a:lnTo>
                    <a:pt x="1984968" y="4091031"/>
                  </a:lnTo>
                  <a:lnTo>
                    <a:pt x="1938349" y="4097651"/>
                  </a:lnTo>
                  <a:lnTo>
                    <a:pt x="1891459" y="4103416"/>
                  </a:lnTo>
                  <a:lnTo>
                    <a:pt x="1844307" y="4108315"/>
                  </a:lnTo>
                  <a:lnTo>
                    <a:pt x="1796901" y="4112342"/>
                  </a:lnTo>
                  <a:lnTo>
                    <a:pt x="1749249" y="4115489"/>
                  </a:lnTo>
                  <a:lnTo>
                    <a:pt x="1701359" y="4117746"/>
                  </a:lnTo>
                  <a:lnTo>
                    <a:pt x="1653239" y="4119107"/>
                  </a:lnTo>
                  <a:lnTo>
                    <a:pt x="1604899" y="4119562"/>
                  </a:lnTo>
                  <a:lnTo>
                    <a:pt x="1556563" y="4119107"/>
                  </a:lnTo>
                  <a:lnTo>
                    <a:pt x="1508449" y="4117746"/>
                  </a:lnTo>
                  <a:lnTo>
                    <a:pt x="1460565" y="4115489"/>
                  </a:lnTo>
                  <a:lnTo>
                    <a:pt x="1412918" y="4112342"/>
                  </a:lnTo>
                  <a:lnTo>
                    <a:pt x="1365518" y="4108315"/>
                  </a:lnTo>
                  <a:lnTo>
                    <a:pt x="1318371" y="4103416"/>
                  </a:lnTo>
                  <a:lnTo>
                    <a:pt x="1271486" y="4097651"/>
                  </a:lnTo>
                  <a:lnTo>
                    <a:pt x="1224871" y="4091031"/>
                  </a:lnTo>
                  <a:lnTo>
                    <a:pt x="1178535" y="4083562"/>
                  </a:lnTo>
                  <a:lnTo>
                    <a:pt x="1132486" y="4075253"/>
                  </a:lnTo>
                  <a:lnTo>
                    <a:pt x="1086731" y="4066113"/>
                  </a:lnTo>
                  <a:lnTo>
                    <a:pt x="1041278" y="4056148"/>
                  </a:lnTo>
                  <a:lnTo>
                    <a:pt x="996137" y="4045368"/>
                  </a:lnTo>
                  <a:lnTo>
                    <a:pt x="951315" y="4033781"/>
                  </a:lnTo>
                  <a:lnTo>
                    <a:pt x="906820" y="4021394"/>
                  </a:lnTo>
                  <a:lnTo>
                    <a:pt x="862661" y="4008215"/>
                  </a:lnTo>
                  <a:lnTo>
                    <a:pt x="818845" y="3994254"/>
                  </a:lnTo>
                  <a:lnTo>
                    <a:pt x="775380" y="3979518"/>
                  </a:lnTo>
                  <a:lnTo>
                    <a:pt x="732276" y="3964015"/>
                  </a:lnTo>
                  <a:lnTo>
                    <a:pt x="689539" y="3947753"/>
                  </a:lnTo>
                  <a:lnTo>
                    <a:pt x="647178" y="3930741"/>
                  </a:lnTo>
                  <a:lnTo>
                    <a:pt x="605202" y="3912986"/>
                  </a:lnTo>
                  <a:lnTo>
                    <a:pt x="563618" y="3894497"/>
                  </a:lnTo>
                  <a:lnTo>
                    <a:pt x="522434" y="3875282"/>
                  </a:lnTo>
                  <a:lnTo>
                    <a:pt x="481659" y="3855349"/>
                  </a:lnTo>
                  <a:lnTo>
                    <a:pt x="441301" y="3834707"/>
                  </a:lnTo>
                  <a:lnTo>
                    <a:pt x="401368" y="3813362"/>
                  </a:lnTo>
                  <a:lnTo>
                    <a:pt x="361867" y="3791324"/>
                  </a:lnTo>
                  <a:lnTo>
                    <a:pt x="322808" y="3768600"/>
                  </a:lnTo>
                  <a:lnTo>
                    <a:pt x="284199" y="3745199"/>
                  </a:lnTo>
                  <a:lnTo>
                    <a:pt x="246046" y="3721129"/>
                  </a:lnTo>
                  <a:lnTo>
                    <a:pt x="208360" y="3696398"/>
                  </a:lnTo>
                  <a:lnTo>
                    <a:pt x="171147" y="3671014"/>
                  </a:lnTo>
                  <a:lnTo>
                    <a:pt x="134416" y="3644986"/>
                  </a:lnTo>
                  <a:lnTo>
                    <a:pt x="98175" y="3618320"/>
                  </a:lnTo>
                  <a:lnTo>
                    <a:pt x="62432" y="3591027"/>
                  </a:lnTo>
                  <a:lnTo>
                    <a:pt x="27196" y="3563113"/>
                  </a:lnTo>
                  <a:lnTo>
                    <a:pt x="0" y="3540769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5484876" y="1370075"/>
            <a:ext cx="3665854" cy="3780154"/>
            <a:chOff x="5484876" y="1370075"/>
            <a:chExt cx="3665854" cy="3780154"/>
          </a:xfrm>
        </p:grpSpPr>
        <p:sp>
          <p:nvSpPr>
            <p:cNvPr id="7" name="object 7"/>
            <p:cNvSpPr/>
            <p:nvPr/>
          </p:nvSpPr>
          <p:spPr>
            <a:xfrm>
              <a:off x="5491226" y="1376425"/>
              <a:ext cx="3653154" cy="3767454"/>
            </a:xfrm>
            <a:custGeom>
              <a:avLst/>
              <a:gdLst/>
              <a:ahLst/>
              <a:cxnLst/>
              <a:rect l="l" t="t" r="r" b="b"/>
              <a:pathLst>
                <a:path w="3653154" h="3767454">
                  <a:moveTo>
                    <a:pt x="2743200" y="0"/>
                  </a:moveTo>
                  <a:lnTo>
                    <a:pt x="2694944" y="415"/>
                  </a:lnTo>
                  <a:lnTo>
                    <a:pt x="2646889" y="1658"/>
                  </a:lnTo>
                  <a:lnTo>
                    <a:pt x="2599043" y="3722"/>
                  </a:lnTo>
                  <a:lnTo>
                    <a:pt x="2551413" y="6598"/>
                  </a:lnTo>
                  <a:lnTo>
                    <a:pt x="2504004" y="10282"/>
                  </a:lnTo>
                  <a:lnTo>
                    <a:pt x="2456825" y="14765"/>
                  </a:lnTo>
                  <a:lnTo>
                    <a:pt x="2409881" y="20042"/>
                  </a:lnTo>
                  <a:lnTo>
                    <a:pt x="2363180" y="26105"/>
                  </a:lnTo>
                  <a:lnTo>
                    <a:pt x="2316728" y="32947"/>
                  </a:lnTo>
                  <a:lnTo>
                    <a:pt x="2270532" y="40563"/>
                  </a:lnTo>
                  <a:lnTo>
                    <a:pt x="2224599" y="48944"/>
                  </a:lnTo>
                  <a:lnTo>
                    <a:pt x="2178935" y="58084"/>
                  </a:lnTo>
                  <a:lnTo>
                    <a:pt x="2133548" y="67977"/>
                  </a:lnTo>
                  <a:lnTo>
                    <a:pt x="2088444" y="78615"/>
                  </a:lnTo>
                  <a:lnTo>
                    <a:pt x="2043631" y="89992"/>
                  </a:lnTo>
                  <a:lnTo>
                    <a:pt x="1999114" y="102100"/>
                  </a:lnTo>
                  <a:lnTo>
                    <a:pt x="1954901" y="114934"/>
                  </a:lnTo>
                  <a:lnTo>
                    <a:pt x="1910998" y="128487"/>
                  </a:lnTo>
                  <a:lnTo>
                    <a:pt x="1867413" y="142751"/>
                  </a:lnTo>
                  <a:lnTo>
                    <a:pt x="1824152" y="157719"/>
                  </a:lnTo>
                  <a:lnTo>
                    <a:pt x="1781221" y="173386"/>
                  </a:lnTo>
                  <a:lnTo>
                    <a:pt x="1738629" y="189744"/>
                  </a:lnTo>
                  <a:lnTo>
                    <a:pt x="1696380" y="206786"/>
                  </a:lnTo>
                  <a:lnTo>
                    <a:pt x="1654483" y="224505"/>
                  </a:lnTo>
                  <a:lnTo>
                    <a:pt x="1612944" y="242896"/>
                  </a:lnTo>
                  <a:lnTo>
                    <a:pt x="1571770" y="261950"/>
                  </a:lnTo>
                  <a:lnTo>
                    <a:pt x="1530968" y="281662"/>
                  </a:lnTo>
                  <a:lnTo>
                    <a:pt x="1490544" y="302023"/>
                  </a:lnTo>
                  <a:lnTo>
                    <a:pt x="1450505" y="323029"/>
                  </a:lnTo>
                  <a:lnTo>
                    <a:pt x="1410858" y="344671"/>
                  </a:lnTo>
                  <a:lnTo>
                    <a:pt x="1371610" y="366943"/>
                  </a:lnTo>
                  <a:lnTo>
                    <a:pt x="1332768" y="389838"/>
                  </a:lnTo>
                  <a:lnTo>
                    <a:pt x="1294338" y="413350"/>
                  </a:lnTo>
                  <a:lnTo>
                    <a:pt x="1256327" y="437471"/>
                  </a:lnTo>
                  <a:lnTo>
                    <a:pt x="1218743" y="462195"/>
                  </a:lnTo>
                  <a:lnTo>
                    <a:pt x="1181591" y="487515"/>
                  </a:lnTo>
                  <a:lnTo>
                    <a:pt x="1144879" y="513425"/>
                  </a:lnTo>
                  <a:lnTo>
                    <a:pt x="1108613" y="539916"/>
                  </a:lnTo>
                  <a:lnTo>
                    <a:pt x="1072801" y="566983"/>
                  </a:lnTo>
                  <a:lnTo>
                    <a:pt x="1037448" y="594619"/>
                  </a:lnTo>
                  <a:lnTo>
                    <a:pt x="1002563" y="622817"/>
                  </a:lnTo>
                  <a:lnTo>
                    <a:pt x="968151" y="651570"/>
                  </a:lnTo>
                  <a:lnTo>
                    <a:pt x="934219" y="680872"/>
                  </a:lnTo>
                  <a:lnTo>
                    <a:pt x="900775" y="710715"/>
                  </a:lnTo>
                  <a:lnTo>
                    <a:pt x="867825" y="741093"/>
                  </a:lnTo>
                  <a:lnTo>
                    <a:pt x="835375" y="771998"/>
                  </a:lnTo>
                  <a:lnTo>
                    <a:pt x="803433" y="803425"/>
                  </a:lnTo>
                  <a:lnTo>
                    <a:pt x="772006" y="835367"/>
                  </a:lnTo>
                  <a:lnTo>
                    <a:pt x="741099" y="867816"/>
                  </a:lnTo>
                  <a:lnTo>
                    <a:pt x="710721" y="900765"/>
                  </a:lnTo>
                  <a:lnTo>
                    <a:pt x="680878" y="934209"/>
                  </a:lnTo>
                  <a:lnTo>
                    <a:pt x="651576" y="968140"/>
                  </a:lnTo>
                  <a:lnTo>
                    <a:pt x="622822" y="1002551"/>
                  </a:lnTo>
                  <a:lnTo>
                    <a:pt x="594624" y="1037436"/>
                  </a:lnTo>
                  <a:lnTo>
                    <a:pt x="566988" y="1072788"/>
                  </a:lnTo>
                  <a:lnTo>
                    <a:pt x="539920" y="1108600"/>
                  </a:lnTo>
                  <a:lnTo>
                    <a:pt x="513429" y="1144865"/>
                  </a:lnTo>
                  <a:lnTo>
                    <a:pt x="487519" y="1181576"/>
                  </a:lnTo>
                  <a:lnTo>
                    <a:pt x="462199" y="1218727"/>
                  </a:lnTo>
                  <a:lnTo>
                    <a:pt x="437474" y="1256311"/>
                  </a:lnTo>
                  <a:lnTo>
                    <a:pt x="413353" y="1294321"/>
                  </a:lnTo>
                  <a:lnTo>
                    <a:pt x="389841" y="1332750"/>
                  </a:lnTo>
                  <a:lnTo>
                    <a:pt x="366945" y="1371591"/>
                  </a:lnTo>
                  <a:lnTo>
                    <a:pt x="344673" y="1410838"/>
                  </a:lnTo>
                  <a:lnTo>
                    <a:pt x="323031" y="1450484"/>
                  </a:lnTo>
                  <a:lnTo>
                    <a:pt x="302025" y="1490522"/>
                  </a:lnTo>
                  <a:lnTo>
                    <a:pt x="281663" y="1530945"/>
                  </a:lnTo>
                  <a:lnTo>
                    <a:pt x="261951" y="1571746"/>
                  </a:lnTo>
                  <a:lnTo>
                    <a:pt x="242897" y="1612919"/>
                  </a:lnTo>
                  <a:lnTo>
                    <a:pt x="224506" y="1654457"/>
                  </a:lnTo>
                  <a:lnTo>
                    <a:pt x="206787" y="1696353"/>
                  </a:lnTo>
                  <a:lnTo>
                    <a:pt x="189744" y="1738600"/>
                  </a:lnTo>
                  <a:lnTo>
                    <a:pt x="173387" y="1781192"/>
                  </a:lnTo>
                  <a:lnTo>
                    <a:pt x="157720" y="1824121"/>
                  </a:lnTo>
                  <a:lnTo>
                    <a:pt x="142751" y="1867381"/>
                  </a:lnTo>
                  <a:lnTo>
                    <a:pt x="128487" y="1910965"/>
                  </a:lnTo>
                  <a:lnTo>
                    <a:pt x="114935" y="1954866"/>
                  </a:lnTo>
                  <a:lnTo>
                    <a:pt x="102101" y="1999078"/>
                  </a:lnTo>
                  <a:lnTo>
                    <a:pt x="89992" y="2043593"/>
                  </a:lnTo>
                  <a:lnTo>
                    <a:pt x="78615" y="2088405"/>
                  </a:lnTo>
                  <a:lnTo>
                    <a:pt x="67977" y="2133508"/>
                  </a:lnTo>
                  <a:lnTo>
                    <a:pt x="58084" y="2178893"/>
                  </a:lnTo>
                  <a:lnTo>
                    <a:pt x="48944" y="2224555"/>
                  </a:lnTo>
                  <a:lnTo>
                    <a:pt x="40563" y="2270486"/>
                  </a:lnTo>
                  <a:lnTo>
                    <a:pt x="32947" y="2316681"/>
                  </a:lnTo>
                  <a:lnTo>
                    <a:pt x="26105" y="2363131"/>
                  </a:lnTo>
                  <a:lnTo>
                    <a:pt x="20042" y="2409831"/>
                  </a:lnTo>
                  <a:lnTo>
                    <a:pt x="14765" y="2456773"/>
                  </a:lnTo>
                  <a:lnTo>
                    <a:pt x="10282" y="2503951"/>
                  </a:lnTo>
                  <a:lnTo>
                    <a:pt x="6598" y="2551357"/>
                  </a:lnTo>
                  <a:lnTo>
                    <a:pt x="3722" y="2598986"/>
                  </a:lnTo>
                  <a:lnTo>
                    <a:pt x="1658" y="2646830"/>
                  </a:lnTo>
                  <a:lnTo>
                    <a:pt x="415" y="2694882"/>
                  </a:lnTo>
                  <a:lnTo>
                    <a:pt x="0" y="2743136"/>
                  </a:lnTo>
                  <a:lnTo>
                    <a:pt x="415" y="2791390"/>
                  </a:lnTo>
                  <a:lnTo>
                    <a:pt x="1658" y="2839442"/>
                  </a:lnTo>
                  <a:lnTo>
                    <a:pt x="3722" y="2887285"/>
                  </a:lnTo>
                  <a:lnTo>
                    <a:pt x="6598" y="2934914"/>
                  </a:lnTo>
                  <a:lnTo>
                    <a:pt x="10282" y="2982321"/>
                  </a:lnTo>
                  <a:lnTo>
                    <a:pt x="14765" y="3029499"/>
                  </a:lnTo>
                  <a:lnTo>
                    <a:pt x="20042" y="3076441"/>
                  </a:lnTo>
                  <a:lnTo>
                    <a:pt x="26105" y="3123141"/>
                  </a:lnTo>
                  <a:lnTo>
                    <a:pt x="32947" y="3169592"/>
                  </a:lnTo>
                  <a:lnTo>
                    <a:pt x="40563" y="3215786"/>
                  </a:lnTo>
                  <a:lnTo>
                    <a:pt x="48944" y="3261718"/>
                  </a:lnTo>
                  <a:lnTo>
                    <a:pt x="58084" y="3307381"/>
                  </a:lnTo>
                  <a:lnTo>
                    <a:pt x="67977" y="3352767"/>
                  </a:lnTo>
                  <a:lnTo>
                    <a:pt x="78615" y="3397870"/>
                  </a:lnTo>
                  <a:lnTo>
                    <a:pt x="89992" y="3442683"/>
                  </a:lnTo>
                  <a:lnTo>
                    <a:pt x="102101" y="3487199"/>
                  </a:lnTo>
                  <a:lnTo>
                    <a:pt x="114935" y="3531412"/>
                  </a:lnTo>
                  <a:lnTo>
                    <a:pt x="128487" y="3575315"/>
                  </a:lnTo>
                  <a:lnTo>
                    <a:pt x="142751" y="3618900"/>
                  </a:lnTo>
                  <a:lnTo>
                    <a:pt x="157720" y="3662161"/>
                  </a:lnTo>
                  <a:lnTo>
                    <a:pt x="173387" y="3705091"/>
                  </a:lnTo>
                  <a:lnTo>
                    <a:pt x="189744" y="3747684"/>
                  </a:lnTo>
                  <a:lnTo>
                    <a:pt x="197566" y="3767074"/>
                  </a:lnTo>
                  <a:lnTo>
                    <a:pt x="3652774" y="3767074"/>
                  </a:lnTo>
                  <a:lnTo>
                    <a:pt x="3652774" y="154459"/>
                  </a:lnTo>
                  <a:lnTo>
                    <a:pt x="3618937" y="142751"/>
                  </a:lnTo>
                  <a:lnTo>
                    <a:pt x="3575353" y="128487"/>
                  </a:lnTo>
                  <a:lnTo>
                    <a:pt x="3531452" y="114934"/>
                  </a:lnTo>
                  <a:lnTo>
                    <a:pt x="3487240" y="102100"/>
                  </a:lnTo>
                  <a:lnTo>
                    <a:pt x="3442725" y="89992"/>
                  </a:lnTo>
                  <a:lnTo>
                    <a:pt x="3397913" y="78615"/>
                  </a:lnTo>
                  <a:lnTo>
                    <a:pt x="3352812" y="67977"/>
                  </a:lnTo>
                  <a:lnTo>
                    <a:pt x="3307427" y="58084"/>
                  </a:lnTo>
                  <a:lnTo>
                    <a:pt x="3261766" y="48944"/>
                  </a:lnTo>
                  <a:lnTo>
                    <a:pt x="3215835" y="40563"/>
                  </a:lnTo>
                  <a:lnTo>
                    <a:pt x="3169641" y="32947"/>
                  </a:lnTo>
                  <a:lnTo>
                    <a:pt x="3123192" y="26105"/>
                  </a:lnTo>
                  <a:lnTo>
                    <a:pt x="3076494" y="20042"/>
                  </a:lnTo>
                  <a:lnTo>
                    <a:pt x="3029553" y="14765"/>
                  </a:lnTo>
                  <a:lnTo>
                    <a:pt x="2982376" y="10282"/>
                  </a:lnTo>
                  <a:lnTo>
                    <a:pt x="2934971" y="6598"/>
                  </a:lnTo>
                  <a:lnTo>
                    <a:pt x="2887344" y="3722"/>
                  </a:lnTo>
                  <a:lnTo>
                    <a:pt x="2839502" y="1658"/>
                  </a:lnTo>
                  <a:lnTo>
                    <a:pt x="2791452" y="415"/>
                  </a:lnTo>
                  <a:lnTo>
                    <a:pt x="2743200" y="0"/>
                  </a:lnTo>
                  <a:close/>
                </a:path>
              </a:pathLst>
            </a:custGeom>
            <a:solidFill>
              <a:srgbClr val="FFFFFF">
                <a:alpha val="7843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491226" y="1376425"/>
              <a:ext cx="3653154" cy="3767454"/>
            </a:xfrm>
            <a:custGeom>
              <a:avLst/>
              <a:gdLst/>
              <a:ahLst/>
              <a:cxnLst/>
              <a:rect l="l" t="t" r="r" b="b"/>
              <a:pathLst>
                <a:path w="3653154" h="3767454">
                  <a:moveTo>
                    <a:pt x="197566" y="3767074"/>
                  </a:moveTo>
                  <a:lnTo>
                    <a:pt x="173387" y="3705091"/>
                  </a:lnTo>
                  <a:lnTo>
                    <a:pt x="157720" y="3662161"/>
                  </a:lnTo>
                  <a:lnTo>
                    <a:pt x="142751" y="3618900"/>
                  </a:lnTo>
                  <a:lnTo>
                    <a:pt x="128487" y="3575315"/>
                  </a:lnTo>
                  <a:lnTo>
                    <a:pt x="114935" y="3531412"/>
                  </a:lnTo>
                  <a:lnTo>
                    <a:pt x="102101" y="3487199"/>
                  </a:lnTo>
                  <a:lnTo>
                    <a:pt x="89992" y="3442683"/>
                  </a:lnTo>
                  <a:lnTo>
                    <a:pt x="78615" y="3397870"/>
                  </a:lnTo>
                  <a:lnTo>
                    <a:pt x="67977" y="3352767"/>
                  </a:lnTo>
                  <a:lnTo>
                    <a:pt x="58084" y="3307381"/>
                  </a:lnTo>
                  <a:lnTo>
                    <a:pt x="48944" y="3261718"/>
                  </a:lnTo>
                  <a:lnTo>
                    <a:pt x="40563" y="3215786"/>
                  </a:lnTo>
                  <a:lnTo>
                    <a:pt x="32947" y="3169592"/>
                  </a:lnTo>
                  <a:lnTo>
                    <a:pt x="26105" y="3123141"/>
                  </a:lnTo>
                  <a:lnTo>
                    <a:pt x="20042" y="3076441"/>
                  </a:lnTo>
                  <a:lnTo>
                    <a:pt x="14765" y="3029499"/>
                  </a:lnTo>
                  <a:lnTo>
                    <a:pt x="10282" y="2982321"/>
                  </a:lnTo>
                  <a:lnTo>
                    <a:pt x="6598" y="2934914"/>
                  </a:lnTo>
                  <a:lnTo>
                    <a:pt x="3722" y="2887285"/>
                  </a:lnTo>
                  <a:lnTo>
                    <a:pt x="1658" y="2839442"/>
                  </a:lnTo>
                  <a:lnTo>
                    <a:pt x="415" y="2791390"/>
                  </a:lnTo>
                  <a:lnTo>
                    <a:pt x="0" y="2743136"/>
                  </a:lnTo>
                  <a:lnTo>
                    <a:pt x="415" y="2694882"/>
                  </a:lnTo>
                  <a:lnTo>
                    <a:pt x="1658" y="2646830"/>
                  </a:lnTo>
                  <a:lnTo>
                    <a:pt x="3722" y="2598986"/>
                  </a:lnTo>
                  <a:lnTo>
                    <a:pt x="6598" y="2551357"/>
                  </a:lnTo>
                  <a:lnTo>
                    <a:pt x="10282" y="2503951"/>
                  </a:lnTo>
                  <a:lnTo>
                    <a:pt x="14765" y="2456773"/>
                  </a:lnTo>
                  <a:lnTo>
                    <a:pt x="20042" y="2409831"/>
                  </a:lnTo>
                  <a:lnTo>
                    <a:pt x="26105" y="2363131"/>
                  </a:lnTo>
                  <a:lnTo>
                    <a:pt x="32947" y="2316681"/>
                  </a:lnTo>
                  <a:lnTo>
                    <a:pt x="40563" y="2270486"/>
                  </a:lnTo>
                  <a:lnTo>
                    <a:pt x="48944" y="2224555"/>
                  </a:lnTo>
                  <a:lnTo>
                    <a:pt x="58084" y="2178893"/>
                  </a:lnTo>
                  <a:lnTo>
                    <a:pt x="67977" y="2133508"/>
                  </a:lnTo>
                  <a:lnTo>
                    <a:pt x="78615" y="2088405"/>
                  </a:lnTo>
                  <a:lnTo>
                    <a:pt x="89992" y="2043593"/>
                  </a:lnTo>
                  <a:lnTo>
                    <a:pt x="102101" y="1999078"/>
                  </a:lnTo>
                  <a:lnTo>
                    <a:pt x="114935" y="1954866"/>
                  </a:lnTo>
                  <a:lnTo>
                    <a:pt x="128487" y="1910965"/>
                  </a:lnTo>
                  <a:lnTo>
                    <a:pt x="142751" y="1867381"/>
                  </a:lnTo>
                  <a:lnTo>
                    <a:pt x="157720" y="1824121"/>
                  </a:lnTo>
                  <a:lnTo>
                    <a:pt x="173387" y="1781192"/>
                  </a:lnTo>
                  <a:lnTo>
                    <a:pt x="189744" y="1738600"/>
                  </a:lnTo>
                  <a:lnTo>
                    <a:pt x="206787" y="1696353"/>
                  </a:lnTo>
                  <a:lnTo>
                    <a:pt x="224506" y="1654457"/>
                  </a:lnTo>
                  <a:lnTo>
                    <a:pt x="242897" y="1612919"/>
                  </a:lnTo>
                  <a:lnTo>
                    <a:pt x="261951" y="1571746"/>
                  </a:lnTo>
                  <a:lnTo>
                    <a:pt x="281663" y="1530945"/>
                  </a:lnTo>
                  <a:lnTo>
                    <a:pt x="302025" y="1490522"/>
                  </a:lnTo>
                  <a:lnTo>
                    <a:pt x="323031" y="1450484"/>
                  </a:lnTo>
                  <a:lnTo>
                    <a:pt x="344673" y="1410838"/>
                  </a:lnTo>
                  <a:lnTo>
                    <a:pt x="366945" y="1371591"/>
                  </a:lnTo>
                  <a:lnTo>
                    <a:pt x="389841" y="1332750"/>
                  </a:lnTo>
                  <a:lnTo>
                    <a:pt x="413353" y="1294321"/>
                  </a:lnTo>
                  <a:lnTo>
                    <a:pt x="437474" y="1256311"/>
                  </a:lnTo>
                  <a:lnTo>
                    <a:pt x="462199" y="1218727"/>
                  </a:lnTo>
                  <a:lnTo>
                    <a:pt x="487519" y="1181576"/>
                  </a:lnTo>
                  <a:lnTo>
                    <a:pt x="513429" y="1144865"/>
                  </a:lnTo>
                  <a:lnTo>
                    <a:pt x="539920" y="1108600"/>
                  </a:lnTo>
                  <a:lnTo>
                    <a:pt x="566988" y="1072788"/>
                  </a:lnTo>
                  <a:lnTo>
                    <a:pt x="594624" y="1037436"/>
                  </a:lnTo>
                  <a:lnTo>
                    <a:pt x="622822" y="1002551"/>
                  </a:lnTo>
                  <a:lnTo>
                    <a:pt x="651576" y="968140"/>
                  </a:lnTo>
                  <a:lnTo>
                    <a:pt x="680878" y="934209"/>
                  </a:lnTo>
                  <a:lnTo>
                    <a:pt x="710721" y="900765"/>
                  </a:lnTo>
                  <a:lnTo>
                    <a:pt x="741099" y="867816"/>
                  </a:lnTo>
                  <a:lnTo>
                    <a:pt x="772006" y="835367"/>
                  </a:lnTo>
                  <a:lnTo>
                    <a:pt x="803433" y="803425"/>
                  </a:lnTo>
                  <a:lnTo>
                    <a:pt x="835375" y="771998"/>
                  </a:lnTo>
                  <a:lnTo>
                    <a:pt x="867825" y="741093"/>
                  </a:lnTo>
                  <a:lnTo>
                    <a:pt x="900775" y="710715"/>
                  </a:lnTo>
                  <a:lnTo>
                    <a:pt x="934219" y="680872"/>
                  </a:lnTo>
                  <a:lnTo>
                    <a:pt x="968151" y="651570"/>
                  </a:lnTo>
                  <a:lnTo>
                    <a:pt x="1002563" y="622817"/>
                  </a:lnTo>
                  <a:lnTo>
                    <a:pt x="1037448" y="594619"/>
                  </a:lnTo>
                  <a:lnTo>
                    <a:pt x="1072801" y="566983"/>
                  </a:lnTo>
                  <a:lnTo>
                    <a:pt x="1108613" y="539916"/>
                  </a:lnTo>
                  <a:lnTo>
                    <a:pt x="1144879" y="513425"/>
                  </a:lnTo>
                  <a:lnTo>
                    <a:pt x="1181591" y="487515"/>
                  </a:lnTo>
                  <a:lnTo>
                    <a:pt x="1218743" y="462195"/>
                  </a:lnTo>
                  <a:lnTo>
                    <a:pt x="1256327" y="437471"/>
                  </a:lnTo>
                  <a:lnTo>
                    <a:pt x="1294338" y="413350"/>
                  </a:lnTo>
                  <a:lnTo>
                    <a:pt x="1332768" y="389838"/>
                  </a:lnTo>
                  <a:lnTo>
                    <a:pt x="1371610" y="366943"/>
                  </a:lnTo>
                  <a:lnTo>
                    <a:pt x="1410858" y="344671"/>
                  </a:lnTo>
                  <a:lnTo>
                    <a:pt x="1450505" y="323029"/>
                  </a:lnTo>
                  <a:lnTo>
                    <a:pt x="1490544" y="302023"/>
                  </a:lnTo>
                  <a:lnTo>
                    <a:pt x="1530968" y="281662"/>
                  </a:lnTo>
                  <a:lnTo>
                    <a:pt x="1571770" y="261950"/>
                  </a:lnTo>
                  <a:lnTo>
                    <a:pt x="1612944" y="242896"/>
                  </a:lnTo>
                  <a:lnTo>
                    <a:pt x="1654483" y="224505"/>
                  </a:lnTo>
                  <a:lnTo>
                    <a:pt x="1696380" y="206786"/>
                  </a:lnTo>
                  <a:lnTo>
                    <a:pt x="1738629" y="189744"/>
                  </a:lnTo>
                  <a:lnTo>
                    <a:pt x="1781221" y="173386"/>
                  </a:lnTo>
                  <a:lnTo>
                    <a:pt x="1824152" y="157719"/>
                  </a:lnTo>
                  <a:lnTo>
                    <a:pt x="1867413" y="142751"/>
                  </a:lnTo>
                  <a:lnTo>
                    <a:pt x="1910998" y="128487"/>
                  </a:lnTo>
                  <a:lnTo>
                    <a:pt x="1954901" y="114934"/>
                  </a:lnTo>
                  <a:lnTo>
                    <a:pt x="1999114" y="102100"/>
                  </a:lnTo>
                  <a:lnTo>
                    <a:pt x="2043631" y="89992"/>
                  </a:lnTo>
                  <a:lnTo>
                    <a:pt x="2088444" y="78615"/>
                  </a:lnTo>
                  <a:lnTo>
                    <a:pt x="2133548" y="67977"/>
                  </a:lnTo>
                  <a:lnTo>
                    <a:pt x="2178935" y="58084"/>
                  </a:lnTo>
                  <a:lnTo>
                    <a:pt x="2224599" y="48944"/>
                  </a:lnTo>
                  <a:lnTo>
                    <a:pt x="2270532" y="40563"/>
                  </a:lnTo>
                  <a:lnTo>
                    <a:pt x="2316728" y="32947"/>
                  </a:lnTo>
                  <a:lnTo>
                    <a:pt x="2363180" y="26105"/>
                  </a:lnTo>
                  <a:lnTo>
                    <a:pt x="2409881" y="20042"/>
                  </a:lnTo>
                  <a:lnTo>
                    <a:pt x="2456825" y="14765"/>
                  </a:lnTo>
                  <a:lnTo>
                    <a:pt x="2504004" y="10282"/>
                  </a:lnTo>
                  <a:lnTo>
                    <a:pt x="2551413" y="6598"/>
                  </a:lnTo>
                  <a:lnTo>
                    <a:pt x="2599043" y="3722"/>
                  </a:lnTo>
                  <a:lnTo>
                    <a:pt x="2646889" y="1658"/>
                  </a:lnTo>
                  <a:lnTo>
                    <a:pt x="2694944" y="415"/>
                  </a:lnTo>
                  <a:lnTo>
                    <a:pt x="2743200" y="0"/>
                  </a:lnTo>
                  <a:lnTo>
                    <a:pt x="2791452" y="415"/>
                  </a:lnTo>
                  <a:lnTo>
                    <a:pt x="2839502" y="1658"/>
                  </a:lnTo>
                  <a:lnTo>
                    <a:pt x="2887344" y="3722"/>
                  </a:lnTo>
                  <a:lnTo>
                    <a:pt x="2934971" y="6598"/>
                  </a:lnTo>
                  <a:lnTo>
                    <a:pt x="2982376" y="10282"/>
                  </a:lnTo>
                  <a:lnTo>
                    <a:pt x="3029553" y="14765"/>
                  </a:lnTo>
                  <a:lnTo>
                    <a:pt x="3076494" y="20042"/>
                  </a:lnTo>
                  <a:lnTo>
                    <a:pt x="3123192" y="26105"/>
                  </a:lnTo>
                  <a:lnTo>
                    <a:pt x="3169641" y="32947"/>
                  </a:lnTo>
                  <a:lnTo>
                    <a:pt x="3215835" y="40563"/>
                  </a:lnTo>
                  <a:lnTo>
                    <a:pt x="3261766" y="48944"/>
                  </a:lnTo>
                  <a:lnTo>
                    <a:pt x="3307427" y="58084"/>
                  </a:lnTo>
                  <a:lnTo>
                    <a:pt x="3352812" y="67977"/>
                  </a:lnTo>
                  <a:lnTo>
                    <a:pt x="3397913" y="78615"/>
                  </a:lnTo>
                  <a:lnTo>
                    <a:pt x="3442725" y="89992"/>
                  </a:lnTo>
                  <a:lnTo>
                    <a:pt x="3487240" y="102100"/>
                  </a:lnTo>
                  <a:lnTo>
                    <a:pt x="3531452" y="114934"/>
                  </a:lnTo>
                  <a:lnTo>
                    <a:pt x="3575353" y="128487"/>
                  </a:lnTo>
                  <a:lnTo>
                    <a:pt x="3618937" y="142751"/>
                  </a:lnTo>
                  <a:lnTo>
                    <a:pt x="3652774" y="154459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-1586" y="-1587"/>
            <a:ext cx="88900" cy="5151755"/>
            <a:chOff x="-1586" y="-1587"/>
            <a:chExt cx="88900" cy="5151755"/>
          </a:xfrm>
        </p:grpSpPr>
        <p:sp>
          <p:nvSpPr>
            <p:cNvPr id="10" name="object 10"/>
            <p:cNvSpPr/>
            <p:nvPr/>
          </p:nvSpPr>
          <p:spPr>
            <a:xfrm>
              <a:off x="4763" y="4762"/>
              <a:ext cx="76200" cy="5139055"/>
            </a:xfrm>
            <a:custGeom>
              <a:avLst/>
              <a:gdLst/>
              <a:ahLst/>
              <a:cxnLst/>
              <a:rect l="l" t="t" r="r" b="b"/>
              <a:pathLst>
                <a:path w="76200" h="5139055">
                  <a:moveTo>
                    <a:pt x="76200" y="0"/>
                  </a:moveTo>
                  <a:lnTo>
                    <a:pt x="0" y="0"/>
                  </a:lnTo>
                  <a:lnTo>
                    <a:pt x="0" y="5138737"/>
                  </a:lnTo>
                  <a:lnTo>
                    <a:pt x="76200" y="5138737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FFFFFF">
                <a:alpha val="4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763" y="4762"/>
              <a:ext cx="76200" cy="5139055"/>
            </a:xfrm>
            <a:custGeom>
              <a:avLst/>
              <a:gdLst/>
              <a:ahLst/>
              <a:cxnLst/>
              <a:rect l="l" t="t" r="r" b="b"/>
              <a:pathLst>
                <a:path w="76200" h="5139055">
                  <a:moveTo>
                    <a:pt x="76200" y="5138737"/>
                  </a:moveTo>
                  <a:lnTo>
                    <a:pt x="76200" y="0"/>
                  </a:lnTo>
                  <a:lnTo>
                    <a:pt x="0" y="0"/>
                  </a:lnTo>
                  <a:lnTo>
                    <a:pt x="0" y="5138737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45134" y="901382"/>
            <a:ext cx="123952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153795" algn="l"/>
              </a:tabLst>
            </a:pP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100" b="1" spc="2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100" b="1" spc="2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100" b="1" spc="20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100" b="1" spc="2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100" b="1" spc="2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100" b="1" spc="1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spc="-5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11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445134" y="1567497"/>
            <a:ext cx="2497455" cy="11918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0499"/>
              </a:lnSpc>
              <a:spcBef>
                <a:spcPts val="110"/>
              </a:spcBef>
            </a:pPr>
            <a:r>
              <a:rPr sz="3800" dirty="0"/>
              <a:t>Règles</a:t>
            </a:r>
            <a:r>
              <a:rPr sz="3800" spc="-155" dirty="0"/>
              <a:t> </a:t>
            </a:r>
            <a:r>
              <a:rPr sz="3800" spc="-50" dirty="0"/>
              <a:t>&amp; </a:t>
            </a:r>
            <a:r>
              <a:rPr sz="3800" dirty="0"/>
              <a:t>Modèles</a:t>
            </a:r>
            <a:r>
              <a:rPr sz="3800" spc="-105" dirty="0"/>
              <a:t> </a:t>
            </a:r>
            <a:r>
              <a:rPr sz="3800" spc="-25" dirty="0"/>
              <a:t>ML</a:t>
            </a:r>
            <a:endParaRPr sz="3800"/>
          </a:p>
        </p:txBody>
      </p:sp>
      <p:sp>
        <p:nvSpPr>
          <p:cNvPr id="14" name="object 14"/>
          <p:cNvSpPr txBox="1"/>
          <p:nvPr/>
        </p:nvSpPr>
        <p:spPr>
          <a:xfrm>
            <a:off x="445134" y="3313747"/>
            <a:ext cx="3825875" cy="2203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i="1" dirty="0">
                <a:solidFill>
                  <a:srgbClr val="FFFFFF"/>
                </a:solidFill>
                <a:latin typeface="Calibri"/>
                <a:cs typeface="Calibri"/>
              </a:rPr>
              <a:t>Apriori</a:t>
            </a:r>
            <a:r>
              <a:rPr sz="1250" i="1" spc="3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sz="1250" i="1" spc="3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FFFFFF"/>
                </a:solidFill>
                <a:latin typeface="Calibri"/>
                <a:cs typeface="Calibri"/>
              </a:rPr>
              <a:t>Decision</a:t>
            </a:r>
            <a:r>
              <a:rPr sz="1250" i="1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FFFFFF"/>
                </a:solidFill>
                <a:latin typeface="Calibri"/>
                <a:cs typeface="Calibri"/>
              </a:rPr>
              <a:t>Tree</a:t>
            </a:r>
            <a:r>
              <a:rPr sz="1250" i="1" spc="3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sz="1250" i="1" spc="3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FFFFFF"/>
                </a:solidFill>
                <a:latin typeface="Calibri"/>
                <a:cs typeface="Calibri"/>
              </a:rPr>
              <a:t>Random</a:t>
            </a:r>
            <a:r>
              <a:rPr sz="1250" i="1" spc="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FFFFFF"/>
                </a:solidFill>
                <a:latin typeface="Calibri"/>
                <a:cs typeface="Calibri"/>
              </a:rPr>
              <a:t>Forest</a:t>
            </a:r>
            <a:r>
              <a:rPr sz="1250" i="1" spc="4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sz="1250" i="1" spc="3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i="1" spc="-10" dirty="0">
                <a:solidFill>
                  <a:srgbClr val="FFFFFF"/>
                </a:solidFill>
                <a:latin typeface="Calibri"/>
                <a:cs typeface="Calibri"/>
              </a:rPr>
              <a:t>Comparaison</a:t>
            </a:r>
            <a:endParaRPr sz="1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586" y="-1523"/>
            <a:ext cx="9152255" cy="927100"/>
            <a:chOff x="-1586" y="-1523"/>
            <a:chExt cx="9152255" cy="927100"/>
          </a:xfrm>
        </p:grpSpPr>
        <p:sp>
          <p:nvSpPr>
            <p:cNvPr id="3" name="object 3"/>
            <p:cNvSpPr/>
            <p:nvPr/>
          </p:nvSpPr>
          <p:spPr>
            <a:xfrm>
              <a:off x="4763" y="4826"/>
              <a:ext cx="9139555" cy="914400"/>
            </a:xfrm>
            <a:custGeom>
              <a:avLst/>
              <a:gdLst/>
              <a:ahLst/>
              <a:cxnLst/>
              <a:rect l="l" t="t" r="r" b="b"/>
              <a:pathLst>
                <a:path w="9139555" h="914400">
                  <a:moveTo>
                    <a:pt x="9139236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39236" y="914400"/>
                  </a:lnTo>
                  <a:lnTo>
                    <a:pt x="9139236" y="0"/>
                  </a:lnTo>
                  <a:close/>
                </a:path>
              </a:pathLst>
            </a:custGeom>
            <a:solidFill>
              <a:srgbClr val="D9770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763" y="4826"/>
              <a:ext cx="9139555" cy="914400"/>
            </a:xfrm>
            <a:custGeom>
              <a:avLst/>
              <a:gdLst/>
              <a:ahLst/>
              <a:cxnLst/>
              <a:rect l="l" t="t" r="r" b="b"/>
              <a:pathLst>
                <a:path w="9139555" h="914400">
                  <a:moveTo>
                    <a:pt x="9139236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39236" y="914400"/>
                  </a:lnTo>
                </a:path>
              </a:pathLst>
            </a:custGeom>
            <a:ln w="12700">
              <a:solidFill>
                <a:srgbClr val="D9770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Règles</a:t>
            </a:r>
            <a:r>
              <a:rPr spc="-90" dirty="0"/>
              <a:t> </a:t>
            </a:r>
            <a:r>
              <a:rPr dirty="0"/>
              <a:t>d'Association</a:t>
            </a:r>
            <a:r>
              <a:rPr spc="-70" dirty="0"/>
              <a:t> </a:t>
            </a:r>
            <a:r>
              <a:rPr dirty="0"/>
              <a:t>—</a:t>
            </a:r>
            <a:r>
              <a:rPr spc="-60" dirty="0"/>
              <a:t> </a:t>
            </a:r>
            <a:r>
              <a:rPr dirty="0"/>
              <a:t>Algorithme</a:t>
            </a:r>
            <a:r>
              <a:rPr spc="-20" dirty="0"/>
              <a:t> </a:t>
            </a:r>
            <a:r>
              <a:rPr spc="-10" dirty="0"/>
              <a:t>Apriori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53377" y="612203"/>
            <a:ext cx="247459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i="1" dirty="0">
                <a:solidFill>
                  <a:srgbClr val="FFFFFF"/>
                </a:solidFill>
                <a:latin typeface="Calibri"/>
                <a:cs typeface="Calibri"/>
              </a:rPr>
              <a:t>Support</a:t>
            </a:r>
            <a:r>
              <a:rPr sz="1050" i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FFFFFF"/>
                </a:solidFill>
                <a:latin typeface="Calibri"/>
                <a:cs typeface="Calibri"/>
              </a:rPr>
              <a:t>≥</a:t>
            </a:r>
            <a:r>
              <a:rPr sz="1050" i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FFFFFF"/>
                </a:solidFill>
                <a:latin typeface="Calibri"/>
                <a:cs typeface="Calibri"/>
              </a:rPr>
              <a:t>10%</a:t>
            </a:r>
            <a:r>
              <a:rPr sz="1050" i="1" spc="2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sz="1050" i="1" spc="1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FFFFFF"/>
                </a:solidFill>
                <a:latin typeface="Calibri"/>
                <a:cs typeface="Calibri"/>
              </a:rPr>
              <a:t>Confiance ≥</a:t>
            </a:r>
            <a:r>
              <a:rPr sz="1050" i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FFFFFF"/>
                </a:solidFill>
                <a:latin typeface="Calibri"/>
                <a:cs typeface="Calibri"/>
              </a:rPr>
              <a:t>50%</a:t>
            </a:r>
            <a:r>
              <a:rPr sz="1050" i="1" spc="2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sz="1050" i="1" spc="2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FFFFFF"/>
                </a:solidFill>
                <a:latin typeface="Calibri"/>
                <a:cs typeface="Calibri"/>
              </a:rPr>
              <a:t>Lift</a:t>
            </a:r>
            <a:r>
              <a:rPr sz="1050" i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FFFFFF"/>
                </a:solidFill>
                <a:latin typeface="Calibri"/>
                <a:cs typeface="Calibri"/>
              </a:rPr>
              <a:t>≥</a:t>
            </a:r>
            <a:r>
              <a:rPr sz="1050" i="1" spc="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i="1" spc="-25" dirty="0">
                <a:solidFill>
                  <a:srgbClr val="FFFFFF"/>
                </a:solidFill>
                <a:latin typeface="Calibri"/>
                <a:cs typeface="Calibri"/>
              </a:rPr>
              <a:t>1.2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428101" y="93726"/>
            <a:ext cx="612775" cy="603250"/>
            <a:chOff x="8428101" y="93726"/>
            <a:chExt cx="612775" cy="603250"/>
          </a:xfrm>
        </p:grpSpPr>
        <p:sp>
          <p:nvSpPr>
            <p:cNvPr id="8" name="object 8"/>
            <p:cNvSpPr/>
            <p:nvPr/>
          </p:nvSpPr>
          <p:spPr>
            <a:xfrm>
              <a:off x="8434451" y="100076"/>
              <a:ext cx="600075" cy="590550"/>
            </a:xfrm>
            <a:custGeom>
              <a:avLst/>
              <a:gdLst/>
              <a:ahLst/>
              <a:cxnLst/>
              <a:rect l="l" t="t" r="r" b="b"/>
              <a:pathLst>
                <a:path w="600075" h="590550">
                  <a:moveTo>
                    <a:pt x="299974" y="0"/>
                  </a:moveTo>
                  <a:lnTo>
                    <a:pt x="251301" y="3861"/>
                  </a:lnTo>
                  <a:lnTo>
                    <a:pt x="205134" y="15041"/>
                  </a:lnTo>
                  <a:lnTo>
                    <a:pt x="162090" y="32935"/>
                  </a:lnTo>
                  <a:lnTo>
                    <a:pt x="122785" y="56936"/>
                  </a:lnTo>
                  <a:lnTo>
                    <a:pt x="87836" y="86439"/>
                  </a:lnTo>
                  <a:lnTo>
                    <a:pt x="57859" y="120837"/>
                  </a:lnTo>
                  <a:lnTo>
                    <a:pt x="33470" y="159526"/>
                  </a:lnTo>
                  <a:lnTo>
                    <a:pt x="15286" y="201899"/>
                  </a:lnTo>
                  <a:lnTo>
                    <a:pt x="3924" y="247350"/>
                  </a:lnTo>
                  <a:lnTo>
                    <a:pt x="0" y="295275"/>
                  </a:lnTo>
                  <a:lnTo>
                    <a:pt x="3924" y="343168"/>
                  </a:lnTo>
                  <a:lnTo>
                    <a:pt x="15286" y="388601"/>
                  </a:lnTo>
                  <a:lnTo>
                    <a:pt x="33470" y="430967"/>
                  </a:lnTo>
                  <a:lnTo>
                    <a:pt x="57859" y="469657"/>
                  </a:lnTo>
                  <a:lnTo>
                    <a:pt x="87836" y="504063"/>
                  </a:lnTo>
                  <a:lnTo>
                    <a:pt x="122785" y="533576"/>
                  </a:lnTo>
                  <a:lnTo>
                    <a:pt x="162090" y="557590"/>
                  </a:lnTo>
                  <a:lnTo>
                    <a:pt x="205134" y="575495"/>
                  </a:lnTo>
                  <a:lnTo>
                    <a:pt x="251301" y="586685"/>
                  </a:lnTo>
                  <a:lnTo>
                    <a:pt x="299974" y="590550"/>
                  </a:lnTo>
                  <a:lnTo>
                    <a:pt x="348650" y="586685"/>
                  </a:lnTo>
                  <a:lnTo>
                    <a:pt x="394826" y="575495"/>
                  </a:lnTo>
                  <a:lnTo>
                    <a:pt x="437884" y="557590"/>
                  </a:lnTo>
                  <a:lnTo>
                    <a:pt x="477207" y="533576"/>
                  </a:lnTo>
                  <a:lnTo>
                    <a:pt x="512175" y="504063"/>
                  </a:lnTo>
                  <a:lnTo>
                    <a:pt x="542171" y="469657"/>
                  </a:lnTo>
                  <a:lnTo>
                    <a:pt x="566577" y="430967"/>
                  </a:lnTo>
                  <a:lnTo>
                    <a:pt x="584775" y="388601"/>
                  </a:lnTo>
                  <a:lnTo>
                    <a:pt x="596147" y="343168"/>
                  </a:lnTo>
                  <a:lnTo>
                    <a:pt x="600075" y="295275"/>
                  </a:lnTo>
                  <a:lnTo>
                    <a:pt x="596147" y="247350"/>
                  </a:lnTo>
                  <a:lnTo>
                    <a:pt x="584775" y="201899"/>
                  </a:lnTo>
                  <a:lnTo>
                    <a:pt x="566577" y="159526"/>
                  </a:lnTo>
                  <a:lnTo>
                    <a:pt x="542171" y="120837"/>
                  </a:lnTo>
                  <a:lnTo>
                    <a:pt x="512175" y="86439"/>
                  </a:lnTo>
                  <a:lnTo>
                    <a:pt x="477207" y="56936"/>
                  </a:lnTo>
                  <a:lnTo>
                    <a:pt x="437884" y="32935"/>
                  </a:lnTo>
                  <a:lnTo>
                    <a:pt x="394826" y="15041"/>
                  </a:lnTo>
                  <a:lnTo>
                    <a:pt x="348650" y="3861"/>
                  </a:lnTo>
                  <a:lnTo>
                    <a:pt x="2999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434451" y="100076"/>
              <a:ext cx="600075" cy="590550"/>
            </a:xfrm>
            <a:custGeom>
              <a:avLst/>
              <a:gdLst/>
              <a:ahLst/>
              <a:cxnLst/>
              <a:rect l="l" t="t" r="r" b="b"/>
              <a:pathLst>
                <a:path w="600075" h="590550">
                  <a:moveTo>
                    <a:pt x="0" y="295275"/>
                  </a:moveTo>
                  <a:lnTo>
                    <a:pt x="3924" y="247350"/>
                  </a:lnTo>
                  <a:lnTo>
                    <a:pt x="15286" y="201899"/>
                  </a:lnTo>
                  <a:lnTo>
                    <a:pt x="33470" y="159526"/>
                  </a:lnTo>
                  <a:lnTo>
                    <a:pt x="57859" y="120837"/>
                  </a:lnTo>
                  <a:lnTo>
                    <a:pt x="87836" y="86439"/>
                  </a:lnTo>
                  <a:lnTo>
                    <a:pt x="122785" y="56936"/>
                  </a:lnTo>
                  <a:lnTo>
                    <a:pt x="162090" y="32935"/>
                  </a:lnTo>
                  <a:lnTo>
                    <a:pt x="205134" y="15041"/>
                  </a:lnTo>
                  <a:lnTo>
                    <a:pt x="251301" y="3861"/>
                  </a:lnTo>
                  <a:lnTo>
                    <a:pt x="299974" y="0"/>
                  </a:lnTo>
                  <a:lnTo>
                    <a:pt x="348650" y="3861"/>
                  </a:lnTo>
                  <a:lnTo>
                    <a:pt x="394826" y="15041"/>
                  </a:lnTo>
                  <a:lnTo>
                    <a:pt x="437884" y="32935"/>
                  </a:lnTo>
                  <a:lnTo>
                    <a:pt x="477207" y="56936"/>
                  </a:lnTo>
                  <a:lnTo>
                    <a:pt x="512175" y="86439"/>
                  </a:lnTo>
                  <a:lnTo>
                    <a:pt x="542171" y="120837"/>
                  </a:lnTo>
                  <a:lnTo>
                    <a:pt x="566577" y="159526"/>
                  </a:lnTo>
                  <a:lnTo>
                    <a:pt x="584775" y="201899"/>
                  </a:lnTo>
                  <a:lnTo>
                    <a:pt x="596147" y="247350"/>
                  </a:lnTo>
                  <a:lnTo>
                    <a:pt x="600075" y="295275"/>
                  </a:lnTo>
                  <a:lnTo>
                    <a:pt x="596147" y="343168"/>
                  </a:lnTo>
                  <a:lnTo>
                    <a:pt x="584775" y="388601"/>
                  </a:lnTo>
                  <a:lnTo>
                    <a:pt x="566577" y="430967"/>
                  </a:lnTo>
                  <a:lnTo>
                    <a:pt x="542171" y="469657"/>
                  </a:lnTo>
                  <a:lnTo>
                    <a:pt x="512175" y="504063"/>
                  </a:lnTo>
                  <a:lnTo>
                    <a:pt x="477207" y="533576"/>
                  </a:lnTo>
                  <a:lnTo>
                    <a:pt x="437884" y="557590"/>
                  </a:lnTo>
                  <a:lnTo>
                    <a:pt x="394826" y="575495"/>
                  </a:lnTo>
                  <a:lnTo>
                    <a:pt x="348650" y="586685"/>
                  </a:lnTo>
                  <a:lnTo>
                    <a:pt x="299974" y="590550"/>
                  </a:lnTo>
                  <a:lnTo>
                    <a:pt x="251301" y="586685"/>
                  </a:lnTo>
                  <a:lnTo>
                    <a:pt x="205134" y="575495"/>
                  </a:lnTo>
                  <a:lnTo>
                    <a:pt x="162090" y="557590"/>
                  </a:lnTo>
                  <a:lnTo>
                    <a:pt x="122785" y="533576"/>
                  </a:lnTo>
                  <a:lnTo>
                    <a:pt x="87836" y="504063"/>
                  </a:lnTo>
                  <a:lnTo>
                    <a:pt x="57859" y="469657"/>
                  </a:lnTo>
                  <a:lnTo>
                    <a:pt x="33470" y="430967"/>
                  </a:lnTo>
                  <a:lnTo>
                    <a:pt x="15286" y="388601"/>
                  </a:lnTo>
                  <a:lnTo>
                    <a:pt x="3924" y="343168"/>
                  </a:lnTo>
                  <a:lnTo>
                    <a:pt x="0" y="29527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8672576" y="245173"/>
            <a:ext cx="12700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-50" dirty="0">
                <a:solidFill>
                  <a:srgbClr val="D97705"/>
                </a:solidFill>
                <a:latin typeface="Calibri"/>
                <a:cs typeface="Calibri"/>
              </a:rPr>
              <a:t>3</a:t>
            </a:r>
            <a:endParaRPr sz="1550">
              <a:latin typeface="Calibri"/>
              <a:cs typeface="Calibri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179387" y="1027175"/>
          <a:ext cx="87630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2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38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333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351155" marR="342265" indent="78740">
                        <a:lnSpc>
                          <a:spcPct val="105500"/>
                        </a:lnSpc>
                        <a:spcBef>
                          <a:spcPts val="720"/>
                        </a:spcBef>
                      </a:pPr>
                      <a:r>
                        <a:rPr sz="950" b="1" spc="-10" dirty="0">
                          <a:solidFill>
                            <a:srgbClr val="D97705"/>
                          </a:solidFill>
                          <a:latin typeface="Calibri"/>
                          <a:cs typeface="Calibri"/>
                        </a:rPr>
                        <a:t>Variables Numériques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91440" marB="0">
                    <a:lnL w="12700">
                      <a:solidFill>
                        <a:srgbClr val="D97705"/>
                      </a:solidFill>
                      <a:prstDash val="solid"/>
                    </a:lnL>
                    <a:lnR w="12700">
                      <a:solidFill>
                        <a:srgbClr val="D97705"/>
                      </a:solidFill>
                      <a:prstDash val="solid"/>
                    </a:lnR>
                    <a:lnT w="12700">
                      <a:solidFill>
                        <a:srgbClr val="D97705"/>
                      </a:solidFill>
                      <a:prstDash val="solid"/>
                    </a:lnT>
                    <a:solidFill>
                      <a:srgbClr val="D97705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7705"/>
                      </a:solidFill>
                      <a:prstDash val="solid"/>
                    </a:lnL>
                    <a:lnR w="12700">
                      <a:solidFill>
                        <a:srgbClr val="EA570C"/>
                      </a:solidFill>
                      <a:prstDash val="solid"/>
                    </a:lnR>
                    <a:lnB w="12700">
                      <a:solidFill>
                        <a:srgbClr val="93A2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R="3175" algn="ctr">
                        <a:lnSpc>
                          <a:spcPct val="100000"/>
                        </a:lnSpc>
                      </a:pPr>
                      <a:r>
                        <a:rPr sz="950" b="1" spc="-10" dirty="0">
                          <a:solidFill>
                            <a:srgbClr val="EA570C"/>
                          </a:solidFill>
                          <a:latin typeface="Calibri"/>
                          <a:cs typeface="Calibri"/>
                        </a:rPr>
                        <a:t>Discrétisation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EA570C"/>
                      </a:solidFill>
                      <a:prstDash val="solid"/>
                    </a:lnL>
                    <a:lnR w="12700">
                      <a:solidFill>
                        <a:srgbClr val="EA570C"/>
                      </a:solidFill>
                      <a:prstDash val="solid"/>
                    </a:lnR>
                    <a:lnT w="12700">
                      <a:solidFill>
                        <a:srgbClr val="EA570C"/>
                      </a:solidFill>
                      <a:prstDash val="solid"/>
                    </a:lnT>
                    <a:solidFill>
                      <a:srgbClr val="EA570C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EA570C"/>
                      </a:solidFill>
                      <a:prstDash val="solid"/>
                    </a:lnL>
                    <a:lnR w="12700">
                      <a:solidFill>
                        <a:srgbClr val="0D9387"/>
                      </a:solidFill>
                      <a:prstDash val="solid"/>
                    </a:lnR>
                    <a:lnB w="12700">
                      <a:solidFill>
                        <a:srgbClr val="93A2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344170">
                        <a:lnSpc>
                          <a:spcPct val="100000"/>
                        </a:lnSpc>
                      </a:pPr>
                      <a:r>
                        <a:rPr sz="950" b="1" spc="-10" dirty="0">
                          <a:solidFill>
                            <a:srgbClr val="0D9387"/>
                          </a:solidFill>
                          <a:latin typeface="Calibri"/>
                          <a:cs typeface="Calibri"/>
                        </a:rPr>
                        <a:t>Transactions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D9387"/>
                      </a:solidFill>
                      <a:prstDash val="solid"/>
                    </a:lnL>
                    <a:lnR w="12700">
                      <a:solidFill>
                        <a:srgbClr val="0D9387"/>
                      </a:solidFill>
                      <a:prstDash val="solid"/>
                    </a:lnR>
                    <a:lnT w="12700">
                      <a:solidFill>
                        <a:srgbClr val="0D9387"/>
                      </a:solidFill>
                      <a:prstDash val="solid"/>
                    </a:lnT>
                    <a:solidFill>
                      <a:srgbClr val="0D9387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D9387"/>
                      </a:solidFill>
                      <a:prstDash val="solid"/>
                    </a:lnL>
                    <a:lnR w="12700">
                      <a:solidFill>
                        <a:srgbClr val="0D9387"/>
                      </a:solidFill>
                      <a:prstDash val="solid"/>
                    </a:lnR>
                    <a:lnB w="12700">
                      <a:solidFill>
                        <a:srgbClr val="93A2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 spc="-10" dirty="0">
                          <a:solidFill>
                            <a:srgbClr val="0D9387"/>
                          </a:solidFill>
                          <a:latin typeface="Calibri"/>
                          <a:cs typeface="Calibri"/>
                        </a:rPr>
                        <a:t>Apriori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D9387"/>
                      </a:solidFill>
                      <a:prstDash val="solid"/>
                    </a:lnL>
                    <a:lnR w="12700">
                      <a:solidFill>
                        <a:srgbClr val="0D9387"/>
                      </a:solidFill>
                      <a:prstDash val="solid"/>
                    </a:lnR>
                    <a:lnT w="12700">
                      <a:solidFill>
                        <a:srgbClr val="0D9387"/>
                      </a:solidFill>
                      <a:prstDash val="solid"/>
                    </a:lnT>
                    <a:solidFill>
                      <a:srgbClr val="0D9387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D9387"/>
                      </a:solidFill>
                      <a:prstDash val="solid"/>
                    </a:lnL>
                    <a:lnR w="12700">
                      <a:solidFill>
                        <a:srgbClr val="16A249"/>
                      </a:solidFill>
                      <a:prstDash val="solid"/>
                    </a:lnR>
                    <a:lnB w="12700">
                      <a:solidFill>
                        <a:srgbClr val="93A2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8890" algn="ctr">
                        <a:lnSpc>
                          <a:spcPct val="100000"/>
                        </a:lnSpc>
                      </a:pPr>
                      <a:r>
                        <a:rPr sz="950" b="1" dirty="0">
                          <a:solidFill>
                            <a:srgbClr val="16A249"/>
                          </a:solidFill>
                          <a:latin typeface="Calibri"/>
                          <a:cs typeface="Calibri"/>
                        </a:rPr>
                        <a:t>176</a:t>
                      </a:r>
                      <a:r>
                        <a:rPr sz="950" b="1" spc="95" dirty="0">
                          <a:solidFill>
                            <a:srgbClr val="16A2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b="1" spc="-10" dirty="0">
                          <a:solidFill>
                            <a:srgbClr val="16A249"/>
                          </a:solidFill>
                          <a:latin typeface="Calibri"/>
                          <a:cs typeface="Calibri"/>
                        </a:rPr>
                        <a:t>Itemsets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16A249"/>
                      </a:solidFill>
                      <a:prstDash val="solid"/>
                    </a:lnL>
                    <a:lnR w="12700">
                      <a:solidFill>
                        <a:srgbClr val="16A249"/>
                      </a:solidFill>
                      <a:prstDash val="solid"/>
                    </a:lnR>
                    <a:lnT w="12700">
                      <a:solidFill>
                        <a:srgbClr val="16A249"/>
                      </a:solidFill>
                      <a:prstDash val="solid"/>
                    </a:lnT>
                    <a:solidFill>
                      <a:srgbClr val="16A249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16A249"/>
                      </a:solidFill>
                      <a:prstDash val="solid"/>
                    </a:lnL>
                    <a:lnR w="12700">
                      <a:solidFill>
                        <a:srgbClr val="16A249"/>
                      </a:solidFill>
                      <a:prstDash val="solid"/>
                    </a:lnR>
                    <a:lnB w="12700">
                      <a:solidFill>
                        <a:srgbClr val="93A2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 dirty="0">
                          <a:solidFill>
                            <a:srgbClr val="16A249"/>
                          </a:solidFill>
                          <a:latin typeface="Calibri"/>
                          <a:cs typeface="Calibri"/>
                        </a:rPr>
                        <a:t>71</a:t>
                      </a:r>
                      <a:r>
                        <a:rPr sz="950" b="1" spc="65" dirty="0">
                          <a:solidFill>
                            <a:srgbClr val="16A2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b="1" spc="-10" dirty="0">
                          <a:solidFill>
                            <a:srgbClr val="16A249"/>
                          </a:solidFill>
                          <a:latin typeface="Calibri"/>
                          <a:cs typeface="Calibri"/>
                        </a:rPr>
                        <a:t>Règles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16A249"/>
                      </a:solidFill>
                      <a:prstDash val="solid"/>
                    </a:lnL>
                    <a:lnR w="12700">
                      <a:solidFill>
                        <a:srgbClr val="16A249"/>
                      </a:solidFill>
                      <a:prstDash val="solid"/>
                    </a:lnR>
                    <a:lnT w="12700">
                      <a:solidFill>
                        <a:srgbClr val="16A249"/>
                      </a:solidFill>
                      <a:prstDash val="solid"/>
                    </a:lnT>
                    <a:solidFill>
                      <a:srgbClr val="16A249">
                        <a:alpha val="149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800" spc="-10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study_hours</a:t>
                      </a:r>
                      <a:endParaRPr sz="8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800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score,</a:t>
                      </a:r>
                      <a:r>
                        <a:rPr sz="800" spc="90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attendance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D97705"/>
                      </a:solidFill>
                      <a:prstDash val="solid"/>
                    </a:lnL>
                    <a:lnR w="12700">
                      <a:solidFill>
                        <a:srgbClr val="D97705"/>
                      </a:solidFill>
                      <a:prstDash val="solid"/>
                    </a:lnR>
                    <a:lnB w="12700">
                      <a:solidFill>
                        <a:srgbClr val="D97705"/>
                      </a:solidFill>
                      <a:prstDash val="solid"/>
                    </a:lnB>
                    <a:solidFill>
                      <a:srgbClr val="D97705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7705"/>
                      </a:solidFill>
                      <a:prstDash val="solid"/>
                    </a:lnL>
                    <a:lnR w="12700">
                      <a:solidFill>
                        <a:srgbClr val="EA570C"/>
                      </a:solidFill>
                      <a:prstDash val="solid"/>
                    </a:lnR>
                    <a:lnT w="12700">
                      <a:solidFill>
                        <a:srgbClr val="93A2B8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6350" algn="ctr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low</a:t>
                      </a:r>
                      <a:r>
                        <a:rPr sz="800" spc="5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sz="800" spc="60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mid</a:t>
                      </a:r>
                      <a:r>
                        <a:rPr sz="800" spc="10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sz="800" spc="60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20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high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EA570C"/>
                      </a:solidFill>
                      <a:prstDash val="solid"/>
                    </a:lnL>
                    <a:lnR w="12700">
                      <a:solidFill>
                        <a:srgbClr val="EA570C"/>
                      </a:solidFill>
                      <a:prstDash val="solid"/>
                    </a:lnR>
                    <a:lnB w="12700">
                      <a:solidFill>
                        <a:srgbClr val="EA570C"/>
                      </a:solidFill>
                      <a:prstDash val="solid"/>
                    </a:lnB>
                    <a:solidFill>
                      <a:srgbClr val="EA570C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EA570C"/>
                      </a:solidFill>
                      <a:prstDash val="solid"/>
                    </a:lnL>
                    <a:lnR w="12700">
                      <a:solidFill>
                        <a:srgbClr val="0D9387"/>
                      </a:solidFill>
                      <a:prstDash val="solid"/>
                    </a:lnR>
                    <a:lnT w="12700">
                      <a:solidFill>
                        <a:srgbClr val="93A2B8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800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15</a:t>
                      </a:r>
                      <a:r>
                        <a:rPr sz="800" spc="40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000</a:t>
                      </a:r>
                      <a:r>
                        <a:rPr sz="800" spc="50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lignes</a:t>
                      </a:r>
                      <a:endParaRPr sz="800">
                        <a:latin typeface="Calibri"/>
                        <a:cs typeface="Calibri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800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→</a:t>
                      </a:r>
                      <a:r>
                        <a:rPr sz="800" spc="60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items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9387"/>
                      </a:solidFill>
                      <a:prstDash val="solid"/>
                    </a:lnL>
                    <a:lnR w="12700">
                      <a:solidFill>
                        <a:srgbClr val="0D9387"/>
                      </a:solidFill>
                      <a:prstDash val="solid"/>
                    </a:lnR>
                    <a:lnB w="12700">
                      <a:solidFill>
                        <a:srgbClr val="0D9387"/>
                      </a:solidFill>
                      <a:prstDash val="solid"/>
                    </a:lnB>
                    <a:solidFill>
                      <a:srgbClr val="0D9387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D9387"/>
                      </a:solidFill>
                      <a:prstDash val="solid"/>
                    </a:lnL>
                    <a:lnR w="12700">
                      <a:solidFill>
                        <a:srgbClr val="0D9387"/>
                      </a:solidFill>
                      <a:prstDash val="solid"/>
                    </a:lnR>
                    <a:lnT w="12700">
                      <a:solidFill>
                        <a:srgbClr val="93A2B8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itemsets</a:t>
                      </a:r>
                      <a:r>
                        <a:rPr sz="800" spc="145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fréquents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D9387"/>
                      </a:solidFill>
                      <a:prstDash val="solid"/>
                    </a:lnL>
                    <a:lnR w="12700">
                      <a:solidFill>
                        <a:srgbClr val="0D9387"/>
                      </a:solidFill>
                      <a:prstDash val="solid"/>
                    </a:lnR>
                    <a:lnB w="12700">
                      <a:solidFill>
                        <a:srgbClr val="0D9387"/>
                      </a:solidFill>
                      <a:prstDash val="solid"/>
                    </a:lnB>
                    <a:solidFill>
                      <a:srgbClr val="0D9387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D9387"/>
                      </a:solidFill>
                      <a:prstDash val="solid"/>
                    </a:lnL>
                    <a:lnR w="12700">
                      <a:solidFill>
                        <a:srgbClr val="16A249"/>
                      </a:solidFill>
                      <a:prstDash val="solid"/>
                    </a:lnR>
                    <a:lnT w="12700">
                      <a:solidFill>
                        <a:srgbClr val="93A2B8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800" spc="10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support</a:t>
                      </a:r>
                      <a:r>
                        <a:rPr sz="800" spc="35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10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≥</a:t>
                      </a:r>
                      <a:r>
                        <a:rPr sz="800" spc="55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25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10%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16A249"/>
                      </a:solidFill>
                      <a:prstDash val="solid"/>
                    </a:lnL>
                    <a:lnR w="12700">
                      <a:solidFill>
                        <a:srgbClr val="16A249"/>
                      </a:solidFill>
                      <a:prstDash val="solid"/>
                    </a:lnR>
                    <a:lnB w="12700">
                      <a:solidFill>
                        <a:srgbClr val="16A249"/>
                      </a:solidFill>
                      <a:prstDash val="solid"/>
                    </a:lnB>
                    <a:solidFill>
                      <a:srgbClr val="16A249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16A249"/>
                      </a:solidFill>
                      <a:prstDash val="solid"/>
                    </a:lnL>
                    <a:lnR w="12700">
                      <a:solidFill>
                        <a:srgbClr val="16A249"/>
                      </a:solidFill>
                      <a:prstDash val="solid"/>
                    </a:lnR>
                    <a:lnT w="12700">
                      <a:solidFill>
                        <a:srgbClr val="93A2B8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conf</a:t>
                      </a:r>
                      <a:r>
                        <a:rPr sz="800" spc="40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≥</a:t>
                      </a:r>
                      <a:r>
                        <a:rPr sz="800" spc="35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50%</a:t>
                      </a:r>
                      <a:r>
                        <a:rPr sz="800" spc="80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·</a:t>
                      </a:r>
                      <a:r>
                        <a:rPr sz="800" spc="5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lift</a:t>
                      </a:r>
                      <a:r>
                        <a:rPr sz="800" spc="100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≥</a:t>
                      </a:r>
                      <a:r>
                        <a:rPr sz="800" spc="30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25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1.2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16A249"/>
                      </a:solidFill>
                      <a:prstDash val="solid"/>
                    </a:lnL>
                    <a:lnR w="12700">
                      <a:solidFill>
                        <a:srgbClr val="16A249"/>
                      </a:solidFill>
                      <a:prstDash val="solid"/>
                    </a:lnR>
                    <a:lnB w="12700">
                      <a:solidFill>
                        <a:srgbClr val="16A249"/>
                      </a:solidFill>
                      <a:prstDash val="solid"/>
                    </a:lnB>
                    <a:solidFill>
                      <a:srgbClr val="16A249">
                        <a:alpha val="149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261937" y="2103056"/>
            <a:ext cx="168592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0E172A"/>
                </a:solidFill>
                <a:latin typeface="Calibri"/>
                <a:cs typeface="Calibri"/>
              </a:rPr>
              <a:t>Top</a:t>
            </a:r>
            <a:r>
              <a:rPr sz="1200" b="1" dirty="0">
                <a:solidFill>
                  <a:srgbClr val="0E172A"/>
                </a:solidFill>
                <a:latin typeface="Calibri"/>
                <a:cs typeface="Calibri"/>
              </a:rPr>
              <a:t> 5</a:t>
            </a:r>
            <a:r>
              <a:rPr sz="1200" b="1" spc="-6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E172A"/>
                </a:solidFill>
                <a:latin typeface="Calibri"/>
                <a:cs typeface="Calibri"/>
              </a:rPr>
              <a:t>Règles</a:t>
            </a:r>
            <a:r>
              <a:rPr sz="1200" b="1" spc="-3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E172A"/>
                </a:solidFill>
                <a:latin typeface="Calibri"/>
                <a:cs typeface="Calibri"/>
              </a:rPr>
              <a:t>triées</a:t>
            </a:r>
            <a:r>
              <a:rPr sz="1200" b="1" spc="-3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E172A"/>
                </a:solidFill>
                <a:latin typeface="Calibri"/>
                <a:cs typeface="Calibri"/>
              </a:rPr>
              <a:t>par</a:t>
            </a:r>
            <a:r>
              <a:rPr sz="1200" b="1" spc="-5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200" b="1" spc="-20" dirty="0">
                <a:solidFill>
                  <a:srgbClr val="0E172A"/>
                </a:solidFill>
                <a:latin typeface="Calibri"/>
                <a:cs typeface="Calibri"/>
              </a:rPr>
              <a:t>Lift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6077" y="4321082"/>
            <a:ext cx="6904355" cy="151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20"/>
              </a:lnSpc>
              <a:tabLst>
                <a:tab pos="2562860" algn="l"/>
                <a:tab pos="4745990" algn="l"/>
                <a:tab pos="5752465" algn="l"/>
                <a:tab pos="6687184" algn="l"/>
              </a:tabLst>
            </a:pPr>
            <a:r>
              <a:rPr sz="950" dirty="0">
                <a:solidFill>
                  <a:srgbClr val="0E172A"/>
                </a:solidFill>
                <a:latin typeface="Calibri"/>
                <a:cs typeface="Calibri"/>
              </a:rPr>
              <a:t>etude_low</a:t>
            </a:r>
            <a:r>
              <a:rPr sz="950" spc="-2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0E172A"/>
                </a:solidFill>
                <a:latin typeface="Calibri"/>
                <a:cs typeface="Calibri"/>
              </a:rPr>
              <a:t>+</a:t>
            </a:r>
            <a:r>
              <a:rPr sz="950" spc="-3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0E172A"/>
                </a:solidFill>
                <a:latin typeface="Calibri"/>
                <a:cs typeface="Calibri"/>
              </a:rPr>
              <a:t>internet_yes</a:t>
            </a:r>
            <a:r>
              <a:rPr sz="950" dirty="0">
                <a:solidFill>
                  <a:srgbClr val="0E172A"/>
                </a:solidFill>
                <a:latin typeface="Calibri"/>
                <a:cs typeface="Calibri"/>
              </a:rPr>
              <a:t>	</a:t>
            </a:r>
            <a:r>
              <a:rPr sz="950" b="1" spc="-10" dirty="0">
                <a:solidFill>
                  <a:srgbClr val="D97705"/>
                </a:solidFill>
                <a:latin typeface="Calibri"/>
                <a:cs typeface="Calibri"/>
              </a:rPr>
              <a:t>perf_low</a:t>
            </a:r>
            <a:r>
              <a:rPr sz="950" b="1" dirty="0">
                <a:solidFill>
                  <a:srgbClr val="D97705"/>
                </a:solidFill>
                <a:latin typeface="Calibri"/>
                <a:cs typeface="Calibri"/>
              </a:rPr>
              <a:t>	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19.3%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	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68.0%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	</a:t>
            </a:r>
            <a:r>
              <a:rPr sz="950" b="1" spc="-20" dirty="0">
                <a:solidFill>
                  <a:srgbClr val="16A249"/>
                </a:solidFill>
                <a:latin typeface="Calibri"/>
                <a:cs typeface="Calibri"/>
              </a:rPr>
              <a:t>2.71</a:t>
            </a:r>
            <a:endParaRPr sz="950">
              <a:latin typeface="Calibri"/>
              <a:cs typeface="Calibri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267970" y="2371089"/>
          <a:ext cx="8689972" cy="2455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97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9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84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91440" marR="30480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9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Antécédent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D97705"/>
                    </a:solidFill>
                  </a:tcPr>
                </a:tc>
                <a:tc>
                  <a:txBody>
                    <a:bodyPr/>
                    <a:lstStyle/>
                    <a:p>
                      <a:pPr marL="94615" marR="3175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9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→</a:t>
                      </a:r>
                      <a:r>
                        <a:rPr sz="950" b="1" spc="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Conséquent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D97705"/>
                    </a:solidFill>
                  </a:tcPr>
                </a:tc>
                <a:tc>
                  <a:txBody>
                    <a:bodyPr/>
                    <a:lstStyle/>
                    <a:p>
                      <a:pPr marL="13335" marR="39370"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9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Support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D97705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9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Confiance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D97705"/>
                    </a:solidFill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95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Lift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D97705"/>
                    </a:solidFill>
                  </a:tcPr>
                </a:tc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E1E8EF"/>
                      </a:solidFill>
                      <a:prstDash val="solid"/>
                    </a:lnL>
                    <a:lnB w="12700">
                      <a:solidFill>
                        <a:srgbClr val="D9770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 marR="3048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95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etude_low</a:t>
                      </a:r>
                      <a:r>
                        <a:rPr sz="950" spc="-2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+</a:t>
                      </a:r>
                      <a:r>
                        <a:rPr sz="950" spc="-35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att_mid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10922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 marR="317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950" b="1" spc="-10" dirty="0">
                          <a:solidFill>
                            <a:srgbClr val="D97705"/>
                          </a:solidFill>
                          <a:latin typeface="Calibri"/>
                          <a:cs typeface="Calibri"/>
                        </a:rPr>
                        <a:t>perf_low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10922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10" marR="39370" algn="ctr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950" spc="-10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10.6%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10922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415" algn="ctr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950" spc="-10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78.6%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10922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950" b="1" spc="-20" dirty="0">
                          <a:solidFill>
                            <a:srgbClr val="16A249"/>
                          </a:solidFill>
                          <a:latin typeface="Calibri"/>
                          <a:cs typeface="Calibri"/>
                        </a:rPr>
                        <a:t>3.14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10922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E1E8EF"/>
                      </a:solidFill>
                      <a:prstDash val="solid"/>
                    </a:lnL>
                    <a:lnB w="12700">
                      <a:solidFill>
                        <a:srgbClr val="D9770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91440" marR="30480">
                        <a:lnSpc>
                          <a:spcPct val="100000"/>
                        </a:lnSpc>
                        <a:spcBef>
                          <a:spcPts val="870"/>
                        </a:spcBef>
                      </a:pPr>
                      <a:r>
                        <a:rPr sz="95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perf_low</a:t>
                      </a:r>
                      <a:r>
                        <a:rPr sz="950" spc="-15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+</a:t>
                      </a:r>
                      <a:r>
                        <a:rPr sz="950" spc="-3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att_mid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11049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4615" marR="3175">
                        <a:lnSpc>
                          <a:spcPct val="100000"/>
                        </a:lnSpc>
                        <a:spcBef>
                          <a:spcPts val="870"/>
                        </a:spcBef>
                      </a:pPr>
                      <a:r>
                        <a:rPr sz="950" b="1" spc="-10" dirty="0">
                          <a:solidFill>
                            <a:srgbClr val="D97705"/>
                          </a:solidFill>
                          <a:latin typeface="Calibri"/>
                          <a:cs typeface="Calibri"/>
                        </a:rPr>
                        <a:t>etude_low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11049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5875" marR="39370" algn="ctr">
                        <a:lnSpc>
                          <a:spcPct val="100000"/>
                        </a:lnSpc>
                        <a:spcBef>
                          <a:spcPts val="870"/>
                        </a:spcBef>
                      </a:pPr>
                      <a:r>
                        <a:rPr sz="950" spc="-10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10.6%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11049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780" algn="ctr">
                        <a:lnSpc>
                          <a:spcPct val="100000"/>
                        </a:lnSpc>
                        <a:spcBef>
                          <a:spcPts val="870"/>
                        </a:spcBef>
                      </a:pPr>
                      <a:r>
                        <a:rPr sz="950" spc="-10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92.5%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11049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870"/>
                        </a:spcBef>
                      </a:pPr>
                      <a:r>
                        <a:rPr sz="950" b="1" spc="-20" dirty="0">
                          <a:solidFill>
                            <a:srgbClr val="16A249"/>
                          </a:solidFill>
                          <a:latin typeface="Calibri"/>
                          <a:cs typeface="Calibri"/>
                        </a:rPr>
                        <a:t>2.75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11049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E1E8EF"/>
                      </a:solidFill>
                      <a:prstDash val="solid"/>
                    </a:lnL>
                    <a:lnB w="12700">
                      <a:solidFill>
                        <a:srgbClr val="D9770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 marR="30480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95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etude_low</a:t>
                      </a:r>
                      <a:r>
                        <a:rPr sz="950" spc="-2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+</a:t>
                      </a:r>
                      <a:r>
                        <a:rPr sz="950" spc="-3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activities_yes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11112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 marR="3175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950" b="1" spc="-10" dirty="0">
                          <a:solidFill>
                            <a:srgbClr val="D97705"/>
                          </a:solidFill>
                          <a:latin typeface="Calibri"/>
                          <a:cs typeface="Calibri"/>
                        </a:rPr>
                        <a:t>perf_low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11112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75" marR="39370" algn="ctr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950" spc="-10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11.4%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11112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80" algn="ctr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950" spc="-10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68.3%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11112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950" b="1" spc="-20" dirty="0">
                          <a:solidFill>
                            <a:srgbClr val="16A249"/>
                          </a:solidFill>
                          <a:latin typeface="Calibri"/>
                          <a:cs typeface="Calibri"/>
                        </a:rPr>
                        <a:t>2.72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11112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E1E8EF"/>
                      </a:solidFill>
                      <a:prstDash val="solid"/>
                    </a:lnL>
                    <a:lnB w="12700">
                      <a:solidFill>
                        <a:srgbClr val="D9770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 marR="30480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95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etude_low</a:t>
                      </a:r>
                      <a:r>
                        <a:rPr sz="950" spc="-2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+</a:t>
                      </a:r>
                      <a:r>
                        <a:rPr sz="950" spc="-35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school_public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11176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4615" marR="3175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950" b="1" spc="-10" dirty="0">
                          <a:solidFill>
                            <a:srgbClr val="D97705"/>
                          </a:solidFill>
                          <a:latin typeface="Calibri"/>
                          <a:cs typeface="Calibri"/>
                        </a:rPr>
                        <a:t>perf_low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11176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6510" marR="39370" algn="ctr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950" spc="-10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11.3%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11176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8415" algn="ctr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950" spc="-10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68.1%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11176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950" b="1" spc="-20" dirty="0">
                          <a:solidFill>
                            <a:srgbClr val="16A249"/>
                          </a:solidFill>
                          <a:latin typeface="Calibri"/>
                          <a:cs typeface="Calibri"/>
                        </a:rPr>
                        <a:t>2.72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11176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E1E8EF"/>
                      </a:solidFill>
                      <a:prstDash val="solid"/>
                    </a:lnL>
                    <a:lnB w="12700">
                      <a:solidFill>
                        <a:srgbClr val="D9770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2555">
                <a:tc>
                  <a:txBody>
                    <a:bodyPr/>
                    <a:lstStyle/>
                    <a:p>
                      <a:pPr marR="30480"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12700">
                      <a:solidFill>
                        <a:srgbClr val="D9770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12700">
                      <a:solidFill>
                        <a:srgbClr val="D9770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9370"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12700">
                      <a:solidFill>
                        <a:srgbClr val="D9770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12700">
                      <a:solidFill>
                        <a:srgbClr val="D9770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12700">
                      <a:solidFill>
                        <a:srgbClr val="D97705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E1E8EF"/>
                      </a:solidFill>
                      <a:prstDash val="solid"/>
                    </a:lnL>
                    <a:lnB w="12700">
                      <a:solidFill>
                        <a:srgbClr val="D9770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R="3048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182880">
                        <a:lnSpc>
                          <a:spcPct val="100000"/>
                        </a:lnSpc>
                      </a:pPr>
                      <a:r>
                        <a:rPr sz="1050" b="1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Règle</a:t>
                      </a:r>
                      <a:r>
                        <a:rPr sz="1050" b="1" spc="-3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principale</a:t>
                      </a:r>
                      <a:r>
                        <a:rPr sz="1050" b="1" spc="-3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sz="1050" b="1" spc="-1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Peu</a:t>
                      </a:r>
                      <a:r>
                        <a:rPr sz="1050" b="1" spc="-6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d'heures d'étude</a:t>
                      </a:r>
                      <a:r>
                        <a:rPr sz="1050" b="1" spc="-25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+</a:t>
                      </a:r>
                      <a:r>
                        <a:rPr sz="1050" b="1" spc="-25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 as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2700" marB="0">
                    <a:lnL w="6350">
                      <a:solidFill>
                        <a:srgbClr val="D97705"/>
                      </a:solidFill>
                      <a:prstDash val="solid"/>
                    </a:lnL>
                    <a:lnT w="12700">
                      <a:solidFill>
                        <a:srgbClr val="D97705"/>
                      </a:solidFill>
                      <a:prstDash val="solid"/>
                    </a:lnT>
                    <a:lnB w="12700">
                      <a:solidFill>
                        <a:srgbClr val="D97705"/>
                      </a:solidFill>
                      <a:prstDash val="solid"/>
                    </a:lnB>
                    <a:solidFill>
                      <a:srgbClr val="FDF3C6"/>
                    </a:solidFill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22225">
                        <a:lnSpc>
                          <a:spcPct val="100000"/>
                        </a:lnSpc>
                      </a:pPr>
                      <a:r>
                        <a:rPr sz="1050" b="1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siduité</a:t>
                      </a:r>
                      <a:r>
                        <a:rPr sz="1050" b="1" spc="-1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moyenne</a:t>
                      </a:r>
                      <a:r>
                        <a:rPr sz="1050" b="1" spc="-5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→</a:t>
                      </a:r>
                      <a:r>
                        <a:rPr sz="1050" b="1" spc="2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spc="-1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performance</a:t>
                      </a:r>
                      <a:r>
                        <a:rPr sz="1050" b="1" spc="-5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spc="-5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f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2700" marB="0">
                    <a:lnT w="12700">
                      <a:solidFill>
                        <a:srgbClr val="D97705"/>
                      </a:solidFill>
                      <a:prstDash val="solid"/>
                    </a:lnT>
                    <a:lnB w="12700">
                      <a:solidFill>
                        <a:srgbClr val="D97705"/>
                      </a:solidFill>
                      <a:prstDash val="solid"/>
                    </a:lnB>
                    <a:solidFill>
                      <a:srgbClr val="FDF3C6"/>
                    </a:solidFill>
                  </a:tcPr>
                </a:tc>
                <a:tc>
                  <a:txBody>
                    <a:bodyPr/>
                    <a:lstStyle/>
                    <a:p>
                      <a:pPr marR="3937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aible</a:t>
                      </a:r>
                      <a:r>
                        <a:rPr sz="1050" b="1" spc="204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(lift =</a:t>
                      </a:r>
                      <a:r>
                        <a:rPr sz="1050" b="1" spc="-15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3.14</a:t>
                      </a:r>
                      <a:r>
                        <a:rPr sz="1050" b="1" spc="6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spc="-5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—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2700" marB="0">
                    <a:lnT w="12700">
                      <a:solidFill>
                        <a:srgbClr val="D97705"/>
                      </a:solidFill>
                      <a:prstDash val="solid"/>
                    </a:lnT>
                    <a:lnB w="12700">
                      <a:solidFill>
                        <a:srgbClr val="D97705"/>
                      </a:solidFill>
                      <a:prstDash val="solid"/>
                    </a:lnB>
                    <a:solidFill>
                      <a:srgbClr val="FDF3C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63500" algn="ctr">
                        <a:lnSpc>
                          <a:spcPct val="100000"/>
                        </a:lnSpc>
                      </a:pPr>
                      <a:r>
                        <a:rPr sz="1050" b="1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soit</a:t>
                      </a:r>
                      <a:r>
                        <a:rPr sz="1050" b="1" spc="-5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3× plus</a:t>
                      </a:r>
                      <a:r>
                        <a:rPr sz="1050" b="1" spc="-6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spc="-2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prob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2700" marB="0">
                    <a:lnT w="12700">
                      <a:solidFill>
                        <a:srgbClr val="D97705"/>
                      </a:solidFill>
                      <a:prstDash val="solid"/>
                    </a:lnT>
                    <a:lnB w="12700">
                      <a:solidFill>
                        <a:srgbClr val="D97705"/>
                      </a:solidFill>
                      <a:prstDash val="solid"/>
                    </a:lnB>
                    <a:solidFill>
                      <a:srgbClr val="FDF3C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R="2540" algn="ctr">
                        <a:lnSpc>
                          <a:spcPct val="100000"/>
                        </a:lnSpc>
                      </a:pPr>
                      <a:r>
                        <a:rPr sz="1050" b="1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able</a:t>
                      </a:r>
                      <a:r>
                        <a:rPr sz="1050" b="1" spc="-5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que</a:t>
                      </a:r>
                      <a:r>
                        <a:rPr sz="1050" b="1" spc="-5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le</a:t>
                      </a:r>
                      <a:r>
                        <a:rPr sz="1050" b="1" spc="-5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spc="-25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ha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2700" marB="0">
                    <a:lnR w="12700">
                      <a:solidFill>
                        <a:srgbClr val="D97705"/>
                      </a:solidFill>
                      <a:prstDash val="solid"/>
                    </a:lnR>
                    <a:lnT w="12700">
                      <a:solidFill>
                        <a:srgbClr val="D97705"/>
                      </a:solidFill>
                      <a:prstDash val="solid"/>
                    </a:lnT>
                    <a:lnB w="12700">
                      <a:solidFill>
                        <a:srgbClr val="D97705"/>
                      </a:solidFill>
                      <a:prstDash val="solid"/>
                    </a:lnB>
                    <a:solidFill>
                      <a:srgbClr val="FDF3C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spc="-1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sard)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2700" marB="0">
                    <a:lnL w="12700" cap="flat" cmpd="sng" algn="ctr">
                      <a:solidFill>
                        <a:srgbClr val="D977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7705"/>
                      </a:solidFill>
                      <a:prstDash val="solid"/>
                    </a:lnR>
                    <a:lnT w="12700">
                      <a:solidFill>
                        <a:srgbClr val="D97705"/>
                      </a:solidFill>
                      <a:prstDash val="solid"/>
                    </a:lnT>
                    <a:lnB w="12700">
                      <a:solidFill>
                        <a:srgbClr val="D97705"/>
                      </a:solidFill>
                      <a:prstDash val="solid"/>
                    </a:lnB>
                    <a:solidFill>
                      <a:srgbClr val="FDF3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7152258" y="4936807"/>
            <a:ext cx="1738630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i="1" dirty="0">
                <a:solidFill>
                  <a:srgbClr val="93A2B8"/>
                </a:solidFill>
                <a:latin typeface="Calibri"/>
                <a:cs typeface="Calibri"/>
              </a:rPr>
              <a:t>Section</a:t>
            </a:r>
            <a:r>
              <a:rPr sz="800" i="1" spc="15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93A2B8"/>
                </a:solidFill>
                <a:latin typeface="Calibri"/>
                <a:cs typeface="Calibri"/>
              </a:rPr>
              <a:t>3</a:t>
            </a:r>
            <a:r>
              <a:rPr sz="800" i="1" spc="-15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93A2B8"/>
                </a:solidFill>
                <a:latin typeface="Calibri"/>
                <a:cs typeface="Calibri"/>
              </a:rPr>
              <a:t>—</a:t>
            </a:r>
            <a:r>
              <a:rPr sz="800" i="1" spc="-15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93A2B8"/>
                </a:solidFill>
                <a:latin typeface="Calibri"/>
                <a:cs typeface="Calibri"/>
              </a:rPr>
              <a:t>Règles</a:t>
            </a:r>
            <a:r>
              <a:rPr sz="800" i="1" spc="45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800" i="1" spc="-10" dirty="0">
                <a:solidFill>
                  <a:srgbClr val="93A2B8"/>
                </a:solidFill>
                <a:latin typeface="Calibri"/>
                <a:cs typeface="Calibri"/>
              </a:rPr>
              <a:t>d'Association</a:t>
            </a:r>
            <a:r>
              <a:rPr sz="800" i="1" spc="-70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800" i="1" spc="-10" dirty="0">
                <a:solidFill>
                  <a:srgbClr val="93A2B8"/>
                </a:solidFill>
                <a:latin typeface="Calibri"/>
                <a:cs typeface="Calibri"/>
              </a:rPr>
              <a:t>(Apriori)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586" y="-1523"/>
            <a:ext cx="9152255" cy="927100"/>
            <a:chOff x="-1586" y="-1523"/>
            <a:chExt cx="9152255" cy="927100"/>
          </a:xfrm>
        </p:grpSpPr>
        <p:sp>
          <p:nvSpPr>
            <p:cNvPr id="3" name="object 3"/>
            <p:cNvSpPr/>
            <p:nvPr/>
          </p:nvSpPr>
          <p:spPr>
            <a:xfrm>
              <a:off x="4763" y="4826"/>
              <a:ext cx="9139555" cy="914400"/>
            </a:xfrm>
            <a:custGeom>
              <a:avLst/>
              <a:gdLst/>
              <a:ahLst/>
              <a:cxnLst/>
              <a:rect l="l" t="t" r="r" b="b"/>
              <a:pathLst>
                <a:path w="9139555" h="914400">
                  <a:moveTo>
                    <a:pt x="9139236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39236" y="914400"/>
                  </a:lnTo>
                  <a:lnTo>
                    <a:pt x="9139236" y="0"/>
                  </a:lnTo>
                  <a:close/>
                </a:path>
              </a:pathLst>
            </a:custGeom>
            <a:solidFill>
              <a:srgbClr val="D9770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763" y="4826"/>
              <a:ext cx="9139555" cy="914400"/>
            </a:xfrm>
            <a:custGeom>
              <a:avLst/>
              <a:gdLst/>
              <a:ahLst/>
              <a:cxnLst/>
              <a:rect l="l" t="t" r="r" b="b"/>
              <a:pathLst>
                <a:path w="9139555" h="914400">
                  <a:moveTo>
                    <a:pt x="9139236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39236" y="914400"/>
                  </a:lnTo>
                </a:path>
              </a:pathLst>
            </a:custGeom>
            <a:ln w="12700">
              <a:solidFill>
                <a:srgbClr val="D9770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Modèles</a:t>
            </a:r>
            <a:r>
              <a:rPr spc="-30" dirty="0"/>
              <a:t> </a:t>
            </a:r>
            <a:r>
              <a:rPr dirty="0"/>
              <a:t>de</a:t>
            </a:r>
            <a:r>
              <a:rPr spc="45" dirty="0"/>
              <a:t> </a:t>
            </a:r>
            <a:r>
              <a:rPr spc="-10" dirty="0"/>
              <a:t>Classification</a:t>
            </a:r>
            <a:r>
              <a:rPr spc="-25" dirty="0"/>
              <a:t> </a:t>
            </a:r>
            <a:r>
              <a:rPr spc="-10" dirty="0"/>
              <a:t>Supervisée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53377" y="612203"/>
            <a:ext cx="179387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i="1" dirty="0">
                <a:solidFill>
                  <a:srgbClr val="FFFFFF"/>
                </a:solidFill>
                <a:latin typeface="Calibri"/>
                <a:cs typeface="Calibri"/>
              </a:rPr>
              <a:t>Decision</a:t>
            </a:r>
            <a:r>
              <a:rPr sz="1050" i="1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FFFFFF"/>
                </a:solidFill>
                <a:latin typeface="Calibri"/>
                <a:cs typeface="Calibri"/>
              </a:rPr>
              <a:t>Tree</a:t>
            </a:r>
            <a:r>
              <a:rPr sz="1050" i="1" spc="1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FFFFFF"/>
                </a:solidFill>
                <a:latin typeface="Calibri"/>
                <a:cs typeface="Calibri"/>
              </a:rPr>
              <a:t>vs</a:t>
            </a:r>
            <a:r>
              <a:rPr sz="1050" i="1" spc="2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i="1" spc="-10" dirty="0">
                <a:solidFill>
                  <a:srgbClr val="FFFFFF"/>
                </a:solidFill>
                <a:latin typeface="Calibri"/>
                <a:cs typeface="Calibri"/>
              </a:rPr>
              <a:t>Random</a:t>
            </a:r>
            <a:r>
              <a:rPr sz="1050" i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i="1" spc="-10" dirty="0">
                <a:solidFill>
                  <a:srgbClr val="FFFFFF"/>
                </a:solidFill>
                <a:latin typeface="Calibri"/>
                <a:cs typeface="Calibri"/>
              </a:rPr>
              <a:t>Forest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428101" y="93726"/>
            <a:ext cx="612775" cy="603250"/>
            <a:chOff x="8428101" y="93726"/>
            <a:chExt cx="612775" cy="603250"/>
          </a:xfrm>
        </p:grpSpPr>
        <p:sp>
          <p:nvSpPr>
            <p:cNvPr id="8" name="object 8"/>
            <p:cNvSpPr/>
            <p:nvPr/>
          </p:nvSpPr>
          <p:spPr>
            <a:xfrm>
              <a:off x="8434451" y="100076"/>
              <a:ext cx="600075" cy="590550"/>
            </a:xfrm>
            <a:custGeom>
              <a:avLst/>
              <a:gdLst/>
              <a:ahLst/>
              <a:cxnLst/>
              <a:rect l="l" t="t" r="r" b="b"/>
              <a:pathLst>
                <a:path w="600075" h="590550">
                  <a:moveTo>
                    <a:pt x="299974" y="0"/>
                  </a:moveTo>
                  <a:lnTo>
                    <a:pt x="251301" y="3861"/>
                  </a:lnTo>
                  <a:lnTo>
                    <a:pt x="205134" y="15041"/>
                  </a:lnTo>
                  <a:lnTo>
                    <a:pt x="162090" y="32935"/>
                  </a:lnTo>
                  <a:lnTo>
                    <a:pt x="122785" y="56936"/>
                  </a:lnTo>
                  <a:lnTo>
                    <a:pt x="87836" y="86439"/>
                  </a:lnTo>
                  <a:lnTo>
                    <a:pt x="57859" y="120837"/>
                  </a:lnTo>
                  <a:lnTo>
                    <a:pt x="33470" y="159526"/>
                  </a:lnTo>
                  <a:lnTo>
                    <a:pt x="15286" y="201899"/>
                  </a:lnTo>
                  <a:lnTo>
                    <a:pt x="3924" y="247350"/>
                  </a:lnTo>
                  <a:lnTo>
                    <a:pt x="0" y="295275"/>
                  </a:lnTo>
                  <a:lnTo>
                    <a:pt x="3924" y="343168"/>
                  </a:lnTo>
                  <a:lnTo>
                    <a:pt x="15286" y="388601"/>
                  </a:lnTo>
                  <a:lnTo>
                    <a:pt x="33470" y="430967"/>
                  </a:lnTo>
                  <a:lnTo>
                    <a:pt x="57859" y="469657"/>
                  </a:lnTo>
                  <a:lnTo>
                    <a:pt x="87836" y="504063"/>
                  </a:lnTo>
                  <a:lnTo>
                    <a:pt x="122785" y="533576"/>
                  </a:lnTo>
                  <a:lnTo>
                    <a:pt x="162090" y="557590"/>
                  </a:lnTo>
                  <a:lnTo>
                    <a:pt x="205134" y="575495"/>
                  </a:lnTo>
                  <a:lnTo>
                    <a:pt x="251301" y="586685"/>
                  </a:lnTo>
                  <a:lnTo>
                    <a:pt x="299974" y="590550"/>
                  </a:lnTo>
                  <a:lnTo>
                    <a:pt x="348650" y="586685"/>
                  </a:lnTo>
                  <a:lnTo>
                    <a:pt x="394826" y="575495"/>
                  </a:lnTo>
                  <a:lnTo>
                    <a:pt x="437884" y="557590"/>
                  </a:lnTo>
                  <a:lnTo>
                    <a:pt x="477207" y="533576"/>
                  </a:lnTo>
                  <a:lnTo>
                    <a:pt x="512175" y="504063"/>
                  </a:lnTo>
                  <a:lnTo>
                    <a:pt x="542171" y="469657"/>
                  </a:lnTo>
                  <a:lnTo>
                    <a:pt x="566577" y="430967"/>
                  </a:lnTo>
                  <a:lnTo>
                    <a:pt x="584775" y="388601"/>
                  </a:lnTo>
                  <a:lnTo>
                    <a:pt x="596147" y="343168"/>
                  </a:lnTo>
                  <a:lnTo>
                    <a:pt x="600075" y="295275"/>
                  </a:lnTo>
                  <a:lnTo>
                    <a:pt x="596147" y="247350"/>
                  </a:lnTo>
                  <a:lnTo>
                    <a:pt x="584775" y="201899"/>
                  </a:lnTo>
                  <a:lnTo>
                    <a:pt x="566577" y="159526"/>
                  </a:lnTo>
                  <a:lnTo>
                    <a:pt x="542171" y="120837"/>
                  </a:lnTo>
                  <a:lnTo>
                    <a:pt x="512175" y="86439"/>
                  </a:lnTo>
                  <a:lnTo>
                    <a:pt x="477207" y="56936"/>
                  </a:lnTo>
                  <a:lnTo>
                    <a:pt x="437884" y="32935"/>
                  </a:lnTo>
                  <a:lnTo>
                    <a:pt x="394826" y="15041"/>
                  </a:lnTo>
                  <a:lnTo>
                    <a:pt x="348650" y="3861"/>
                  </a:lnTo>
                  <a:lnTo>
                    <a:pt x="2999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434451" y="100076"/>
              <a:ext cx="600075" cy="590550"/>
            </a:xfrm>
            <a:custGeom>
              <a:avLst/>
              <a:gdLst/>
              <a:ahLst/>
              <a:cxnLst/>
              <a:rect l="l" t="t" r="r" b="b"/>
              <a:pathLst>
                <a:path w="600075" h="590550">
                  <a:moveTo>
                    <a:pt x="0" y="295275"/>
                  </a:moveTo>
                  <a:lnTo>
                    <a:pt x="3924" y="247350"/>
                  </a:lnTo>
                  <a:lnTo>
                    <a:pt x="15286" y="201899"/>
                  </a:lnTo>
                  <a:lnTo>
                    <a:pt x="33470" y="159526"/>
                  </a:lnTo>
                  <a:lnTo>
                    <a:pt x="57859" y="120837"/>
                  </a:lnTo>
                  <a:lnTo>
                    <a:pt x="87836" y="86439"/>
                  </a:lnTo>
                  <a:lnTo>
                    <a:pt x="122785" y="56936"/>
                  </a:lnTo>
                  <a:lnTo>
                    <a:pt x="162090" y="32935"/>
                  </a:lnTo>
                  <a:lnTo>
                    <a:pt x="205134" y="15041"/>
                  </a:lnTo>
                  <a:lnTo>
                    <a:pt x="251301" y="3861"/>
                  </a:lnTo>
                  <a:lnTo>
                    <a:pt x="299974" y="0"/>
                  </a:lnTo>
                  <a:lnTo>
                    <a:pt x="348650" y="3861"/>
                  </a:lnTo>
                  <a:lnTo>
                    <a:pt x="394826" y="15041"/>
                  </a:lnTo>
                  <a:lnTo>
                    <a:pt x="437884" y="32935"/>
                  </a:lnTo>
                  <a:lnTo>
                    <a:pt x="477207" y="56936"/>
                  </a:lnTo>
                  <a:lnTo>
                    <a:pt x="512175" y="86439"/>
                  </a:lnTo>
                  <a:lnTo>
                    <a:pt x="542171" y="120837"/>
                  </a:lnTo>
                  <a:lnTo>
                    <a:pt x="566577" y="159526"/>
                  </a:lnTo>
                  <a:lnTo>
                    <a:pt x="584775" y="201899"/>
                  </a:lnTo>
                  <a:lnTo>
                    <a:pt x="596147" y="247350"/>
                  </a:lnTo>
                  <a:lnTo>
                    <a:pt x="600075" y="295275"/>
                  </a:lnTo>
                  <a:lnTo>
                    <a:pt x="596147" y="343168"/>
                  </a:lnTo>
                  <a:lnTo>
                    <a:pt x="584775" y="388601"/>
                  </a:lnTo>
                  <a:lnTo>
                    <a:pt x="566577" y="430967"/>
                  </a:lnTo>
                  <a:lnTo>
                    <a:pt x="542171" y="469657"/>
                  </a:lnTo>
                  <a:lnTo>
                    <a:pt x="512175" y="504063"/>
                  </a:lnTo>
                  <a:lnTo>
                    <a:pt x="477207" y="533576"/>
                  </a:lnTo>
                  <a:lnTo>
                    <a:pt x="437884" y="557590"/>
                  </a:lnTo>
                  <a:lnTo>
                    <a:pt x="394826" y="575495"/>
                  </a:lnTo>
                  <a:lnTo>
                    <a:pt x="348650" y="586685"/>
                  </a:lnTo>
                  <a:lnTo>
                    <a:pt x="299974" y="590550"/>
                  </a:lnTo>
                  <a:lnTo>
                    <a:pt x="251301" y="586685"/>
                  </a:lnTo>
                  <a:lnTo>
                    <a:pt x="205134" y="575495"/>
                  </a:lnTo>
                  <a:lnTo>
                    <a:pt x="162090" y="557590"/>
                  </a:lnTo>
                  <a:lnTo>
                    <a:pt x="122785" y="533576"/>
                  </a:lnTo>
                  <a:lnTo>
                    <a:pt x="87836" y="504063"/>
                  </a:lnTo>
                  <a:lnTo>
                    <a:pt x="57859" y="469657"/>
                  </a:lnTo>
                  <a:lnTo>
                    <a:pt x="33470" y="430967"/>
                  </a:lnTo>
                  <a:lnTo>
                    <a:pt x="15286" y="388601"/>
                  </a:lnTo>
                  <a:lnTo>
                    <a:pt x="3924" y="343168"/>
                  </a:lnTo>
                  <a:lnTo>
                    <a:pt x="0" y="29527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8672576" y="245173"/>
            <a:ext cx="12700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-50" dirty="0">
                <a:solidFill>
                  <a:srgbClr val="D97705"/>
                </a:solidFill>
                <a:latin typeface="Calibri"/>
                <a:cs typeface="Calibri"/>
              </a:rPr>
              <a:t>3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71450" y="962025"/>
            <a:ext cx="4291330" cy="2691130"/>
            <a:chOff x="171450" y="962025"/>
            <a:chExt cx="4291330" cy="269113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1450" y="962025"/>
              <a:ext cx="4291076" cy="269087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80987" y="1576451"/>
              <a:ext cx="4114800" cy="1971675"/>
            </a:xfrm>
            <a:custGeom>
              <a:avLst/>
              <a:gdLst/>
              <a:ahLst/>
              <a:cxnLst/>
              <a:rect l="l" t="t" r="r" b="b"/>
              <a:pathLst>
                <a:path w="4114800" h="1971675">
                  <a:moveTo>
                    <a:pt x="0" y="1971675"/>
                  </a:moveTo>
                  <a:lnTo>
                    <a:pt x="4114800" y="1971675"/>
                  </a:lnTo>
                  <a:lnTo>
                    <a:pt x="4114800" y="0"/>
                  </a:lnTo>
                  <a:lnTo>
                    <a:pt x="0" y="0"/>
                  </a:lnTo>
                  <a:lnTo>
                    <a:pt x="0" y="19716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80987" y="1033526"/>
              <a:ext cx="4114800" cy="2514600"/>
            </a:xfrm>
            <a:custGeom>
              <a:avLst/>
              <a:gdLst/>
              <a:ahLst/>
              <a:cxnLst/>
              <a:rect l="l" t="t" r="r" b="b"/>
              <a:pathLst>
                <a:path w="4114800" h="2514600">
                  <a:moveTo>
                    <a:pt x="0" y="2514600"/>
                  </a:moveTo>
                  <a:lnTo>
                    <a:pt x="4114800" y="2514600"/>
                  </a:lnTo>
                  <a:lnTo>
                    <a:pt x="4114800" y="0"/>
                  </a:lnTo>
                  <a:lnTo>
                    <a:pt x="0" y="0"/>
                  </a:lnTo>
                  <a:lnTo>
                    <a:pt x="0" y="2514600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80987" y="1033526"/>
              <a:ext cx="4114800" cy="542925"/>
            </a:xfrm>
            <a:custGeom>
              <a:avLst/>
              <a:gdLst/>
              <a:ahLst/>
              <a:cxnLst/>
              <a:rect l="l" t="t" r="r" b="b"/>
              <a:pathLst>
                <a:path w="4114800" h="542925">
                  <a:moveTo>
                    <a:pt x="4114800" y="0"/>
                  </a:moveTo>
                  <a:lnTo>
                    <a:pt x="0" y="0"/>
                  </a:lnTo>
                  <a:lnTo>
                    <a:pt x="0" y="542925"/>
                  </a:lnTo>
                  <a:lnTo>
                    <a:pt x="4114800" y="542925"/>
                  </a:lnTo>
                  <a:lnTo>
                    <a:pt x="4114800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80987" y="1033526"/>
              <a:ext cx="4114800" cy="542925"/>
            </a:xfrm>
            <a:custGeom>
              <a:avLst/>
              <a:gdLst/>
              <a:ahLst/>
              <a:cxnLst/>
              <a:rect l="l" t="t" r="r" b="b"/>
              <a:pathLst>
                <a:path w="4114800" h="542925">
                  <a:moveTo>
                    <a:pt x="0" y="542925"/>
                  </a:moveTo>
                  <a:lnTo>
                    <a:pt x="4114800" y="542925"/>
                  </a:lnTo>
                  <a:lnTo>
                    <a:pt x="4114800" y="0"/>
                  </a:lnTo>
                  <a:lnTo>
                    <a:pt x="0" y="0"/>
                  </a:lnTo>
                  <a:lnTo>
                    <a:pt x="0" y="542925"/>
                  </a:lnTo>
                  <a:close/>
                </a:path>
              </a:pathLst>
            </a:custGeom>
            <a:ln w="12700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11797" y="1136586"/>
            <a:ext cx="106426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FFFFFF"/>
                </a:solidFill>
                <a:latin typeface="Calibri"/>
                <a:cs typeface="Calibri"/>
              </a:rPr>
              <a:t>Decision</a:t>
            </a:r>
            <a:r>
              <a:rPr sz="1500" b="1" spc="-20" dirty="0">
                <a:solidFill>
                  <a:srgbClr val="FFFFFF"/>
                </a:solidFill>
                <a:latin typeface="Calibri"/>
                <a:cs typeface="Calibri"/>
              </a:rPr>
              <a:t> Tree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262376" y="1091818"/>
            <a:ext cx="852805" cy="3581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2150" b="1" spc="-10" dirty="0">
                <a:solidFill>
                  <a:srgbClr val="FFFFFF"/>
                </a:solidFill>
                <a:latin typeface="Calibri"/>
                <a:cs typeface="Calibri"/>
              </a:rPr>
              <a:t>67.97%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99097" y="1697354"/>
            <a:ext cx="101473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spc="10" dirty="0">
                <a:solidFill>
                  <a:srgbClr val="0E172A"/>
                </a:solidFill>
                <a:latin typeface="Calibri"/>
                <a:cs typeface="Calibri"/>
              </a:rPr>
              <a:t>Hyperparamètres</a:t>
            </a:r>
            <a:r>
              <a:rPr sz="950" b="1" spc="15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950" b="1" spc="-50" dirty="0">
                <a:solidFill>
                  <a:srgbClr val="0E172A"/>
                </a:solidFill>
                <a:latin typeface="Calibri"/>
                <a:cs typeface="Calibri"/>
              </a:rPr>
              <a:t>: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90855" y="1990153"/>
            <a:ext cx="1381760" cy="7239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→</a:t>
            </a:r>
            <a:r>
              <a:rPr sz="950" spc="36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max_depth</a:t>
            </a:r>
            <a:r>
              <a:rPr sz="950" spc="8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=</a:t>
            </a:r>
            <a:r>
              <a:rPr sz="950" spc="1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950" spc="-50" dirty="0">
                <a:solidFill>
                  <a:srgbClr val="465469"/>
                </a:solidFill>
                <a:latin typeface="Calibri"/>
                <a:cs typeface="Calibri"/>
              </a:rPr>
              <a:t>6</a:t>
            </a: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sz="950" spc="10" dirty="0">
                <a:solidFill>
                  <a:srgbClr val="465469"/>
                </a:solidFill>
                <a:latin typeface="Calibri"/>
                <a:cs typeface="Calibri"/>
              </a:rPr>
              <a:t>→</a:t>
            </a:r>
            <a:r>
              <a:rPr sz="950" spc="29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950" spc="10" dirty="0">
                <a:solidFill>
                  <a:srgbClr val="465469"/>
                </a:solidFill>
                <a:latin typeface="Calibri"/>
                <a:cs typeface="Calibri"/>
              </a:rPr>
              <a:t>min_samples_leaf</a:t>
            </a:r>
            <a:r>
              <a:rPr sz="950" spc="4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950" spc="10" dirty="0">
                <a:solidFill>
                  <a:srgbClr val="465469"/>
                </a:solidFill>
                <a:latin typeface="Calibri"/>
                <a:cs typeface="Calibri"/>
              </a:rPr>
              <a:t>=</a:t>
            </a:r>
            <a:r>
              <a:rPr sz="950" spc="8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950" spc="-25" dirty="0">
                <a:solidFill>
                  <a:srgbClr val="465469"/>
                </a:solidFill>
                <a:latin typeface="Calibri"/>
                <a:cs typeface="Calibri"/>
              </a:rPr>
              <a:t>50</a:t>
            </a: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→</a:t>
            </a:r>
            <a:r>
              <a:rPr sz="950" spc="37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random_state</a:t>
            </a:r>
            <a:r>
              <a:rPr sz="950" spc="12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=</a:t>
            </a:r>
            <a:r>
              <a:rPr sz="950" spc="2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950" spc="-25" dirty="0">
                <a:solidFill>
                  <a:srgbClr val="465469"/>
                </a:solidFill>
                <a:latin typeface="Calibri"/>
                <a:cs typeface="Calibri"/>
              </a:rPr>
              <a:t>42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14337" y="2871851"/>
            <a:ext cx="1743075" cy="504825"/>
          </a:xfrm>
          <a:prstGeom prst="rect">
            <a:avLst/>
          </a:prstGeom>
          <a:solidFill>
            <a:srgbClr val="DCFBE7"/>
          </a:solidFill>
          <a:ln w="12700">
            <a:solidFill>
              <a:srgbClr val="16A249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5"/>
              </a:spcBef>
            </a:pPr>
            <a:endParaRPr sz="950">
              <a:latin typeface="Times New Roman"/>
              <a:cs typeface="Times New Roman"/>
            </a:endParaRPr>
          </a:p>
          <a:p>
            <a:pPr marL="206375" indent="-144780">
              <a:lnSpc>
                <a:spcPct val="100000"/>
              </a:lnSpc>
              <a:spcBef>
                <a:spcPts val="5"/>
              </a:spcBef>
              <a:buFont typeface="Segoe UI Symbol"/>
              <a:buChar char="✓"/>
              <a:tabLst>
                <a:tab pos="206375" algn="l"/>
              </a:tabLst>
            </a:pPr>
            <a:r>
              <a:rPr sz="950" spc="-10" dirty="0">
                <a:solidFill>
                  <a:srgbClr val="16A249"/>
                </a:solidFill>
                <a:latin typeface="Calibri"/>
                <a:cs typeface="Calibri"/>
              </a:rPr>
              <a:t>Interprétable,</a:t>
            </a:r>
            <a:r>
              <a:rPr sz="950" spc="80" dirty="0">
                <a:solidFill>
                  <a:srgbClr val="16A24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6A249"/>
                </a:solidFill>
                <a:latin typeface="Calibri"/>
                <a:cs typeface="Calibri"/>
              </a:rPr>
              <a:t>rapide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290826" y="2871851"/>
            <a:ext cx="1924050" cy="504825"/>
          </a:xfrm>
          <a:prstGeom prst="rect">
            <a:avLst/>
          </a:prstGeom>
          <a:solidFill>
            <a:srgbClr val="FDE1E1"/>
          </a:solidFill>
          <a:ln w="12700">
            <a:solidFill>
              <a:srgbClr val="DC2525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5"/>
              </a:spcBef>
            </a:pPr>
            <a:endParaRPr sz="950">
              <a:latin typeface="Times New Roman"/>
              <a:cs typeface="Times New Roman"/>
            </a:endParaRPr>
          </a:p>
          <a:p>
            <a:pPr marL="60960">
              <a:lnSpc>
                <a:spcPct val="100000"/>
              </a:lnSpc>
              <a:spcBef>
                <a:spcPts val="5"/>
              </a:spcBef>
            </a:pPr>
            <a:r>
              <a:rPr sz="950" dirty="0">
                <a:solidFill>
                  <a:srgbClr val="DC2525"/>
                </a:solidFill>
                <a:latin typeface="Segoe UI Symbol"/>
                <a:cs typeface="Segoe UI Symbol"/>
              </a:rPr>
              <a:t>✗</a:t>
            </a:r>
            <a:r>
              <a:rPr sz="950" spc="140" dirty="0">
                <a:solidFill>
                  <a:srgbClr val="DC2525"/>
                </a:solidFill>
                <a:latin typeface="Segoe UI Symbol"/>
                <a:cs typeface="Segoe UI Symbol"/>
              </a:rPr>
              <a:t> </a:t>
            </a:r>
            <a:r>
              <a:rPr sz="950" dirty="0">
                <a:solidFill>
                  <a:srgbClr val="DC2525"/>
                </a:solidFill>
                <a:latin typeface="Calibri"/>
                <a:cs typeface="Calibri"/>
              </a:rPr>
              <a:t>Risque</a:t>
            </a:r>
            <a:r>
              <a:rPr sz="950" spc="-30" dirty="0">
                <a:solidFill>
                  <a:srgbClr val="DC2525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DC2525"/>
                </a:solidFill>
                <a:latin typeface="Calibri"/>
                <a:cs typeface="Calibri"/>
              </a:rPr>
              <a:t>surapprentissage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600575" y="962025"/>
            <a:ext cx="4291330" cy="2691130"/>
            <a:chOff x="4600575" y="962025"/>
            <a:chExt cx="4291330" cy="2691130"/>
          </a:xfrm>
        </p:grpSpPr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00575" y="962025"/>
              <a:ext cx="4291076" cy="2690876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4710176" y="1576451"/>
              <a:ext cx="4114800" cy="1971675"/>
            </a:xfrm>
            <a:custGeom>
              <a:avLst/>
              <a:gdLst/>
              <a:ahLst/>
              <a:cxnLst/>
              <a:rect l="l" t="t" r="r" b="b"/>
              <a:pathLst>
                <a:path w="4114800" h="1971675">
                  <a:moveTo>
                    <a:pt x="0" y="1971675"/>
                  </a:moveTo>
                  <a:lnTo>
                    <a:pt x="4114800" y="1971675"/>
                  </a:lnTo>
                  <a:lnTo>
                    <a:pt x="4114800" y="0"/>
                  </a:lnTo>
                  <a:lnTo>
                    <a:pt x="0" y="0"/>
                  </a:lnTo>
                  <a:lnTo>
                    <a:pt x="0" y="19716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710176" y="1033526"/>
              <a:ext cx="4114800" cy="2514600"/>
            </a:xfrm>
            <a:custGeom>
              <a:avLst/>
              <a:gdLst/>
              <a:ahLst/>
              <a:cxnLst/>
              <a:rect l="l" t="t" r="r" b="b"/>
              <a:pathLst>
                <a:path w="4114800" h="2514600">
                  <a:moveTo>
                    <a:pt x="0" y="2514600"/>
                  </a:moveTo>
                  <a:lnTo>
                    <a:pt x="4114800" y="2514600"/>
                  </a:lnTo>
                  <a:lnTo>
                    <a:pt x="4114800" y="0"/>
                  </a:lnTo>
                  <a:lnTo>
                    <a:pt x="0" y="0"/>
                  </a:lnTo>
                  <a:lnTo>
                    <a:pt x="0" y="2514600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710176" y="1033526"/>
              <a:ext cx="4114800" cy="542925"/>
            </a:xfrm>
            <a:custGeom>
              <a:avLst/>
              <a:gdLst/>
              <a:ahLst/>
              <a:cxnLst/>
              <a:rect l="l" t="t" r="r" b="b"/>
              <a:pathLst>
                <a:path w="4114800" h="542925">
                  <a:moveTo>
                    <a:pt x="4114800" y="0"/>
                  </a:moveTo>
                  <a:lnTo>
                    <a:pt x="0" y="0"/>
                  </a:lnTo>
                  <a:lnTo>
                    <a:pt x="0" y="542925"/>
                  </a:lnTo>
                  <a:lnTo>
                    <a:pt x="4114800" y="542925"/>
                  </a:lnTo>
                  <a:lnTo>
                    <a:pt x="4114800" y="0"/>
                  </a:lnTo>
                  <a:close/>
                </a:path>
              </a:pathLst>
            </a:custGeom>
            <a:solidFill>
              <a:srgbClr val="0D93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710176" y="1033526"/>
              <a:ext cx="4114800" cy="542925"/>
            </a:xfrm>
            <a:custGeom>
              <a:avLst/>
              <a:gdLst/>
              <a:ahLst/>
              <a:cxnLst/>
              <a:rect l="l" t="t" r="r" b="b"/>
              <a:pathLst>
                <a:path w="4114800" h="542925">
                  <a:moveTo>
                    <a:pt x="0" y="542925"/>
                  </a:moveTo>
                  <a:lnTo>
                    <a:pt x="4114800" y="542925"/>
                  </a:lnTo>
                  <a:lnTo>
                    <a:pt x="4114800" y="0"/>
                  </a:lnTo>
                  <a:lnTo>
                    <a:pt x="0" y="0"/>
                  </a:lnTo>
                  <a:lnTo>
                    <a:pt x="0" y="542925"/>
                  </a:lnTo>
                  <a:close/>
                </a:path>
              </a:pathLst>
            </a:custGeom>
            <a:ln w="12700">
              <a:solidFill>
                <a:srgbClr val="0D93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4851400" y="1136586"/>
            <a:ext cx="121158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FFFFFF"/>
                </a:solidFill>
                <a:latin typeface="Calibri"/>
                <a:cs typeface="Calibri"/>
              </a:rPr>
              <a:t>Random</a:t>
            </a:r>
            <a:r>
              <a:rPr sz="1500" b="1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FFFFFF"/>
                </a:solidFill>
                <a:latin typeface="Calibri"/>
                <a:cs typeface="Calibri"/>
              </a:rPr>
              <a:t>Forest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701915" y="1091818"/>
            <a:ext cx="852169" cy="3581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2150" b="1" spc="-10" dirty="0">
                <a:solidFill>
                  <a:srgbClr val="FFFFFF"/>
                </a:solidFill>
                <a:latin typeface="Calibri"/>
                <a:cs typeface="Calibri"/>
              </a:rPr>
              <a:t>74.69%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838700" y="1697354"/>
            <a:ext cx="101155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spc="10" dirty="0">
                <a:solidFill>
                  <a:srgbClr val="0E172A"/>
                </a:solidFill>
                <a:latin typeface="Calibri"/>
                <a:cs typeface="Calibri"/>
              </a:rPr>
              <a:t>Hyperparamètres</a:t>
            </a:r>
            <a:r>
              <a:rPr sz="950" b="1" spc="10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950" b="1" spc="-50" dirty="0">
                <a:solidFill>
                  <a:srgbClr val="0E172A"/>
                </a:solidFill>
                <a:latin typeface="Calibri"/>
                <a:cs typeface="Calibri"/>
              </a:rPr>
              <a:t>: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930140" y="1990153"/>
            <a:ext cx="1381760" cy="7239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→</a:t>
            </a:r>
            <a:r>
              <a:rPr sz="950" spc="35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n_estimators</a:t>
            </a:r>
            <a:r>
              <a:rPr sz="950" spc="5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=</a:t>
            </a:r>
            <a:r>
              <a:rPr sz="950" spc="11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950" spc="-25" dirty="0">
                <a:solidFill>
                  <a:srgbClr val="465469"/>
                </a:solidFill>
                <a:latin typeface="Calibri"/>
                <a:cs typeface="Calibri"/>
              </a:rPr>
              <a:t>100</a:t>
            </a: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→</a:t>
            </a:r>
            <a:r>
              <a:rPr sz="950" spc="36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max_depth</a:t>
            </a:r>
            <a:r>
              <a:rPr sz="950" spc="8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=</a:t>
            </a:r>
            <a:r>
              <a:rPr sz="950" spc="1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950" spc="-25" dirty="0">
                <a:solidFill>
                  <a:srgbClr val="465469"/>
                </a:solidFill>
                <a:latin typeface="Calibri"/>
                <a:cs typeface="Calibri"/>
              </a:rPr>
              <a:t>10</a:t>
            </a: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sz="950" spc="10" dirty="0">
                <a:solidFill>
                  <a:srgbClr val="465469"/>
                </a:solidFill>
                <a:latin typeface="Calibri"/>
                <a:cs typeface="Calibri"/>
              </a:rPr>
              <a:t>→</a:t>
            </a:r>
            <a:r>
              <a:rPr sz="950" spc="29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950" spc="10" dirty="0">
                <a:solidFill>
                  <a:srgbClr val="465469"/>
                </a:solidFill>
                <a:latin typeface="Calibri"/>
                <a:cs typeface="Calibri"/>
              </a:rPr>
              <a:t>min_samples_leaf</a:t>
            </a:r>
            <a:r>
              <a:rPr sz="950" spc="4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950" spc="10" dirty="0">
                <a:solidFill>
                  <a:srgbClr val="465469"/>
                </a:solidFill>
                <a:latin typeface="Calibri"/>
                <a:cs typeface="Calibri"/>
              </a:rPr>
              <a:t>=</a:t>
            </a:r>
            <a:r>
              <a:rPr sz="950" spc="8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950" spc="-25" dirty="0">
                <a:solidFill>
                  <a:srgbClr val="465469"/>
                </a:solidFill>
                <a:latin typeface="Calibri"/>
                <a:cs typeface="Calibri"/>
              </a:rPr>
              <a:t>20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853051" y="2871851"/>
            <a:ext cx="1733550" cy="504825"/>
          </a:xfrm>
          <a:prstGeom prst="rect">
            <a:avLst/>
          </a:prstGeom>
          <a:solidFill>
            <a:srgbClr val="DCFBE7"/>
          </a:solidFill>
          <a:ln w="12700">
            <a:solidFill>
              <a:srgbClr val="16A249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5"/>
              </a:spcBef>
            </a:pPr>
            <a:endParaRPr sz="950">
              <a:latin typeface="Times New Roman"/>
              <a:cs typeface="Times New Roman"/>
            </a:endParaRPr>
          </a:p>
          <a:p>
            <a:pPr marL="207010" indent="-144780">
              <a:lnSpc>
                <a:spcPct val="100000"/>
              </a:lnSpc>
              <a:spcBef>
                <a:spcPts val="5"/>
              </a:spcBef>
              <a:buFont typeface="Segoe UI Symbol"/>
              <a:buChar char="✓"/>
              <a:tabLst>
                <a:tab pos="207010" algn="l"/>
              </a:tabLst>
            </a:pPr>
            <a:r>
              <a:rPr sz="950" spc="-10" dirty="0">
                <a:solidFill>
                  <a:srgbClr val="16A249"/>
                </a:solidFill>
                <a:latin typeface="Calibri"/>
                <a:cs typeface="Calibri"/>
              </a:rPr>
              <a:t>Robuste,</a:t>
            </a:r>
            <a:r>
              <a:rPr sz="950" spc="15" dirty="0">
                <a:solidFill>
                  <a:srgbClr val="16A24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6A249"/>
                </a:solidFill>
                <a:latin typeface="Calibri"/>
                <a:cs typeface="Calibri"/>
              </a:rPr>
              <a:t>performant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729476" y="2871851"/>
            <a:ext cx="1914525" cy="504825"/>
          </a:xfrm>
          <a:prstGeom prst="rect">
            <a:avLst/>
          </a:prstGeom>
          <a:solidFill>
            <a:srgbClr val="FDE1E1"/>
          </a:solidFill>
          <a:ln w="12700">
            <a:solidFill>
              <a:srgbClr val="DC2525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5"/>
              </a:spcBef>
            </a:pPr>
            <a:endParaRPr sz="950">
              <a:latin typeface="Times New Roman"/>
              <a:cs typeface="Times New Roman"/>
            </a:endParaRPr>
          </a:p>
          <a:p>
            <a:pPr marL="62230">
              <a:lnSpc>
                <a:spcPct val="100000"/>
              </a:lnSpc>
              <a:spcBef>
                <a:spcPts val="5"/>
              </a:spcBef>
            </a:pPr>
            <a:r>
              <a:rPr sz="950" dirty="0">
                <a:solidFill>
                  <a:srgbClr val="DC2525"/>
                </a:solidFill>
                <a:latin typeface="Segoe UI Symbol"/>
                <a:cs typeface="Segoe UI Symbol"/>
              </a:rPr>
              <a:t>✗</a:t>
            </a:r>
            <a:r>
              <a:rPr sz="950" spc="135" dirty="0">
                <a:solidFill>
                  <a:srgbClr val="DC2525"/>
                </a:solidFill>
                <a:latin typeface="Segoe UI Symbol"/>
                <a:cs typeface="Segoe UI Symbol"/>
              </a:rPr>
              <a:t> </a:t>
            </a:r>
            <a:r>
              <a:rPr sz="950" dirty="0">
                <a:solidFill>
                  <a:srgbClr val="DC2525"/>
                </a:solidFill>
                <a:latin typeface="Calibri"/>
                <a:cs typeface="Calibri"/>
              </a:rPr>
              <a:t>Moins </a:t>
            </a:r>
            <a:r>
              <a:rPr sz="950" spc="-10" dirty="0">
                <a:solidFill>
                  <a:srgbClr val="DC2525"/>
                </a:solidFill>
                <a:latin typeface="Calibri"/>
                <a:cs typeface="Calibri"/>
              </a:rPr>
              <a:t>interprétable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80987" y="3662362"/>
            <a:ext cx="8591550" cy="409575"/>
          </a:xfrm>
          <a:prstGeom prst="rect">
            <a:avLst/>
          </a:prstGeom>
          <a:ln w="12700">
            <a:solidFill>
              <a:srgbClr val="E1E8EF"/>
            </a:solidFill>
          </a:ln>
        </p:spPr>
        <p:txBody>
          <a:bodyPr vert="horz" wrap="square" lIns="0" tIns="123190" rIns="0" bIns="0" rtlCol="0">
            <a:spAutoFit/>
          </a:bodyPr>
          <a:lstStyle/>
          <a:p>
            <a:pPr marL="176530">
              <a:lnSpc>
                <a:spcPct val="100000"/>
              </a:lnSpc>
              <a:spcBef>
                <a:spcPts val="970"/>
              </a:spcBef>
            </a:pPr>
            <a:r>
              <a:rPr sz="1050" b="1" dirty="0">
                <a:solidFill>
                  <a:srgbClr val="0E172A"/>
                </a:solidFill>
                <a:latin typeface="Calibri"/>
                <a:cs typeface="Calibri"/>
              </a:rPr>
              <a:t>Split</a:t>
            </a:r>
            <a:r>
              <a:rPr sz="1050" b="1" spc="-1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0E172A"/>
                </a:solidFill>
                <a:latin typeface="Calibri"/>
                <a:cs typeface="Calibri"/>
              </a:rPr>
              <a:t>:</a:t>
            </a:r>
            <a:r>
              <a:rPr sz="1050" b="1" spc="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75%</a:t>
            </a:r>
            <a:r>
              <a:rPr sz="1050" spc="5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0E172A"/>
                </a:solidFill>
                <a:latin typeface="Calibri"/>
                <a:cs typeface="Calibri"/>
              </a:rPr>
              <a:t>entraînement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 (11</a:t>
            </a:r>
            <a:r>
              <a:rPr sz="1050" spc="4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0E172A"/>
                </a:solidFill>
                <a:latin typeface="Calibri"/>
                <a:cs typeface="Calibri"/>
              </a:rPr>
              <a:t>250</a:t>
            </a:r>
            <a:r>
              <a:rPr sz="1050" spc="-3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obs.)</a:t>
            </a:r>
            <a:r>
              <a:rPr sz="1050" spc="18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·</a:t>
            </a:r>
            <a:r>
              <a:rPr sz="1050" spc="229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25%</a:t>
            </a:r>
            <a:r>
              <a:rPr sz="1050" spc="-2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test (3</a:t>
            </a:r>
            <a:r>
              <a:rPr sz="1050" spc="-3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750</a:t>
            </a:r>
            <a:r>
              <a:rPr sz="1050" spc="-3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obs.)</a:t>
            </a:r>
            <a:r>
              <a:rPr sz="1050" spc="18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·</a:t>
            </a:r>
            <a:r>
              <a:rPr sz="1050" spc="229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Stratifié</a:t>
            </a:r>
            <a:r>
              <a:rPr sz="1050" spc="-2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sur</a:t>
            </a:r>
            <a:r>
              <a:rPr sz="1050" spc="-1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final_grade</a:t>
            </a:r>
            <a:r>
              <a:rPr sz="1050" spc="20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·</a:t>
            </a:r>
            <a:r>
              <a:rPr sz="1050" spc="22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13</a:t>
            </a:r>
            <a:r>
              <a:rPr sz="1050" spc="4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0E172A"/>
                </a:solidFill>
                <a:latin typeface="Calibri"/>
                <a:cs typeface="Calibri"/>
              </a:rPr>
              <a:t>features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276225" y="4095750"/>
            <a:ext cx="8591550" cy="923925"/>
            <a:chOff x="276225" y="4095750"/>
            <a:chExt cx="8591550" cy="923925"/>
          </a:xfrm>
        </p:grpSpPr>
        <p:sp>
          <p:nvSpPr>
            <p:cNvPr id="37" name="object 37"/>
            <p:cNvSpPr/>
            <p:nvPr/>
          </p:nvSpPr>
          <p:spPr>
            <a:xfrm>
              <a:off x="276225" y="4095750"/>
              <a:ext cx="8591550" cy="923925"/>
            </a:xfrm>
            <a:custGeom>
              <a:avLst/>
              <a:gdLst/>
              <a:ahLst/>
              <a:cxnLst/>
              <a:rect l="l" t="t" r="r" b="b"/>
              <a:pathLst>
                <a:path w="8591550" h="923925">
                  <a:moveTo>
                    <a:pt x="8463534" y="0"/>
                  </a:moveTo>
                  <a:lnTo>
                    <a:pt x="127965" y="0"/>
                  </a:lnTo>
                  <a:lnTo>
                    <a:pt x="78154" y="10055"/>
                  </a:lnTo>
                  <a:lnTo>
                    <a:pt x="37479" y="37479"/>
                  </a:lnTo>
                  <a:lnTo>
                    <a:pt x="10055" y="78154"/>
                  </a:lnTo>
                  <a:lnTo>
                    <a:pt x="0" y="127965"/>
                  </a:lnTo>
                  <a:lnTo>
                    <a:pt x="0" y="795959"/>
                  </a:lnTo>
                  <a:lnTo>
                    <a:pt x="10055" y="845770"/>
                  </a:lnTo>
                  <a:lnTo>
                    <a:pt x="37479" y="886445"/>
                  </a:lnTo>
                  <a:lnTo>
                    <a:pt x="78154" y="913869"/>
                  </a:lnTo>
                  <a:lnTo>
                    <a:pt x="127965" y="923925"/>
                  </a:lnTo>
                  <a:lnTo>
                    <a:pt x="8463534" y="923925"/>
                  </a:lnTo>
                  <a:lnTo>
                    <a:pt x="8513379" y="913869"/>
                  </a:lnTo>
                  <a:lnTo>
                    <a:pt x="8554069" y="886445"/>
                  </a:lnTo>
                  <a:lnTo>
                    <a:pt x="8581495" y="845770"/>
                  </a:lnTo>
                  <a:lnTo>
                    <a:pt x="8591550" y="795959"/>
                  </a:lnTo>
                  <a:lnTo>
                    <a:pt x="8591550" y="127965"/>
                  </a:lnTo>
                  <a:lnTo>
                    <a:pt x="8581495" y="78154"/>
                  </a:lnTo>
                  <a:lnTo>
                    <a:pt x="8554069" y="37479"/>
                  </a:lnTo>
                  <a:lnTo>
                    <a:pt x="8513379" y="10055"/>
                  </a:lnTo>
                  <a:lnTo>
                    <a:pt x="8463534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390650" y="4457700"/>
              <a:ext cx="2466975" cy="123825"/>
            </a:xfrm>
            <a:custGeom>
              <a:avLst/>
              <a:gdLst/>
              <a:ahLst/>
              <a:cxnLst/>
              <a:rect l="l" t="t" r="r" b="b"/>
              <a:pathLst>
                <a:path w="2466975" h="123825">
                  <a:moveTo>
                    <a:pt x="2466975" y="0"/>
                  </a:moveTo>
                  <a:lnTo>
                    <a:pt x="0" y="0"/>
                  </a:lnTo>
                  <a:lnTo>
                    <a:pt x="0" y="123825"/>
                  </a:lnTo>
                  <a:lnTo>
                    <a:pt x="2466975" y="123825"/>
                  </a:lnTo>
                  <a:lnTo>
                    <a:pt x="2466975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390650" y="4333875"/>
              <a:ext cx="4533900" cy="123825"/>
            </a:xfrm>
            <a:custGeom>
              <a:avLst/>
              <a:gdLst/>
              <a:ahLst/>
              <a:cxnLst/>
              <a:rect l="l" t="t" r="r" b="b"/>
              <a:pathLst>
                <a:path w="4533900" h="123825">
                  <a:moveTo>
                    <a:pt x="4533900" y="0"/>
                  </a:moveTo>
                  <a:lnTo>
                    <a:pt x="0" y="0"/>
                  </a:lnTo>
                  <a:lnTo>
                    <a:pt x="0" y="123825"/>
                  </a:lnTo>
                  <a:lnTo>
                    <a:pt x="4533900" y="123825"/>
                  </a:lnTo>
                  <a:lnTo>
                    <a:pt x="4533900" y="0"/>
                  </a:lnTo>
                  <a:close/>
                </a:path>
              </a:pathLst>
            </a:custGeom>
            <a:solidFill>
              <a:srgbClr val="0D93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347850" y="4243387"/>
              <a:ext cx="6219825" cy="476250"/>
            </a:xfrm>
            <a:custGeom>
              <a:avLst/>
              <a:gdLst/>
              <a:ahLst/>
              <a:cxnLst/>
              <a:rect l="l" t="t" r="r" b="b"/>
              <a:pathLst>
                <a:path w="6219825" h="476250">
                  <a:moveTo>
                    <a:pt x="47625" y="428625"/>
                  </a:moveTo>
                  <a:lnTo>
                    <a:pt x="6219825" y="428625"/>
                  </a:lnTo>
                </a:path>
                <a:path w="6219825" h="476250">
                  <a:moveTo>
                    <a:pt x="47625" y="428625"/>
                  </a:moveTo>
                  <a:lnTo>
                    <a:pt x="47625" y="476250"/>
                  </a:lnTo>
                </a:path>
                <a:path w="6219825" h="476250">
                  <a:moveTo>
                    <a:pt x="666750" y="428625"/>
                  </a:moveTo>
                  <a:lnTo>
                    <a:pt x="666750" y="476250"/>
                  </a:lnTo>
                </a:path>
                <a:path w="6219825" h="476250">
                  <a:moveTo>
                    <a:pt x="1276350" y="428625"/>
                  </a:moveTo>
                  <a:lnTo>
                    <a:pt x="1276350" y="476250"/>
                  </a:lnTo>
                </a:path>
                <a:path w="6219825" h="476250">
                  <a:moveTo>
                    <a:pt x="1895475" y="428625"/>
                  </a:moveTo>
                  <a:lnTo>
                    <a:pt x="1895475" y="476250"/>
                  </a:lnTo>
                </a:path>
                <a:path w="6219825" h="476250">
                  <a:moveTo>
                    <a:pt x="2514600" y="428625"/>
                  </a:moveTo>
                  <a:lnTo>
                    <a:pt x="2514600" y="476250"/>
                  </a:lnTo>
                </a:path>
                <a:path w="6219825" h="476250">
                  <a:moveTo>
                    <a:pt x="3133725" y="428625"/>
                  </a:moveTo>
                  <a:lnTo>
                    <a:pt x="3133725" y="476250"/>
                  </a:lnTo>
                </a:path>
                <a:path w="6219825" h="476250">
                  <a:moveTo>
                    <a:pt x="3752850" y="428625"/>
                  </a:moveTo>
                  <a:lnTo>
                    <a:pt x="3752850" y="476250"/>
                  </a:lnTo>
                </a:path>
                <a:path w="6219825" h="476250">
                  <a:moveTo>
                    <a:pt x="4371975" y="428625"/>
                  </a:moveTo>
                  <a:lnTo>
                    <a:pt x="4371975" y="476250"/>
                  </a:lnTo>
                </a:path>
                <a:path w="6219825" h="476250">
                  <a:moveTo>
                    <a:pt x="4981575" y="428625"/>
                  </a:moveTo>
                  <a:lnTo>
                    <a:pt x="4981575" y="476250"/>
                  </a:lnTo>
                </a:path>
                <a:path w="6219825" h="476250">
                  <a:moveTo>
                    <a:pt x="5600700" y="428625"/>
                  </a:moveTo>
                  <a:lnTo>
                    <a:pt x="5600700" y="476250"/>
                  </a:lnTo>
                </a:path>
                <a:path w="6219825" h="476250">
                  <a:moveTo>
                    <a:pt x="6219825" y="428625"/>
                  </a:moveTo>
                  <a:lnTo>
                    <a:pt x="6219825" y="476250"/>
                  </a:lnTo>
                </a:path>
                <a:path w="6219825" h="476250">
                  <a:moveTo>
                    <a:pt x="47625" y="428625"/>
                  </a:moveTo>
                  <a:lnTo>
                    <a:pt x="47625" y="0"/>
                  </a:lnTo>
                </a:path>
                <a:path w="6219825" h="476250">
                  <a:moveTo>
                    <a:pt x="0" y="428625"/>
                  </a:moveTo>
                  <a:lnTo>
                    <a:pt x="47625" y="428625"/>
                  </a:lnTo>
                </a:path>
                <a:path w="6219825" h="476250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ln w="12700">
              <a:solidFill>
                <a:srgbClr val="8787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3922014" y="4422140"/>
            <a:ext cx="17780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25" dirty="0">
                <a:solidFill>
                  <a:srgbClr val="FFFFFF"/>
                </a:solidFill>
                <a:latin typeface="Arial MT"/>
                <a:cs typeface="Arial MT"/>
              </a:rPr>
              <a:t>68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998590" y="4298315"/>
            <a:ext cx="17780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25" dirty="0">
                <a:solidFill>
                  <a:srgbClr val="FFFFFF"/>
                </a:solidFill>
                <a:latin typeface="Arial MT"/>
                <a:cs typeface="Arial MT"/>
              </a:rPr>
              <a:t>75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297939" y="4739957"/>
            <a:ext cx="19685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465469"/>
                </a:solidFill>
                <a:latin typeface="Arial MT"/>
                <a:cs typeface="Arial MT"/>
              </a:rPr>
              <a:t>60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916176" y="4739957"/>
            <a:ext cx="19685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465469"/>
                </a:solidFill>
                <a:latin typeface="Arial MT"/>
                <a:cs typeface="Arial MT"/>
              </a:rPr>
              <a:t>62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533904" y="4739957"/>
            <a:ext cx="19685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465469"/>
                </a:solidFill>
                <a:latin typeface="Arial MT"/>
                <a:cs typeface="Arial MT"/>
              </a:rPr>
              <a:t>64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152139" y="4739957"/>
            <a:ext cx="19685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465469"/>
                </a:solidFill>
                <a:latin typeface="Arial MT"/>
                <a:cs typeface="Arial MT"/>
              </a:rPr>
              <a:t>66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769995" y="4739957"/>
            <a:ext cx="19685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465469"/>
                </a:solidFill>
                <a:latin typeface="Arial MT"/>
                <a:cs typeface="Arial MT"/>
              </a:rPr>
              <a:t>68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388103" y="4739957"/>
            <a:ext cx="19685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465469"/>
                </a:solidFill>
                <a:latin typeface="Arial MT"/>
                <a:cs typeface="Arial MT"/>
              </a:rPr>
              <a:t>70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005959" y="4739957"/>
            <a:ext cx="19685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465469"/>
                </a:solidFill>
                <a:latin typeface="Arial MT"/>
                <a:cs typeface="Arial MT"/>
              </a:rPr>
              <a:t>72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624195" y="4739957"/>
            <a:ext cx="19685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465469"/>
                </a:solidFill>
                <a:latin typeface="Arial MT"/>
                <a:cs typeface="Arial MT"/>
              </a:rPr>
              <a:t>74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242050" y="4739957"/>
            <a:ext cx="19685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465469"/>
                </a:solidFill>
                <a:latin typeface="Arial MT"/>
                <a:cs typeface="Arial MT"/>
              </a:rPr>
              <a:t>76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344487" y="4341495"/>
            <a:ext cx="93345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465469"/>
                </a:solidFill>
                <a:latin typeface="Arial MT"/>
                <a:cs typeface="Arial MT"/>
              </a:rPr>
              <a:t>Accuracy</a:t>
            </a:r>
            <a:r>
              <a:rPr sz="1200" spc="-6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465469"/>
                </a:solidFill>
                <a:latin typeface="Arial MT"/>
                <a:cs typeface="Arial MT"/>
              </a:rPr>
              <a:t>(%)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7858125" y="4410075"/>
            <a:ext cx="66675" cy="295275"/>
            <a:chOff x="7858125" y="4410075"/>
            <a:chExt cx="66675" cy="295275"/>
          </a:xfrm>
        </p:grpSpPr>
        <p:sp>
          <p:nvSpPr>
            <p:cNvPr id="54" name="object 54"/>
            <p:cNvSpPr/>
            <p:nvPr/>
          </p:nvSpPr>
          <p:spPr>
            <a:xfrm>
              <a:off x="7858125" y="4410075"/>
              <a:ext cx="66675" cy="66675"/>
            </a:xfrm>
            <a:custGeom>
              <a:avLst/>
              <a:gdLst/>
              <a:ahLst/>
              <a:cxnLst/>
              <a:rect l="l" t="t" r="r" b="b"/>
              <a:pathLst>
                <a:path w="66675" h="66675">
                  <a:moveTo>
                    <a:pt x="66675" y="0"/>
                  </a:moveTo>
                  <a:lnTo>
                    <a:pt x="0" y="0"/>
                  </a:lnTo>
                  <a:lnTo>
                    <a:pt x="0" y="66675"/>
                  </a:lnTo>
                  <a:lnTo>
                    <a:pt x="66675" y="66675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0D93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7858125" y="4638675"/>
              <a:ext cx="66675" cy="66675"/>
            </a:xfrm>
            <a:custGeom>
              <a:avLst/>
              <a:gdLst/>
              <a:ahLst/>
              <a:cxnLst/>
              <a:rect l="l" t="t" r="r" b="b"/>
              <a:pathLst>
                <a:path w="66675" h="66675">
                  <a:moveTo>
                    <a:pt x="66675" y="0"/>
                  </a:moveTo>
                  <a:lnTo>
                    <a:pt x="0" y="0"/>
                  </a:lnTo>
                  <a:lnTo>
                    <a:pt x="0" y="66675"/>
                  </a:lnTo>
                  <a:lnTo>
                    <a:pt x="66675" y="66675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7951216" y="4272026"/>
            <a:ext cx="809625" cy="4857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59000"/>
              </a:lnSpc>
              <a:spcBef>
                <a:spcPts val="95"/>
              </a:spcBef>
            </a:pPr>
            <a:r>
              <a:rPr sz="950" dirty="0">
                <a:latin typeface="Calibri"/>
                <a:cs typeface="Calibri"/>
              </a:rPr>
              <a:t>Random</a:t>
            </a:r>
            <a:r>
              <a:rPr sz="950" spc="125" dirty="0">
                <a:latin typeface="Calibri"/>
                <a:cs typeface="Calibri"/>
              </a:rPr>
              <a:t> </a:t>
            </a:r>
            <a:r>
              <a:rPr sz="950" spc="-10" dirty="0">
                <a:latin typeface="Calibri"/>
                <a:cs typeface="Calibri"/>
              </a:rPr>
              <a:t>Forest </a:t>
            </a:r>
            <a:r>
              <a:rPr sz="950" dirty="0">
                <a:latin typeface="Calibri"/>
                <a:cs typeface="Calibri"/>
              </a:rPr>
              <a:t>Decision</a:t>
            </a:r>
            <a:r>
              <a:rPr sz="950" spc="145" dirty="0">
                <a:latin typeface="Calibri"/>
                <a:cs typeface="Calibri"/>
              </a:rPr>
              <a:t> </a:t>
            </a:r>
            <a:r>
              <a:rPr sz="950" spc="-20" dirty="0">
                <a:latin typeface="Calibri"/>
                <a:cs typeface="Calibri"/>
              </a:rPr>
              <a:t>Tree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844030" y="4720210"/>
            <a:ext cx="2042160" cy="36830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254"/>
              </a:spcBef>
              <a:tabLst>
                <a:tab pos="646430" algn="l"/>
              </a:tabLst>
            </a:pPr>
            <a:r>
              <a:rPr sz="1200" spc="-25" dirty="0">
                <a:solidFill>
                  <a:srgbClr val="465469"/>
                </a:solidFill>
                <a:latin typeface="Arial MT"/>
                <a:cs typeface="Arial MT"/>
              </a:rPr>
              <a:t>78</a:t>
            </a:r>
            <a:r>
              <a:rPr sz="1200" dirty="0">
                <a:solidFill>
                  <a:srgbClr val="465469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465469"/>
                </a:solidFill>
                <a:latin typeface="Arial MT"/>
                <a:cs typeface="Arial MT"/>
              </a:rPr>
              <a:t>80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00" i="1" dirty="0">
                <a:solidFill>
                  <a:srgbClr val="93A2B8"/>
                </a:solidFill>
                <a:latin typeface="Calibri"/>
                <a:cs typeface="Calibri"/>
              </a:rPr>
              <a:t>Section</a:t>
            </a:r>
            <a:r>
              <a:rPr sz="800" i="1" spc="-10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93A2B8"/>
                </a:solidFill>
                <a:latin typeface="Calibri"/>
                <a:cs typeface="Calibri"/>
              </a:rPr>
              <a:t>3</a:t>
            </a:r>
            <a:r>
              <a:rPr sz="800" i="1" spc="-35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93A2B8"/>
                </a:solidFill>
                <a:latin typeface="Calibri"/>
                <a:cs typeface="Calibri"/>
              </a:rPr>
              <a:t>—</a:t>
            </a:r>
            <a:r>
              <a:rPr sz="800" i="1" spc="-35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93A2B8"/>
                </a:solidFill>
                <a:latin typeface="Calibri"/>
                <a:cs typeface="Calibri"/>
              </a:rPr>
              <a:t>Modèles</a:t>
            </a:r>
            <a:r>
              <a:rPr sz="800" i="1" spc="20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93A2B8"/>
                </a:solidFill>
                <a:latin typeface="Calibri"/>
                <a:cs typeface="Calibri"/>
              </a:rPr>
              <a:t>de</a:t>
            </a:r>
            <a:r>
              <a:rPr sz="800" i="1" spc="20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800" i="1" spc="-10" dirty="0">
                <a:solidFill>
                  <a:srgbClr val="93A2B8"/>
                </a:solidFill>
                <a:latin typeface="Calibri"/>
                <a:cs typeface="Calibri"/>
              </a:rPr>
              <a:t>Classification Supervisée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586" y="-1523"/>
            <a:ext cx="9152255" cy="927100"/>
            <a:chOff x="-1586" y="-1523"/>
            <a:chExt cx="9152255" cy="927100"/>
          </a:xfrm>
        </p:grpSpPr>
        <p:sp>
          <p:nvSpPr>
            <p:cNvPr id="3" name="object 3"/>
            <p:cNvSpPr/>
            <p:nvPr/>
          </p:nvSpPr>
          <p:spPr>
            <a:xfrm>
              <a:off x="4763" y="4826"/>
              <a:ext cx="9139555" cy="914400"/>
            </a:xfrm>
            <a:custGeom>
              <a:avLst/>
              <a:gdLst/>
              <a:ahLst/>
              <a:cxnLst/>
              <a:rect l="l" t="t" r="r" b="b"/>
              <a:pathLst>
                <a:path w="9139555" h="914400">
                  <a:moveTo>
                    <a:pt x="9139236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39236" y="914400"/>
                  </a:lnTo>
                  <a:lnTo>
                    <a:pt x="9139236" y="0"/>
                  </a:lnTo>
                  <a:close/>
                </a:path>
              </a:pathLst>
            </a:custGeom>
            <a:solidFill>
              <a:srgbClr val="D9770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763" y="4826"/>
              <a:ext cx="9139555" cy="914400"/>
            </a:xfrm>
            <a:custGeom>
              <a:avLst/>
              <a:gdLst/>
              <a:ahLst/>
              <a:cxnLst/>
              <a:rect l="l" t="t" r="r" b="b"/>
              <a:pathLst>
                <a:path w="9139555" h="914400">
                  <a:moveTo>
                    <a:pt x="9139236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39236" y="914400"/>
                  </a:lnTo>
                </a:path>
              </a:pathLst>
            </a:custGeom>
            <a:ln w="12700">
              <a:solidFill>
                <a:srgbClr val="D9770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Résultats</a:t>
            </a:r>
            <a:r>
              <a:rPr spc="-50" dirty="0"/>
              <a:t> </a:t>
            </a:r>
            <a:r>
              <a:rPr dirty="0"/>
              <a:t>—</a:t>
            </a:r>
            <a:r>
              <a:rPr spc="-60" dirty="0"/>
              <a:t> </a:t>
            </a:r>
            <a:r>
              <a:rPr dirty="0"/>
              <a:t>Feature</a:t>
            </a:r>
            <a:r>
              <a:rPr spc="-80" dirty="0"/>
              <a:t> </a:t>
            </a:r>
            <a:r>
              <a:rPr dirty="0"/>
              <a:t>Importance</a:t>
            </a:r>
            <a:r>
              <a:rPr spc="-25" dirty="0"/>
              <a:t> </a:t>
            </a:r>
            <a:r>
              <a:rPr dirty="0"/>
              <a:t>&amp;</a:t>
            </a:r>
            <a:r>
              <a:rPr spc="-60" dirty="0"/>
              <a:t> </a:t>
            </a:r>
            <a:r>
              <a:rPr spc="-20" dirty="0"/>
              <a:t>F1-</a:t>
            </a:r>
            <a:r>
              <a:rPr dirty="0"/>
              <a:t>Score</a:t>
            </a:r>
            <a:r>
              <a:rPr spc="-25" dirty="0"/>
              <a:t> </a:t>
            </a:r>
            <a:r>
              <a:rPr dirty="0"/>
              <a:t>par</a:t>
            </a:r>
            <a:r>
              <a:rPr spc="-75" dirty="0"/>
              <a:t> </a:t>
            </a:r>
            <a:r>
              <a:rPr spc="-10" dirty="0"/>
              <a:t>Classe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8428101" y="93726"/>
            <a:ext cx="612775" cy="603250"/>
            <a:chOff x="8428101" y="93726"/>
            <a:chExt cx="612775" cy="603250"/>
          </a:xfrm>
        </p:grpSpPr>
        <p:sp>
          <p:nvSpPr>
            <p:cNvPr id="7" name="object 7"/>
            <p:cNvSpPr/>
            <p:nvPr/>
          </p:nvSpPr>
          <p:spPr>
            <a:xfrm>
              <a:off x="8434451" y="100076"/>
              <a:ext cx="600075" cy="590550"/>
            </a:xfrm>
            <a:custGeom>
              <a:avLst/>
              <a:gdLst/>
              <a:ahLst/>
              <a:cxnLst/>
              <a:rect l="l" t="t" r="r" b="b"/>
              <a:pathLst>
                <a:path w="600075" h="590550">
                  <a:moveTo>
                    <a:pt x="299974" y="0"/>
                  </a:moveTo>
                  <a:lnTo>
                    <a:pt x="251301" y="3861"/>
                  </a:lnTo>
                  <a:lnTo>
                    <a:pt x="205134" y="15041"/>
                  </a:lnTo>
                  <a:lnTo>
                    <a:pt x="162090" y="32935"/>
                  </a:lnTo>
                  <a:lnTo>
                    <a:pt x="122785" y="56936"/>
                  </a:lnTo>
                  <a:lnTo>
                    <a:pt x="87836" y="86439"/>
                  </a:lnTo>
                  <a:lnTo>
                    <a:pt x="57859" y="120837"/>
                  </a:lnTo>
                  <a:lnTo>
                    <a:pt x="33470" y="159526"/>
                  </a:lnTo>
                  <a:lnTo>
                    <a:pt x="15286" y="201899"/>
                  </a:lnTo>
                  <a:lnTo>
                    <a:pt x="3924" y="247350"/>
                  </a:lnTo>
                  <a:lnTo>
                    <a:pt x="0" y="295275"/>
                  </a:lnTo>
                  <a:lnTo>
                    <a:pt x="3924" y="343168"/>
                  </a:lnTo>
                  <a:lnTo>
                    <a:pt x="15286" y="388601"/>
                  </a:lnTo>
                  <a:lnTo>
                    <a:pt x="33470" y="430967"/>
                  </a:lnTo>
                  <a:lnTo>
                    <a:pt x="57859" y="469657"/>
                  </a:lnTo>
                  <a:lnTo>
                    <a:pt x="87836" y="504063"/>
                  </a:lnTo>
                  <a:lnTo>
                    <a:pt x="122785" y="533576"/>
                  </a:lnTo>
                  <a:lnTo>
                    <a:pt x="162090" y="557590"/>
                  </a:lnTo>
                  <a:lnTo>
                    <a:pt x="205134" y="575495"/>
                  </a:lnTo>
                  <a:lnTo>
                    <a:pt x="251301" y="586685"/>
                  </a:lnTo>
                  <a:lnTo>
                    <a:pt x="299974" y="590550"/>
                  </a:lnTo>
                  <a:lnTo>
                    <a:pt x="348650" y="586685"/>
                  </a:lnTo>
                  <a:lnTo>
                    <a:pt x="394826" y="575495"/>
                  </a:lnTo>
                  <a:lnTo>
                    <a:pt x="437884" y="557590"/>
                  </a:lnTo>
                  <a:lnTo>
                    <a:pt x="477207" y="533576"/>
                  </a:lnTo>
                  <a:lnTo>
                    <a:pt x="512175" y="504063"/>
                  </a:lnTo>
                  <a:lnTo>
                    <a:pt x="542171" y="469657"/>
                  </a:lnTo>
                  <a:lnTo>
                    <a:pt x="566577" y="430967"/>
                  </a:lnTo>
                  <a:lnTo>
                    <a:pt x="584775" y="388601"/>
                  </a:lnTo>
                  <a:lnTo>
                    <a:pt x="596147" y="343168"/>
                  </a:lnTo>
                  <a:lnTo>
                    <a:pt x="600075" y="295275"/>
                  </a:lnTo>
                  <a:lnTo>
                    <a:pt x="596147" y="247350"/>
                  </a:lnTo>
                  <a:lnTo>
                    <a:pt x="584775" y="201899"/>
                  </a:lnTo>
                  <a:lnTo>
                    <a:pt x="566577" y="159526"/>
                  </a:lnTo>
                  <a:lnTo>
                    <a:pt x="542171" y="120837"/>
                  </a:lnTo>
                  <a:lnTo>
                    <a:pt x="512175" y="86439"/>
                  </a:lnTo>
                  <a:lnTo>
                    <a:pt x="477207" y="56936"/>
                  </a:lnTo>
                  <a:lnTo>
                    <a:pt x="437884" y="32935"/>
                  </a:lnTo>
                  <a:lnTo>
                    <a:pt x="394826" y="15041"/>
                  </a:lnTo>
                  <a:lnTo>
                    <a:pt x="348650" y="3861"/>
                  </a:lnTo>
                  <a:lnTo>
                    <a:pt x="2999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434451" y="100076"/>
              <a:ext cx="600075" cy="590550"/>
            </a:xfrm>
            <a:custGeom>
              <a:avLst/>
              <a:gdLst/>
              <a:ahLst/>
              <a:cxnLst/>
              <a:rect l="l" t="t" r="r" b="b"/>
              <a:pathLst>
                <a:path w="600075" h="590550">
                  <a:moveTo>
                    <a:pt x="0" y="295275"/>
                  </a:moveTo>
                  <a:lnTo>
                    <a:pt x="3924" y="247350"/>
                  </a:lnTo>
                  <a:lnTo>
                    <a:pt x="15286" y="201899"/>
                  </a:lnTo>
                  <a:lnTo>
                    <a:pt x="33470" y="159526"/>
                  </a:lnTo>
                  <a:lnTo>
                    <a:pt x="57859" y="120837"/>
                  </a:lnTo>
                  <a:lnTo>
                    <a:pt x="87836" y="86439"/>
                  </a:lnTo>
                  <a:lnTo>
                    <a:pt x="122785" y="56936"/>
                  </a:lnTo>
                  <a:lnTo>
                    <a:pt x="162090" y="32935"/>
                  </a:lnTo>
                  <a:lnTo>
                    <a:pt x="205134" y="15041"/>
                  </a:lnTo>
                  <a:lnTo>
                    <a:pt x="251301" y="3861"/>
                  </a:lnTo>
                  <a:lnTo>
                    <a:pt x="299974" y="0"/>
                  </a:lnTo>
                  <a:lnTo>
                    <a:pt x="348650" y="3861"/>
                  </a:lnTo>
                  <a:lnTo>
                    <a:pt x="394826" y="15041"/>
                  </a:lnTo>
                  <a:lnTo>
                    <a:pt x="437884" y="32935"/>
                  </a:lnTo>
                  <a:lnTo>
                    <a:pt x="477207" y="56936"/>
                  </a:lnTo>
                  <a:lnTo>
                    <a:pt x="512175" y="86439"/>
                  </a:lnTo>
                  <a:lnTo>
                    <a:pt x="542171" y="120837"/>
                  </a:lnTo>
                  <a:lnTo>
                    <a:pt x="566577" y="159526"/>
                  </a:lnTo>
                  <a:lnTo>
                    <a:pt x="584775" y="201899"/>
                  </a:lnTo>
                  <a:lnTo>
                    <a:pt x="596147" y="247350"/>
                  </a:lnTo>
                  <a:lnTo>
                    <a:pt x="600075" y="295275"/>
                  </a:lnTo>
                  <a:lnTo>
                    <a:pt x="596147" y="343168"/>
                  </a:lnTo>
                  <a:lnTo>
                    <a:pt x="584775" y="388601"/>
                  </a:lnTo>
                  <a:lnTo>
                    <a:pt x="566577" y="430967"/>
                  </a:lnTo>
                  <a:lnTo>
                    <a:pt x="542171" y="469657"/>
                  </a:lnTo>
                  <a:lnTo>
                    <a:pt x="512175" y="504063"/>
                  </a:lnTo>
                  <a:lnTo>
                    <a:pt x="477207" y="533576"/>
                  </a:lnTo>
                  <a:lnTo>
                    <a:pt x="437884" y="557590"/>
                  </a:lnTo>
                  <a:lnTo>
                    <a:pt x="394826" y="575495"/>
                  </a:lnTo>
                  <a:lnTo>
                    <a:pt x="348650" y="586685"/>
                  </a:lnTo>
                  <a:lnTo>
                    <a:pt x="299974" y="590550"/>
                  </a:lnTo>
                  <a:lnTo>
                    <a:pt x="251301" y="586685"/>
                  </a:lnTo>
                  <a:lnTo>
                    <a:pt x="205134" y="575495"/>
                  </a:lnTo>
                  <a:lnTo>
                    <a:pt x="162090" y="557590"/>
                  </a:lnTo>
                  <a:lnTo>
                    <a:pt x="122785" y="533576"/>
                  </a:lnTo>
                  <a:lnTo>
                    <a:pt x="87836" y="504063"/>
                  </a:lnTo>
                  <a:lnTo>
                    <a:pt x="57859" y="469657"/>
                  </a:lnTo>
                  <a:lnTo>
                    <a:pt x="33470" y="430967"/>
                  </a:lnTo>
                  <a:lnTo>
                    <a:pt x="15286" y="388601"/>
                  </a:lnTo>
                  <a:lnTo>
                    <a:pt x="3924" y="343168"/>
                  </a:lnTo>
                  <a:lnTo>
                    <a:pt x="0" y="29527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8672576" y="245173"/>
            <a:ext cx="12700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-50" dirty="0">
                <a:solidFill>
                  <a:srgbClr val="D97705"/>
                </a:solidFill>
                <a:latin typeface="Calibri"/>
                <a:cs typeface="Calibri"/>
              </a:rPr>
              <a:t>3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1937" y="1049591"/>
            <a:ext cx="27940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E172A"/>
                </a:solidFill>
                <a:latin typeface="Calibri"/>
                <a:cs typeface="Calibri"/>
              </a:rPr>
              <a:t>Importance</a:t>
            </a:r>
            <a:r>
              <a:rPr sz="1200" b="1" spc="-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E172A"/>
                </a:solidFill>
                <a:latin typeface="Calibri"/>
                <a:cs typeface="Calibri"/>
              </a:rPr>
              <a:t>des</a:t>
            </a:r>
            <a:r>
              <a:rPr sz="1200" b="1" spc="-2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E172A"/>
                </a:solidFill>
                <a:latin typeface="Calibri"/>
                <a:cs typeface="Calibri"/>
              </a:rPr>
              <a:t>Variables </a:t>
            </a:r>
            <a:r>
              <a:rPr sz="1200" b="1" dirty="0">
                <a:solidFill>
                  <a:srgbClr val="0E172A"/>
                </a:solidFill>
                <a:latin typeface="Calibri"/>
                <a:cs typeface="Calibri"/>
              </a:rPr>
              <a:t>—</a:t>
            </a:r>
            <a:r>
              <a:rPr sz="1200" b="1" spc="-1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E172A"/>
                </a:solidFill>
                <a:latin typeface="Calibri"/>
                <a:cs typeface="Calibri"/>
              </a:rPr>
              <a:t>Random</a:t>
            </a:r>
            <a:r>
              <a:rPr sz="1200" b="1" spc="-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E172A"/>
                </a:solidFill>
                <a:latin typeface="Calibri"/>
                <a:cs typeface="Calibri"/>
              </a:rPr>
              <a:t>Forest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76225" y="1323975"/>
            <a:ext cx="4114800" cy="2400300"/>
            <a:chOff x="276225" y="1323975"/>
            <a:chExt cx="4114800" cy="2400300"/>
          </a:xfrm>
        </p:grpSpPr>
        <p:sp>
          <p:nvSpPr>
            <p:cNvPr id="12" name="object 12"/>
            <p:cNvSpPr/>
            <p:nvPr/>
          </p:nvSpPr>
          <p:spPr>
            <a:xfrm>
              <a:off x="276225" y="1323975"/>
              <a:ext cx="4114800" cy="2400300"/>
            </a:xfrm>
            <a:custGeom>
              <a:avLst/>
              <a:gdLst/>
              <a:ahLst/>
              <a:cxnLst/>
              <a:rect l="l" t="t" r="r" b="b"/>
              <a:pathLst>
                <a:path w="4114800" h="2400300">
                  <a:moveTo>
                    <a:pt x="3987546" y="0"/>
                  </a:moveTo>
                  <a:lnTo>
                    <a:pt x="127241" y="0"/>
                  </a:lnTo>
                  <a:lnTo>
                    <a:pt x="77715" y="10007"/>
                  </a:lnTo>
                  <a:lnTo>
                    <a:pt x="37269" y="37290"/>
                  </a:lnTo>
                  <a:lnTo>
                    <a:pt x="9999" y="77741"/>
                  </a:lnTo>
                  <a:lnTo>
                    <a:pt x="0" y="127253"/>
                  </a:lnTo>
                  <a:lnTo>
                    <a:pt x="0" y="2273046"/>
                  </a:lnTo>
                  <a:lnTo>
                    <a:pt x="9999" y="2322558"/>
                  </a:lnTo>
                  <a:lnTo>
                    <a:pt x="37269" y="2363009"/>
                  </a:lnTo>
                  <a:lnTo>
                    <a:pt x="77715" y="2390292"/>
                  </a:lnTo>
                  <a:lnTo>
                    <a:pt x="127241" y="2400300"/>
                  </a:lnTo>
                  <a:lnTo>
                    <a:pt x="3987546" y="2400300"/>
                  </a:lnTo>
                  <a:lnTo>
                    <a:pt x="4037058" y="2390292"/>
                  </a:lnTo>
                  <a:lnTo>
                    <a:pt x="4077509" y="2363009"/>
                  </a:lnTo>
                  <a:lnTo>
                    <a:pt x="4104792" y="2322558"/>
                  </a:lnTo>
                  <a:lnTo>
                    <a:pt x="4114800" y="2273046"/>
                  </a:lnTo>
                  <a:lnTo>
                    <a:pt x="4114800" y="127253"/>
                  </a:lnTo>
                  <a:lnTo>
                    <a:pt x="4104792" y="77741"/>
                  </a:lnTo>
                  <a:lnTo>
                    <a:pt x="4077509" y="37290"/>
                  </a:lnTo>
                  <a:lnTo>
                    <a:pt x="4037058" y="10007"/>
                  </a:lnTo>
                  <a:lnTo>
                    <a:pt x="3987546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919351" y="1462151"/>
              <a:ext cx="2247900" cy="1914525"/>
            </a:xfrm>
            <a:custGeom>
              <a:avLst/>
              <a:gdLst/>
              <a:ahLst/>
              <a:cxnLst/>
              <a:rect l="l" t="t" r="r" b="b"/>
              <a:pathLst>
                <a:path w="2247900" h="1914525">
                  <a:moveTo>
                    <a:pt x="0" y="1795399"/>
                  </a:moveTo>
                  <a:lnTo>
                    <a:pt x="0" y="1914398"/>
                  </a:lnTo>
                </a:path>
                <a:path w="2247900" h="1914525">
                  <a:moveTo>
                    <a:pt x="0" y="1414399"/>
                  </a:moveTo>
                  <a:lnTo>
                    <a:pt x="0" y="1642999"/>
                  </a:lnTo>
                </a:path>
                <a:path w="2247900" h="1914525">
                  <a:moveTo>
                    <a:pt x="0" y="1033399"/>
                  </a:moveTo>
                  <a:lnTo>
                    <a:pt x="0" y="1261999"/>
                  </a:lnTo>
                </a:path>
                <a:path w="2247900" h="1914525">
                  <a:moveTo>
                    <a:pt x="0" y="652399"/>
                  </a:moveTo>
                  <a:lnTo>
                    <a:pt x="0" y="880999"/>
                  </a:lnTo>
                </a:path>
                <a:path w="2247900" h="1914525">
                  <a:moveTo>
                    <a:pt x="0" y="271399"/>
                  </a:moveTo>
                  <a:lnTo>
                    <a:pt x="0" y="499999"/>
                  </a:lnTo>
                </a:path>
                <a:path w="2247900" h="1914525">
                  <a:moveTo>
                    <a:pt x="0" y="0"/>
                  </a:moveTo>
                  <a:lnTo>
                    <a:pt x="0" y="118999"/>
                  </a:lnTo>
                </a:path>
                <a:path w="2247900" h="1914525">
                  <a:moveTo>
                    <a:pt x="447675" y="1795399"/>
                  </a:moveTo>
                  <a:lnTo>
                    <a:pt x="447675" y="1914398"/>
                  </a:lnTo>
                </a:path>
                <a:path w="2247900" h="1914525">
                  <a:moveTo>
                    <a:pt x="447675" y="1414399"/>
                  </a:moveTo>
                  <a:lnTo>
                    <a:pt x="447675" y="1642999"/>
                  </a:lnTo>
                </a:path>
                <a:path w="2247900" h="1914525">
                  <a:moveTo>
                    <a:pt x="447675" y="1033399"/>
                  </a:moveTo>
                  <a:lnTo>
                    <a:pt x="447675" y="1261999"/>
                  </a:lnTo>
                </a:path>
                <a:path w="2247900" h="1914525">
                  <a:moveTo>
                    <a:pt x="447675" y="652399"/>
                  </a:moveTo>
                  <a:lnTo>
                    <a:pt x="447675" y="880999"/>
                  </a:lnTo>
                </a:path>
                <a:path w="2247900" h="1914525">
                  <a:moveTo>
                    <a:pt x="447675" y="0"/>
                  </a:moveTo>
                  <a:lnTo>
                    <a:pt x="447675" y="499999"/>
                  </a:lnTo>
                </a:path>
                <a:path w="2247900" h="1914525">
                  <a:moveTo>
                    <a:pt x="895350" y="1795399"/>
                  </a:moveTo>
                  <a:lnTo>
                    <a:pt x="895350" y="1914398"/>
                  </a:lnTo>
                </a:path>
                <a:path w="2247900" h="1914525">
                  <a:moveTo>
                    <a:pt x="895350" y="1414399"/>
                  </a:moveTo>
                  <a:lnTo>
                    <a:pt x="895350" y="1642999"/>
                  </a:lnTo>
                </a:path>
                <a:path w="2247900" h="1914525">
                  <a:moveTo>
                    <a:pt x="895350" y="1033399"/>
                  </a:moveTo>
                  <a:lnTo>
                    <a:pt x="895350" y="1261999"/>
                  </a:lnTo>
                </a:path>
                <a:path w="2247900" h="1914525">
                  <a:moveTo>
                    <a:pt x="895350" y="652399"/>
                  </a:moveTo>
                  <a:lnTo>
                    <a:pt x="895350" y="880999"/>
                  </a:lnTo>
                </a:path>
                <a:path w="2247900" h="1914525">
                  <a:moveTo>
                    <a:pt x="895350" y="0"/>
                  </a:moveTo>
                  <a:lnTo>
                    <a:pt x="895350" y="499999"/>
                  </a:lnTo>
                </a:path>
                <a:path w="2247900" h="1914525">
                  <a:moveTo>
                    <a:pt x="1343025" y="1795399"/>
                  </a:moveTo>
                  <a:lnTo>
                    <a:pt x="1343025" y="1914398"/>
                  </a:lnTo>
                </a:path>
                <a:path w="2247900" h="1914525">
                  <a:moveTo>
                    <a:pt x="1343025" y="1414399"/>
                  </a:moveTo>
                  <a:lnTo>
                    <a:pt x="1343025" y="1642999"/>
                  </a:lnTo>
                </a:path>
                <a:path w="2247900" h="1914525">
                  <a:moveTo>
                    <a:pt x="1343025" y="1033399"/>
                  </a:moveTo>
                  <a:lnTo>
                    <a:pt x="1343025" y="1261999"/>
                  </a:lnTo>
                </a:path>
                <a:path w="2247900" h="1914525">
                  <a:moveTo>
                    <a:pt x="1343025" y="652399"/>
                  </a:moveTo>
                  <a:lnTo>
                    <a:pt x="1343025" y="880999"/>
                  </a:lnTo>
                </a:path>
                <a:path w="2247900" h="1914525">
                  <a:moveTo>
                    <a:pt x="1343025" y="0"/>
                  </a:moveTo>
                  <a:lnTo>
                    <a:pt x="1343025" y="499999"/>
                  </a:lnTo>
                </a:path>
                <a:path w="2247900" h="1914525">
                  <a:moveTo>
                    <a:pt x="1800225" y="1795399"/>
                  </a:moveTo>
                  <a:lnTo>
                    <a:pt x="1800225" y="1914398"/>
                  </a:lnTo>
                </a:path>
                <a:path w="2247900" h="1914525">
                  <a:moveTo>
                    <a:pt x="1800225" y="0"/>
                  </a:moveTo>
                  <a:lnTo>
                    <a:pt x="1800225" y="1642999"/>
                  </a:lnTo>
                </a:path>
                <a:path w="2247900" h="1914525">
                  <a:moveTo>
                    <a:pt x="2247900" y="0"/>
                  </a:moveTo>
                  <a:lnTo>
                    <a:pt x="2247900" y="1914398"/>
                  </a:lnTo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466850" y="3105150"/>
              <a:ext cx="2476500" cy="152400"/>
            </a:xfrm>
            <a:custGeom>
              <a:avLst/>
              <a:gdLst/>
              <a:ahLst/>
              <a:cxnLst/>
              <a:rect l="l" t="t" r="r" b="b"/>
              <a:pathLst>
                <a:path w="2476500" h="152400">
                  <a:moveTo>
                    <a:pt x="24765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2476500" y="152400"/>
                  </a:lnTo>
                  <a:lnTo>
                    <a:pt x="2476500" y="0"/>
                  </a:lnTo>
                  <a:close/>
                </a:path>
              </a:pathLst>
            </a:custGeom>
            <a:solidFill>
              <a:srgbClr val="D9770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466850" y="1962149"/>
              <a:ext cx="1962150" cy="914400"/>
            </a:xfrm>
            <a:custGeom>
              <a:avLst/>
              <a:gdLst/>
              <a:ahLst/>
              <a:cxnLst/>
              <a:rect l="l" t="t" r="r" b="b"/>
              <a:pathLst>
                <a:path w="1962150" h="914400">
                  <a:moveTo>
                    <a:pt x="1895475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895475" y="152400"/>
                  </a:lnTo>
                  <a:lnTo>
                    <a:pt x="1895475" y="0"/>
                  </a:lnTo>
                  <a:close/>
                </a:path>
                <a:path w="1962150" h="914400">
                  <a:moveTo>
                    <a:pt x="1933575" y="381000"/>
                  </a:moveTo>
                  <a:lnTo>
                    <a:pt x="0" y="381000"/>
                  </a:lnTo>
                  <a:lnTo>
                    <a:pt x="0" y="533400"/>
                  </a:lnTo>
                  <a:lnTo>
                    <a:pt x="1933575" y="533400"/>
                  </a:lnTo>
                  <a:lnTo>
                    <a:pt x="1933575" y="381000"/>
                  </a:lnTo>
                  <a:close/>
                </a:path>
                <a:path w="1962150" h="914400">
                  <a:moveTo>
                    <a:pt x="1962150" y="762000"/>
                  </a:moveTo>
                  <a:lnTo>
                    <a:pt x="0" y="762000"/>
                  </a:lnTo>
                  <a:lnTo>
                    <a:pt x="0" y="914400"/>
                  </a:lnTo>
                  <a:lnTo>
                    <a:pt x="1962150" y="914400"/>
                  </a:lnTo>
                  <a:lnTo>
                    <a:pt x="1962150" y="76200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466850" y="1581150"/>
              <a:ext cx="504825" cy="152400"/>
            </a:xfrm>
            <a:custGeom>
              <a:avLst/>
              <a:gdLst/>
              <a:ahLst/>
              <a:cxnLst/>
              <a:rect l="l" t="t" r="r" b="b"/>
              <a:pathLst>
                <a:path w="504825" h="152400">
                  <a:moveTo>
                    <a:pt x="504825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504825" y="152400"/>
                  </a:lnTo>
                  <a:lnTo>
                    <a:pt x="504825" y="0"/>
                  </a:lnTo>
                  <a:close/>
                </a:path>
              </a:pathLst>
            </a:custGeom>
            <a:solidFill>
              <a:srgbClr val="0D93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424050" y="1462151"/>
              <a:ext cx="2743200" cy="1962150"/>
            </a:xfrm>
            <a:custGeom>
              <a:avLst/>
              <a:gdLst/>
              <a:ahLst/>
              <a:cxnLst/>
              <a:rect l="l" t="t" r="r" b="b"/>
              <a:pathLst>
                <a:path w="2743200" h="1962150">
                  <a:moveTo>
                    <a:pt x="47625" y="1914525"/>
                  </a:moveTo>
                  <a:lnTo>
                    <a:pt x="2743200" y="1914525"/>
                  </a:lnTo>
                </a:path>
                <a:path w="2743200" h="1962150">
                  <a:moveTo>
                    <a:pt x="47625" y="1914525"/>
                  </a:moveTo>
                  <a:lnTo>
                    <a:pt x="47625" y="1962150"/>
                  </a:lnTo>
                </a:path>
                <a:path w="2743200" h="1962150">
                  <a:moveTo>
                    <a:pt x="495300" y="1914525"/>
                  </a:moveTo>
                  <a:lnTo>
                    <a:pt x="495300" y="1962150"/>
                  </a:lnTo>
                </a:path>
                <a:path w="2743200" h="1962150">
                  <a:moveTo>
                    <a:pt x="942975" y="1914525"/>
                  </a:moveTo>
                  <a:lnTo>
                    <a:pt x="942975" y="1962150"/>
                  </a:lnTo>
                </a:path>
                <a:path w="2743200" h="1962150">
                  <a:moveTo>
                    <a:pt x="1390650" y="1914525"/>
                  </a:moveTo>
                  <a:lnTo>
                    <a:pt x="1390650" y="1962150"/>
                  </a:lnTo>
                </a:path>
                <a:path w="2743200" h="1962150">
                  <a:moveTo>
                    <a:pt x="1838325" y="1914525"/>
                  </a:moveTo>
                  <a:lnTo>
                    <a:pt x="1838325" y="1962150"/>
                  </a:lnTo>
                </a:path>
                <a:path w="2743200" h="1962150">
                  <a:moveTo>
                    <a:pt x="2295525" y="1914525"/>
                  </a:moveTo>
                  <a:lnTo>
                    <a:pt x="2295525" y="1962150"/>
                  </a:lnTo>
                </a:path>
                <a:path w="2743200" h="1962150">
                  <a:moveTo>
                    <a:pt x="2743200" y="1914525"/>
                  </a:moveTo>
                  <a:lnTo>
                    <a:pt x="2743200" y="1962150"/>
                  </a:lnTo>
                </a:path>
                <a:path w="2743200" h="1962150">
                  <a:moveTo>
                    <a:pt x="47625" y="1914525"/>
                  </a:moveTo>
                  <a:lnTo>
                    <a:pt x="47625" y="0"/>
                  </a:lnTo>
                </a:path>
                <a:path w="2743200" h="1962150">
                  <a:moveTo>
                    <a:pt x="0" y="1914398"/>
                  </a:moveTo>
                  <a:lnTo>
                    <a:pt x="47625" y="1914398"/>
                  </a:lnTo>
                </a:path>
                <a:path w="2743200" h="1962150">
                  <a:moveTo>
                    <a:pt x="0" y="1533525"/>
                  </a:moveTo>
                  <a:lnTo>
                    <a:pt x="47625" y="1533525"/>
                  </a:lnTo>
                </a:path>
                <a:path w="2743200" h="1962150">
                  <a:moveTo>
                    <a:pt x="0" y="1152525"/>
                  </a:moveTo>
                  <a:lnTo>
                    <a:pt x="47625" y="1152525"/>
                  </a:lnTo>
                </a:path>
                <a:path w="2743200" h="1962150">
                  <a:moveTo>
                    <a:pt x="0" y="771525"/>
                  </a:moveTo>
                  <a:lnTo>
                    <a:pt x="47625" y="771525"/>
                  </a:lnTo>
                </a:path>
                <a:path w="2743200" h="1962150">
                  <a:moveTo>
                    <a:pt x="0" y="381000"/>
                  </a:moveTo>
                  <a:lnTo>
                    <a:pt x="47625" y="381000"/>
                  </a:lnTo>
                </a:path>
                <a:path w="2743200" h="1962150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ln w="12700">
              <a:solidFill>
                <a:srgbClr val="8787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007739" y="3103181"/>
            <a:ext cx="15875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0E172A"/>
                </a:solidFill>
                <a:latin typeface="Arial MT"/>
                <a:cs typeface="Arial MT"/>
              </a:rPr>
              <a:t>28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495421" y="2720403"/>
            <a:ext cx="15875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0E172A"/>
                </a:solidFill>
                <a:latin typeface="Arial MT"/>
                <a:cs typeface="Arial MT"/>
              </a:rPr>
              <a:t>22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468370" y="2337371"/>
            <a:ext cx="15938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0E172A"/>
                </a:solidFill>
                <a:latin typeface="Arial MT"/>
                <a:cs typeface="Arial MT"/>
              </a:rPr>
              <a:t>22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432428" y="1954466"/>
            <a:ext cx="15875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0E172A"/>
                </a:solidFill>
                <a:latin typeface="Arial MT"/>
                <a:cs typeface="Arial MT"/>
              </a:rPr>
              <a:t>21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039366" y="1571561"/>
            <a:ext cx="8953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0E172A"/>
                </a:solidFill>
                <a:latin typeface="Arial MT"/>
                <a:cs typeface="Arial MT"/>
              </a:rPr>
              <a:t>6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416938" y="3443287"/>
            <a:ext cx="285242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2280" algn="l"/>
                <a:tab pos="868680" algn="l"/>
                <a:tab pos="1318895" algn="l"/>
                <a:tab pos="1767839" algn="l"/>
                <a:tab pos="2217420" algn="l"/>
                <a:tab pos="2667000" algn="l"/>
              </a:tabLst>
            </a:pPr>
            <a:r>
              <a:rPr sz="1200" spc="-50" dirty="0">
                <a:solidFill>
                  <a:srgbClr val="465469"/>
                </a:solidFill>
                <a:latin typeface="Arial MT"/>
                <a:cs typeface="Arial MT"/>
              </a:rPr>
              <a:t>0</a:t>
            </a:r>
            <a:r>
              <a:rPr sz="1200" dirty="0">
                <a:solidFill>
                  <a:srgbClr val="465469"/>
                </a:solidFill>
                <a:latin typeface="Arial MT"/>
                <a:cs typeface="Arial MT"/>
              </a:rPr>
              <a:t>	</a:t>
            </a:r>
            <a:r>
              <a:rPr sz="1200" spc="-50" dirty="0">
                <a:solidFill>
                  <a:srgbClr val="465469"/>
                </a:solidFill>
                <a:latin typeface="Arial MT"/>
                <a:cs typeface="Arial MT"/>
              </a:rPr>
              <a:t>5</a:t>
            </a:r>
            <a:r>
              <a:rPr sz="1200" dirty="0">
                <a:solidFill>
                  <a:srgbClr val="465469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465469"/>
                </a:solidFill>
                <a:latin typeface="Arial MT"/>
                <a:cs typeface="Arial MT"/>
              </a:rPr>
              <a:t>10</a:t>
            </a:r>
            <a:r>
              <a:rPr sz="1200" dirty="0">
                <a:solidFill>
                  <a:srgbClr val="465469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465469"/>
                </a:solidFill>
                <a:latin typeface="Arial MT"/>
                <a:cs typeface="Arial MT"/>
              </a:rPr>
              <a:t>15</a:t>
            </a:r>
            <a:r>
              <a:rPr sz="1200" dirty="0">
                <a:solidFill>
                  <a:srgbClr val="465469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465469"/>
                </a:solidFill>
                <a:latin typeface="Arial MT"/>
                <a:cs typeface="Arial MT"/>
              </a:rPr>
              <a:t>20</a:t>
            </a:r>
            <a:r>
              <a:rPr sz="1200" dirty="0">
                <a:solidFill>
                  <a:srgbClr val="465469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465469"/>
                </a:solidFill>
                <a:latin typeface="Arial MT"/>
                <a:cs typeface="Arial MT"/>
              </a:rPr>
              <a:t>25</a:t>
            </a:r>
            <a:r>
              <a:rPr sz="1200" dirty="0">
                <a:solidFill>
                  <a:srgbClr val="465469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465469"/>
                </a:solidFill>
                <a:latin typeface="Arial MT"/>
                <a:cs typeface="Arial MT"/>
              </a:rPr>
              <a:t>30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88632" y="3069907"/>
            <a:ext cx="86614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465469"/>
                </a:solidFill>
                <a:latin typeface="Arial MT"/>
                <a:cs typeface="Arial MT"/>
              </a:rPr>
              <a:t>Study</a:t>
            </a:r>
            <a:r>
              <a:rPr sz="1200" spc="-4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465469"/>
                </a:solidFill>
                <a:latin typeface="Arial MT"/>
                <a:cs typeface="Arial MT"/>
              </a:rPr>
              <a:t>Hours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87032" y="2687002"/>
            <a:ext cx="966469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465469"/>
                </a:solidFill>
                <a:latin typeface="Arial MT"/>
                <a:cs typeface="Arial MT"/>
              </a:rPr>
              <a:t>English</a:t>
            </a:r>
            <a:r>
              <a:rPr sz="1200" spc="-2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465469"/>
                </a:solidFill>
                <a:latin typeface="Arial MT"/>
                <a:cs typeface="Arial MT"/>
              </a:rPr>
              <a:t>Score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48005" y="2304097"/>
            <a:ext cx="80772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465469"/>
                </a:solidFill>
                <a:latin typeface="Arial MT"/>
                <a:cs typeface="Arial MT"/>
              </a:rPr>
              <a:t>Math</a:t>
            </a:r>
            <a:r>
              <a:rPr sz="1200" spc="-1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465469"/>
                </a:solidFill>
                <a:latin typeface="Arial MT"/>
                <a:cs typeface="Arial MT"/>
              </a:rPr>
              <a:t>Score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44487" y="1921192"/>
            <a:ext cx="100520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465469"/>
                </a:solidFill>
                <a:latin typeface="Arial MT"/>
                <a:cs typeface="Arial MT"/>
              </a:rPr>
              <a:t>Science</a:t>
            </a:r>
            <a:r>
              <a:rPr sz="1200" spc="-8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465469"/>
                </a:solidFill>
                <a:latin typeface="Arial MT"/>
                <a:cs typeface="Arial MT"/>
              </a:rPr>
              <a:t>Score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78142" y="1538287"/>
            <a:ext cx="97218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465469"/>
                </a:solidFill>
                <a:latin typeface="Arial MT"/>
                <a:cs typeface="Arial MT"/>
              </a:rPr>
              <a:t>Attendance</a:t>
            </a:r>
            <a:r>
              <a:rPr sz="1200" spc="-8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200" spc="-50" dirty="0">
                <a:solidFill>
                  <a:srgbClr val="465469"/>
                </a:solidFill>
                <a:latin typeface="Arial MT"/>
                <a:cs typeface="Arial MT"/>
              </a:rPr>
              <a:t>%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655565" y="1049591"/>
            <a:ext cx="1955164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0E172A"/>
                </a:solidFill>
                <a:latin typeface="Calibri"/>
                <a:cs typeface="Calibri"/>
              </a:rPr>
              <a:t>F1-</a:t>
            </a:r>
            <a:r>
              <a:rPr sz="1200" b="1" dirty="0">
                <a:solidFill>
                  <a:srgbClr val="0E172A"/>
                </a:solidFill>
                <a:latin typeface="Calibri"/>
                <a:cs typeface="Calibri"/>
              </a:rPr>
              <a:t>Score</a:t>
            </a:r>
            <a:r>
              <a:rPr sz="1200" b="1" spc="-1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E172A"/>
                </a:solidFill>
                <a:latin typeface="Calibri"/>
                <a:cs typeface="Calibri"/>
              </a:rPr>
              <a:t>par</a:t>
            </a:r>
            <a:r>
              <a:rPr sz="1200" b="1" spc="1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E172A"/>
                </a:solidFill>
                <a:latin typeface="Calibri"/>
                <a:cs typeface="Calibri"/>
              </a:rPr>
              <a:t>classe</a:t>
            </a:r>
            <a:r>
              <a:rPr sz="1200" b="1" spc="-2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E172A"/>
                </a:solidFill>
                <a:latin typeface="Calibri"/>
                <a:cs typeface="Calibri"/>
              </a:rPr>
              <a:t>—</a:t>
            </a:r>
            <a:r>
              <a:rPr sz="1200" b="1" spc="-2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E172A"/>
                </a:solidFill>
                <a:latin typeface="Calibri"/>
                <a:cs typeface="Calibri"/>
              </a:rPr>
              <a:t>DT</a:t>
            </a:r>
            <a:r>
              <a:rPr sz="1200" b="1" spc="-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E172A"/>
                </a:solidFill>
                <a:latin typeface="Calibri"/>
                <a:cs typeface="Calibri"/>
              </a:rPr>
              <a:t>vs</a:t>
            </a:r>
            <a:r>
              <a:rPr sz="1200" b="1" spc="-3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200" b="1" spc="-25" dirty="0">
                <a:solidFill>
                  <a:srgbClr val="0E172A"/>
                </a:solidFill>
                <a:latin typeface="Calibri"/>
                <a:cs typeface="Calibri"/>
              </a:rPr>
              <a:t>RF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667250" y="1323975"/>
            <a:ext cx="4200525" cy="2400300"/>
            <a:chOff x="4667250" y="1323975"/>
            <a:chExt cx="4200525" cy="2400300"/>
          </a:xfrm>
        </p:grpSpPr>
        <p:sp>
          <p:nvSpPr>
            <p:cNvPr id="31" name="object 31"/>
            <p:cNvSpPr/>
            <p:nvPr/>
          </p:nvSpPr>
          <p:spPr>
            <a:xfrm>
              <a:off x="4667250" y="1323975"/>
              <a:ext cx="4200525" cy="2400300"/>
            </a:xfrm>
            <a:custGeom>
              <a:avLst/>
              <a:gdLst/>
              <a:ahLst/>
              <a:cxnLst/>
              <a:rect l="l" t="t" r="r" b="b"/>
              <a:pathLst>
                <a:path w="4200525" h="2400300">
                  <a:moveTo>
                    <a:pt x="4073271" y="0"/>
                  </a:moveTo>
                  <a:lnTo>
                    <a:pt x="127253" y="0"/>
                  </a:lnTo>
                  <a:lnTo>
                    <a:pt x="77741" y="10007"/>
                  </a:lnTo>
                  <a:lnTo>
                    <a:pt x="37290" y="37290"/>
                  </a:lnTo>
                  <a:lnTo>
                    <a:pt x="10007" y="77741"/>
                  </a:lnTo>
                  <a:lnTo>
                    <a:pt x="0" y="127253"/>
                  </a:lnTo>
                  <a:lnTo>
                    <a:pt x="0" y="2273046"/>
                  </a:lnTo>
                  <a:lnTo>
                    <a:pt x="10007" y="2322558"/>
                  </a:lnTo>
                  <a:lnTo>
                    <a:pt x="37290" y="2363009"/>
                  </a:lnTo>
                  <a:lnTo>
                    <a:pt x="77741" y="2390292"/>
                  </a:lnTo>
                  <a:lnTo>
                    <a:pt x="127253" y="2400300"/>
                  </a:lnTo>
                  <a:lnTo>
                    <a:pt x="4073271" y="2400300"/>
                  </a:lnTo>
                  <a:lnTo>
                    <a:pt x="4122783" y="2390292"/>
                  </a:lnTo>
                  <a:lnTo>
                    <a:pt x="4163234" y="2363009"/>
                  </a:lnTo>
                  <a:lnTo>
                    <a:pt x="4190517" y="2322558"/>
                  </a:lnTo>
                  <a:lnTo>
                    <a:pt x="4200525" y="2273046"/>
                  </a:lnTo>
                  <a:lnTo>
                    <a:pt x="4200525" y="127253"/>
                  </a:lnTo>
                  <a:lnTo>
                    <a:pt x="4190517" y="77741"/>
                  </a:lnTo>
                  <a:lnTo>
                    <a:pt x="4163234" y="37290"/>
                  </a:lnTo>
                  <a:lnTo>
                    <a:pt x="4122783" y="10007"/>
                  </a:lnTo>
                  <a:lnTo>
                    <a:pt x="4073271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091176" y="1471676"/>
              <a:ext cx="3638550" cy="1333500"/>
            </a:xfrm>
            <a:custGeom>
              <a:avLst/>
              <a:gdLst/>
              <a:ahLst/>
              <a:cxnLst/>
              <a:rect l="l" t="t" r="r" b="b"/>
              <a:pathLst>
                <a:path w="3638550" h="1333500">
                  <a:moveTo>
                    <a:pt x="0" y="1333500"/>
                  </a:moveTo>
                  <a:lnTo>
                    <a:pt x="128524" y="1333500"/>
                  </a:lnTo>
                </a:path>
                <a:path w="3638550" h="1333500">
                  <a:moveTo>
                    <a:pt x="471424" y="1333500"/>
                  </a:moveTo>
                  <a:lnTo>
                    <a:pt x="738124" y="1333500"/>
                  </a:lnTo>
                </a:path>
                <a:path w="3638550" h="1333500">
                  <a:moveTo>
                    <a:pt x="1081024" y="1333500"/>
                  </a:moveTo>
                  <a:lnTo>
                    <a:pt x="1338199" y="1333500"/>
                  </a:lnTo>
                </a:path>
                <a:path w="3638550" h="1333500">
                  <a:moveTo>
                    <a:pt x="1690624" y="1333500"/>
                  </a:moveTo>
                  <a:lnTo>
                    <a:pt x="1947799" y="1333500"/>
                  </a:lnTo>
                </a:path>
                <a:path w="3638550" h="1333500">
                  <a:moveTo>
                    <a:pt x="2290699" y="1333500"/>
                  </a:moveTo>
                  <a:lnTo>
                    <a:pt x="2557399" y="1333500"/>
                  </a:lnTo>
                </a:path>
                <a:path w="3638550" h="1333500">
                  <a:moveTo>
                    <a:pt x="2900299" y="1333500"/>
                  </a:moveTo>
                  <a:lnTo>
                    <a:pt x="3157474" y="1333500"/>
                  </a:lnTo>
                </a:path>
                <a:path w="3638550" h="1333500">
                  <a:moveTo>
                    <a:pt x="3509899" y="1333500"/>
                  </a:moveTo>
                  <a:lnTo>
                    <a:pt x="3638550" y="1333500"/>
                  </a:lnTo>
                </a:path>
                <a:path w="3638550" h="1333500">
                  <a:moveTo>
                    <a:pt x="0" y="1066800"/>
                  </a:moveTo>
                  <a:lnTo>
                    <a:pt x="128524" y="1066800"/>
                  </a:lnTo>
                </a:path>
                <a:path w="3638550" h="1333500">
                  <a:moveTo>
                    <a:pt x="471424" y="1066800"/>
                  </a:moveTo>
                  <a:lnTo>
                    <a:pt x="738124" y="1066800"/>
                  </a:lnTo>
                </a:path>
                <a:path w="3638550" h="1333500">
                  <a:moveTo>
                    <a:pt x="1081024" y="1066800"/>
                  </a:moveTo>
                  <a:lnTo>
                    <a:pt x="1338199" y="1066800"/>
                  </a:lnTo>
                </a:path>
                <a:path w="3638550" h="1333500">
                  <a:moveTo>
                    <a:pt x="1690624" y="1066800"/>
                  </a:moveTo>
                  <a:lnTo>
                    <a:pt x="1947799" y="1066800"/>
                  </a:lnTo>
                </a:path>
                <a:path w="3638550" h="1333500">
                  <a:moveTo>
                    <a:pt x="2290699" y="1066800"/>
                  </a:moveTo>
                  <a:lnTo>
                    <a:pt x="2728849" y="1066800"/>
                  </a:lnTo>
                </a:path>
                <a:path w="3638550" h="1333500">
                  <a:moveTo>
                    <a:pt x="2900299" y="1066800"/>
                  </a:moveTo>
                  <a:lnTo>
                    <a:pt x="3338449" y="1066800"/>
                  </a:lnTo>
                </a:path>
                <a:path w="3638550" h="1333500">
                  <a:moveTo>
                    <a:pt x="3509899" y="1066800"/>
                  </a:moveTo>
                  <a:lnTo>
                    <a:pt x="3638550" y="1066800"/>
                  </a:lnTo>
                </a:path>
                <a:path w="3638550" h="1333500">
                  <a:moveTo>
                    <a:pt x="0" y="800100"/>
                  </a:moveTo>
                  <a:lnTo>
                    <a:pt x="128524" y="800100"/>
                  </a:lnTo>
                </a:path>
                <a:path w="3638550" h="1333500">
                  <a:moveTo>
                    <a:pt x="471424" y="800100"/>
                  </a:moveTo>
                  <a:lnTo>
                    <a:pt x="738124" y="800100"/>
                  </a:lnTo>
                </a:path>
                <a:path w="3638550" h="1333500">
                  <a:moveTo>
                    <a:pt x="1081024" y="800100"/>
                  </a:moveTo>
                  <a:lnTo>
                    <a:pt x="1519174" y="800100"/>
                  </a:lnTo>
                </a:path>
                <a:path w="3638550" h="1333500">
                  <a:moveTo>
                    <a:pt x="1690624" y="800100"/>
                  </a:moveTo>
                  <a:lnTo>
                    <a:pt x="1947799" y="800100"/>
                  </a:lnTo>
                </a:path>
                <a:path w="3638550" h="1333500">
                  <a:moveTo>
                    <a:pt x="2290699" y="800100"/>
                  </a:moveTo>
                  <a:lnTo>
                    <a:pt x="3338449" y="800100"/>
                  </a:lnTo>
                </a:path>
                <a:path w="3638550" h="1333500">
                  <a:moveTo>
                    <a:pt x="3509899" y="800100"/>
                  </a:moveTo>
                  <a:lnTo>
                    <a:pt x="3638550" y="800100"/>
                  </a:lnTo>
                </a:path>
                <a:path w="3638550" h="1333500">
                  <a:moveTo>
                    <a:pt x="0" y="533400"/>
                  </a:moveTo>
                  <a:lnTo>
                    <a:pt x="299974" y="533400"/>
                  </a:lnTo>
                </a:path>
                <a:path w="3638550" h="1333500">
                  <a:moveTo>
                    <a:pt x="471424" y="533400"/>
                  </a:moveTo>
                  <a:lnTo>
                    <a:pt x="3638550" y="533400"/>
                  </a:lnTo>
                </a:path>
                <a:path w="3638550" h="1333500">
                  <a:moveTo>
                    <a:pt x="0" y="266700"/>
                  </a:moveTo>
                  <a:lnTo>
                    <a:pt x="3638550" y="266700"/>
                  </a:lnTo>
                </a:path>
                <a:path w="3638550" h="1333500">
                  <a:moveTo>
                    <a:pt x="0" y="0"/>
                  </a:moveTo>
                  <a:lnTo>
                    <a:pt x="3638550" y="0"/>
                  </a:lnTo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219700" y="2143124"/>
              <a:ext cx="3209925" cy="923925"/>
            </a:xfrm>
            <a:custGeom>
              <a:avLst/>
              <a:gdLst/>
              <a:ahLst/>
              <a:cxnLst/>
              <a:rect l="l" t="t" r="r" b="b"/>
              <a:pathLst>
                <a:path w="3209925" h="923925">
                  <a:moveTo>
                    <a:pt x="171450" y="0"/>
                  </a:moveTo>
                  <a:lnTo>
                    <a:pt x="0" y="0"/>
                  </a:lnTo>
                  <a:lnTo>
                    <a:pt x="0" y="923925"/>
                  </a:lnTo>
                  <a:lnTo>
                    <a:pt x="171450" y="923925"/>
                  </a:lnTo>
                  <a:lnTo>
                    <a:pt x="171450" y="0"/>
                  </a:lnTo>
                  <a:close/>
                </a:path>
                <a:path w="3209925" h="923925">
                  <a:moveTo>
                    <a:pt x="781050" y="47625"/>
                  </a:moveTo>
                  <a:lnTo>
                    <a:pt x="609600" y="47625"/>
                  </a:lnTo>
                  <a:lnTo>
                    <a:pt x="609600" y="923925"/>
                  </a:lnTo>
                  <a:lnTo>
                    <a:pt x="781050" y="923925"/>
                  </a:lnTo>
                  <a:lnTo>
                    <a:pt x="781050" y="47625"/>
                  </a:lnTo>
                  <a:close/>
                </a:path>
                <a:path w="3209925" h="923925">
                  <a:moveTo>
                    <a:pt x="1390650" y="133350"/>
                  </a:moveTo>
                  <a:lnTo>
                    <a:pt x="1209675" y="133350"/>
                  </a:lnTo>
                  <a:lnTo>
                    <a:pt x="1209675" y="923925"/>
                  </a:lnTo>
                  <a:lnTo>
                    <a:pt x="1390650" y="923925"/>
                  </a:lnTo>
                  <a:lnTo>
                    <a:pt x="1390650" y="133350"/>
                  </a:lnTo>
                  <a:close/>
                </a:path>
                <a:path w="3209925" h="923925">
                  <a:moveTo>
                    <a:pt x="1990725" y="76200"/>
                  </a:moveTo>
                  <a:lnTo>
                    <a:pt x="1819275" y="76200"/>
                  </a:lnTo>
                  <a:lnTo>
                    <a:pt x="1819275" y="923925"/>
                  </a:lnTo>
                  <a:lnTo>
                    <a:pt x="1990725" y="923925"/>
                  </a:lnTo>
                  <a:lnTo>
                    <a:pt x="1990725" y="76200"/>
                  </a:lnTo>
                  <a:close/>
                </a:path>
                <a:path w="3209925" h="923925">
                  <a:moveTo>
                    <a:pt x="2600325" y="400050"/>
                  </a:moveTo>
                  <a:lnTo>
                    <a:pt x="2428875" y="400050"/>
                  </a:lnTo>
                  <a:lnTo>
                    <a:pt x="2428875" y="923925"/>
                  </a:lnTo>
                  <a:lnTo>
                    <a:pt x="2600325" y="923925"/>
                  </a:lnTo>
                  <a:lnTo>
                    <a:pt x="2600325" y="400050"/>
                  </a:lnTo>
                  <a:close/>
                </a:path>
                <a:path w="3209925" h="923925">
                  <a:moveTo>
                    <a:pt x="3209925" y="447675"/>
                  </a:moveTo>
                  <a:lnTo>
                    <a:pt x="3028950" y="447675"/>
                  </a:lnTo>
                  <a:lnTo>
                    <a:pt x="3028950" y="923925"/>
                  </a:lnTo>
                  <a:lnTo>
                    <a:pt x="3209925" y="923925"/>
                  </a:lnTo>
                  <a:lnTo>
                    <a:pt x="3209925" y="447675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391150" y="1981199"/>
              <a:ext cx="3209925" cy="1085850"/>
            </a:xfrm>
            <a:custGeom>
              <a:avLst/>
              <a:gdLst/>
              <a:ahLst/>
              <a:cxnLst/>
              <a:rect l="l" t="t" r="r" b="b"/>
              <a:pathLst>
                <a:path w="3209925" h="1085850">
                  <a:moveTo>
                    <a:pt x="171450" y="0"/>
                  </a:moveTo>
                  <a:lnTo>
                    <a:pt x="0" y="0"/>
                  </a:lnTo>
                  <a:lnTo>
                    <a:pt x="0" y="1085850"/>
                  </a:lnTo>
                  <a:lnTo>
                    <a:pt x="171450" y="1085850"/>
                  </a:lnTo>
                  <a:lnTo>
                    <a:pt x="171450" y="0"/>
                  </a:lnTo>
                  <a:close/>
                </a:path>
                <a:path w="3209925" h="1085850">
                  <a:moveTo>
                    <a:pt x="781050" y="47625"/>
                  </a:moveTo>
                  <a:lnTo>
                    <a:pt x="609600" y="47625"/>
                  </a:lnTo>
                  <a:lnTo>
                    <a:pt x="609600" y="1085850"/>
                  </a:lnTo>
                  <a:lnTo>
                    <a:pt x="781050" y="1085850"/>
                  </a:lnTo>
                  <a:lnTo>
                    <a:pt x="781050" y="47625"/>
                  </a:lnTo>
                  <a:close/>
                </a:path>
                <a:path w="3209925" h="1085850">
                  <a:moveTo>
                    <a:pt x="1390650" y="76200"/>
                  </a:moveTo>
                  <a:lnTo>
                    <a:pt x="1219200" y="76200"/>
                  </a:lnTo>
                  <a:lnTo>
                    <a:pt x="1219200" y="1085850"/>
                  </a:lnTo>
                  <a:lnTo>
                    <a:pt x="1390650" y="1085850"/>
                  </a:lnTo>
                  <a:lnTo>
                    <a:pt x="1390650" y="76200"/>
                  </a:lnTo>
                  <a:close/>
                </a:path>
                <a:path w="3209925" h="1085850">
                  <a:moveTo>
                    <a:pt x="1990725" y="28575"/>
                  </a:moveTo>
                  <a:lnTo>
                    <a:pt x="1819275" y="28575"/>
                  </a:lnTo>
                  <a:lnTo>
                    <a:pt x="1819275" y="1085850"/>
                  </a:lnTo>
                  <a:lnTo>
                    <a:pt x="1990725" y="1085850"/>
                  </a:lnTo>
                  <a:lnTo>
                    <a:pt x="1990725" y="28575"/>
                  </a:lnTo>
                  <a:close/>
                </a:path>
                <a:path w="3209925" h="1085850">
                  <a:moveTo>
                    <a:pt x="2600325" y="342900"/>
                  </a:moveTo>
                  <a:lnTo>
                    <a:pt x="2428875" y="342900"/>
                  </a:lnTo>
                  <a:lnTo>
                    <a:pt x="2428875" y="1085850"/>
                  </a:lnTo>
                  <a:lnTo>
                    <a:pt x="2600325" y="1085850"/>
                  </a:lnTo>
                  <a:lnTo>
                    <a:pt x="2600325" y="342900"/>
                  </a:lnTo>
                  <a:close/>
                </a:path>
                <a:path w="3209925" h="1085850">
                  <a:moveTo>
                    <a:pt x="3209925" y="180975"/>
                  </a:moveTo>
                  <a:lnTo>
                    <a:pt x="3038475" y="180975"/>
                  </a:lnTo>
                  <a:lnTo>
                    <a:pt x="3038475" y="1085850"/>
                  </a:lnTo>
                  <a:lnTo>
                    <a:pt x="3209925" y="1085850"/>
                  </a:lnTo>
                  <a:lnTo>
                    <a:pt x="3209925" y="180975"/>
                  </a:lnTo>
                  <a:close/>
                </a:path>
              </a:pathLst>
            </a:custGeom>
            <a:solidFill>
              <a:srgbClr val="0D93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043550" y="1471676"/>
              <a:ext cx="3686175" cy="1647825"/>
            </a:xfrm>
            <a:custGeom>
              <a:avLst/>
              <a:gdLst/>
              <a:ahLst/>
              <a:cxnLst/>
              <a:rect l="l" t="t" r="r" b="b"/>
              <a:pathLst>
                <a:path w="3686175" h="1647825">
                  <a:moveTo>
                    <a:pt x="47625" y="1600200"/>
                  </a:moveTo>
                  <a:lnTo>
                    <a:pt x="47625" y="0"/>
                  </a:lnTo>
                </a:path>
                <a:path w="3686175" h="1647825">
                  <a:moveTo>
                    <a:pt x="0" y="1600200"/>
                  </a:moveTo>
                  <a:lnTo>
                    <a:pt x="47625" y="1600200"/>
                  </a:lnTo>
                </a:path>
                <a:path w="3686175" h="1647825">
                  <a:moveTo>
                    <a:pt x="0" y="1333500"/>
                  </a:moveTo>
                  <a:lnTo>
                    <a:pt x="47625" y="1333500"/>
                  </a:lnTo>
                </a:path>
                <a:path w="3686175" h="1647825">
                  <a:moveTo>
                    <a:pt x="0" y="1066800"/>
                  </a:moveTo>
                  <a:lnTo>
                    <a:pt x="47625" y="1066800"/>
                  </a:lnTo>
                </a:path>
                <a:path w="3686175" h="1647825">
                  <a:moveTo>
                    <a:pt x="0" y="800100"/>
                  </a:moveTo>
                  <a:lnTo>
                    <a:pt x="47625" y="800100"/>
                  </a:lnTo>
                </a:path>
                <a:path w="3686175" h="1647825">
                  <a:moveTo>
                    <a:pt x="0" y="533400"/>
                  </a:moveTo>
                  <a:lnTo>
                    <a:pt x="47625" y="533400"/>
                  </a:lnTo>
                </a:path>
                <a:path w="3686175" h="1647825">
                  <a:moveTo>
                    <a:pt x="0" y="266700"/>
                  </a:moveTo>
                  <a:lnTo>
                    <a:pt x="47625" y="266700"/>
                  </a:lnTo>
                </a:path>
                <a:path w="3686175" h="1647825">
                  <a:moveTo>
                    <a:pt x="0" y="0"/>
                  </a:moveTo>
                  <a:lnTo>
                    <a:pt x="47625" y="0"/>
                  </a:lnTo>
                </a:path>
                <a:path w="3686175" h="1647825">
                  <a:moveTo>
                    <a:pt x="47625" y="1600200"/>
                  </a:moveTo>
                  <a:lnTo>
                    <a:pt x="3686175" y="1600200"/>
                  </a:lnTo>
                </a:path>
                <a:path w="3686175" h="1647825">
                  <a:moveTo>
                    <a:pt x="47625" y="1600200"/>
                  </a:moveTo>
                  <a:lnTo>
                    <a:pt x="47625" y="1647825"/>
                  </a:lnTo>
                </a:path>
                <a:path w="3686175" h="1647825">
                  <a:moveTo>
                    <a:pt x="647700" y="1600200"/>
                  </a:moveTo>
                  <a:lnTo>
                    <a:pt x="647700" y="1647825"/>
                  </a:lnTo>
                </a:path>
                <a:path w="3686175" h="1647825">
                  <a:moveTo>
                    <a:pt x="1257300" y="1600200"/>
                  </a:moveTo>
                  <a:lnTo>
                    <a:pt x="1257300" y="1647825"/>
                  </a:lnTo>
                </a:path>
                <a:path w="3686175" h="1647825">
                  <a:moveTo>
                    <a:pt x="1866900" y="1600200"/>
                  </a:moveTo>
                  <a:lnTo>
                    <a:pt x="1866900" y="1647825"/>
                  </a:lnTo>
                </a:path>
                <a:path w="3686175" h="1647825">
                  <a:moveTo>
                    <a:pt x="2476500" y="1600200"/>
                  </a:moveTo>
                  <a:lnTo>
                    <a:pt x="2476500" y="1647825"/>
                  </a:lnTo>
                </a:path>
                <a:path w="3686175" h="1647825">
                  <a:moveTo>
                    <a:pt x="3076575" y="1600200"/>
                  </a:moveTo>
                  <a:lnTo>
                    <a:pt x="3076575" y="1647825"/>
                  </a:lnTo>
                </a:path>
                <a:path w="3686175" h="1647825">
                  <a:moveTo>
                    <a:pt x="3686175" y="1600200"/>
                  </a:moveTo>
                  <a:lnTo>
                    <a:pt x="3686175" y="1647825"/>
                  </a:lnTo>
                </a:path>
              </a:pathLst>
            </a:custGeom>
            <a:ln w="12700">
              <a:solidFill>
                <a:srgbClr val="8787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4738115" y="1272476"/>
            <a:ext cx="238125" cy="1891664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755"/>
              </a:spcBef>
            </a:pPr>
            <a:r>
              <a:rPr sz="1200" spc="-50" dirty="0">
                <a:solidFill>
                  <a:srgbClr val="465469"/>
                </a:solidFill>
                <a:latin typeface="Arial MT"/>
                <a:cs typeface="Arial MT"/>
              </a:rPr>
              <a:t>1</a:t>
            </a:r>
            <a:endParaRPr sz="1200">
              <a:latin typeface="Arial MT"/>
              <a:cs typeface="Arial MT"/>
            </a:endParaRPr>
          </a:p>
          <a:p>
            <a:pPr marR="7620" algn="r">
              <a:lnSpc>
                <a:spcPct val="100000"/>
              </a:lnSpc>
              <a:spcBef>
                <a:spcPts val="660"/>
              </a:spcBef>
            </a:pPr>
            <a:r>
              <a:rPr sz="1200" spc="-25" dirty="0">
                <a:solidFill>
                  <a:srgbClr val="465469"/>
                </a:solidFill>
                <a:latin typeface="Arial MT"/>
                <a:cs typeface="Arial MT"/>
              </a:rPr>
              <a:t>0,9</a:t>
            </a:r>
            <a:endParaRPr sz="1200">
              <a:latin typeface="Arial MT"/>
              <a:cs typeface="Arial MT"/>
            </a:endParaRPr>
          </a:p>
          <a:p>
            <a:pPr marR="7620" algn="r">
              <a:lnSpc>
                <a:spcPct val="100000"/>
              </a:lnSpc>
              <a:spcBef>
                <a:spcPts val="660"/>
              </a:spcBef>
            </a:pPr>
            <a:r>
              <a:rPr sz="1200" spc="-25" dirty="0">
                <a:solidFill>
                  <a:srgbClr val="465469"/>
                </a:solidFill>
                <a:latin typeface="Arial MT"/>
                <a:cs typeface="Arial MT"/>
              </a:rPr>
              <a:t>0,8</a:t>
            </a:r>
            <a:endParaRPr sz="1200">
              <a:latin typeface="Arial MT"/>
              <a:cs typeface="Arial MT"/>
            </a:endParaRPr>
          </a:p>
          <a:p>
            <a:pPr marR="7620" algn="r">
              <a:lnSpc>
                <a:spcPct val="100000"/>
              </a:lnSpc>
              <a:spcBef>
                <a:spcPts val="655"/>
              </a:spcBef>
            </a:pPr>
            <a:r>
              <a:rPr sz="1200" spc="-25" dirty="0">
                <a:solidFill>
                  <a:srgbClr val="465469"/>
                </a:solidFill>
                <a:latin typeface="Arial MT"/>
                <a:cs typeface="Arial MT"/>
              </a:rPr>
              <a:t>0,7</a:t>
            </a:r>
            <a:endParaRPr sz="1200">
              <a:latin typeface="Arial MT"/>
              <a:cs typeface="Arial MT"/>
            </a:endParaRPr>
          </a:p>
          <a:p>
            <a:pPr marR="7620" algn="r">
              <a:lnSpc>
                <a:spcPct val="100000"/>
              </a:lnSpc>
              <a:spcBef>
                <a:spcPts val="660"/>
              </a:spcBef>
            </a:pPr>
            <a:r>
              <a:rPr sz="1200" spc="-25" dirty="0">
                <a:solidFill>
                  <a:srgbClr val="465469"/>
                </a:solidFill>
                <a:latin typeface="Arial MT"/>
                <a:cs typeface="Arial MT"/>
              </a:rPr>
              <a:t>0,6</a:t>
            </a:r>
            <a:endParaRPr sz="1200">
              <a:latin typeface="Arial MT"/>
              <a:cs typeface="Arial MT"/>
            </a:endParaRPr>
          </a:p>
          <a:p>
            <a:pPr marR="7620" algn="r">
              <a:lnSpc>
                <a:spcPct val="100000"/>
              </a:lnSpc>
              <a:spcBef>
                <a:spcPts val="660"/>
              </a:spcBef>
            </a:pPr>
            <a:r>
              <a:rPr sz="1200" spc="-25" dirty="0">
                <a:solidFill>
                  <a:srgbClr val="465469"/>
                </a:solidFill>
                <a:latin typeface="Arial MT"/>
                <a:cs typeface="Arial MT"/>
              </a:rPr>
              <a:t>0,5</a:t>
            </a:r>
            <a:endParaRPr sz="1200">
              <a:latin typeface="Arial MT"/>
              <a:cs typeface="Arial MT"/>
            </a:endParaRPr>
          </a:p>
          <a:p>
            <a:pPr marR="7620" algn="r">
              <a:lnSpc>
                <a:spcPct val="100000"/>
              </a:lnSpc>
              <a:spcBef>
                <a:spcPts val="660"/>
              </a:spcBef>
            </a:pPr>
            <a:r>
              <a:rPr sz="1200" spc="-25" dirty="0">
                <a:solidFill>
                  <a:srgbClr val="465469"/>
                </a:solidFill>
                <a:latin typeface="Arial MT"/>
                <a:cs typeface="Arial MT"/>
              </a:rPr>
              <a:t>0,4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338826" y="3136836"/>
            <a:ext cx="11874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465469"/>
                </a:solidFill>
                <a:latin typeface="Arial MT"/>
                <a:cs typeface="Arial MT"/>
              </a:rPr>
              <a:t>F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764144" y="3136836"/>
            <a:ext cx="12763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465469"/>
                </a:solidFill>
                <a:latin typeface="Arial MT"/>
                <a:cs typeface="Arial MT"/>
              </a:rPr>
              <a:t>B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371840" y="3136836"/>
            <a:ext cx="12763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465469"/>
                </a:solidFill>
                <a:latin typeface="Arial MT"/>
                <a:cs typeface="Arial MT"/>
              </a:rPr>
              <a:t>A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5867400" y="3495675"/>
            <a:ext cx="76200" cy="66675"/>
          </a:xfrm>
          <a:custGeom>
            <a:avLst/>
            <a:gdLst/>
            <a:ahLst/>
            <a:cxnLst/>
            <a:rect l="l" t="t" r="r" b="b"/>
            <a:pathLst>
              <a:path w="76200" h="66675">
                <a:moveTo>
                  <a:pt x="76200" y="0"/>
                </a:moveTo>
                <a:lnTo>
                  <a:pt x="0" y="0"/>
                </a:lnTo>
                <a:lnTo>
                  <a:pt x="0" y="66675"/>
                </a:lnTo>
                <a:lnTo>
                  <a:pt x="76200" y="66675"/>
                </a:lnTo>
                <a:lnTo>
                  <a:pt x="76200" y="0"/>
                </a:lnTo>
                <a:close/>
              </a:path>
            </a:pathLst>
          </a:custGeom>
          <a:solidFill>
            <a:srgbClr val="7B39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5942076" y="3136836"/>
            <a:ext cx="750570" cy="477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5315" algn="l"/>
              </a:tabLst>
            </a:pPr>
            <a:r>
              <a:rPr sz="1200" spc="-50" dirty="0">
                <a:solidFill>
                  <a:srgbClr val="465469"/>
                </a:solidFill>
                <a:latin typeface="Arial MT"/>
                <a:cs typeface="Arial MT"/>
              </a:rPr>
              <a:t>E</a:t>
            </a:r>
            <a:r>
              <a:rPr sz="1200" dirty="0">
                <a:solidFill>
                  <a:srgbClr val="465469"/>
                </a:solidFill>
                <a:latin typeface="Arial MT"/>
                <a:cs typeface="Arial MT"/>
              </a:rPr>
              <a:t>	</a:t>
            </a:r>
            <a:r>
              <a:rPr sz="1200" spc="-50" dirty="0">
                <a:solidFill>
                  <a:srgbClr val="465469"/>
                </a:solidFill>
                <a:latin typeface="Arial MT"/>
                <a:cs typeface="Arial MT"/>
              </a:rPr>
              <a:t>D</a:t>
            </a:r>
            <a:endParaRPr sz="1200">
              <a:latin typeface="Arial MT"/>
              <a:cs typeface="Arial MT"/>
            </a:endParaRPr>
          </a:p>
          <a:p>
            <a:pPr marL="34925">
              <a:lnSpc>
                <a:spcPct val="100000"/>
              </a:lnSpc>
              <a:spcBef>
                <a:spcPts val="969"/>
              </a:spcBef>
            </a:pPr>
            <a:r>
              <a:rPr sz="950" dirty="0">
                <a:latin typeface="Calibri"/>
                <a:cs typeface="Calibri"/>
              </a:rPr>
              <a:t>Decision</a:t>
            </a:r>
            <a:r>
              <a:rPr sz="950" spc="185" dirty="0">
                <a:latin typeface="Calibri"/>
                <a:cs typeface="Calibri"/>
              </a:rPr>
              <a:t> </a:t>
            </a:r>
            <a:r>
              <a:rPr sz="950" spc="-20" dirty="0">
                <a:latin typeface="Calibri"/>
                <a:cs typeface="Calibri"/>
              </a:rPr>
              <a:t>Tree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6829425" y="3495675"/>
            <a:ext cx="66675" cy="66675"/>
          </a:xfrm>
          <a:custGeom>
            <a:avLst/>
            <a:gdLst/>
            <a:ahLst/>
            <a:cxnLst/>
            <a:rect l="l" t="t" r="r" b="b"/>
            <a:pathLst>
              <a:path w="66675" h="66675">
                <a:moveTo>
                  <a:pt x="66675" y="0"/>
                </a:moveTo>
                <a:lnTo>
                  <a:pt x="0" y="0"/>
                </a:lnTo>
                <a:lnTo>
                  <a:pt x="0" y="66675"/>
                </a:lnTo>
                <a:lnTo>
                  <a:pt x="66675" y="66675"/>
                </a:lnTo>
                <a:lnTo>
                  <a:pt x="66675" y="0"/>
                </a:lnTo>
                <a:close/>
              </a:path>
            </a:pathLst>
          </a:custGeom>
          <a:solidFill>
            <a:srgbClr val="0D93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6920230" y="3136836"/>
            <a:ext cx="809625" cy="477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511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465469"/>
                </a:solidFill>
                <a:latin typeface="Arial MT"/>
                <a:cs typeface="Arial MT"/>
              </a:rPr>
              <a:t>C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sz="950" dirty="0">
                <a:latin typeface="Calibri"/>
                <a:cs typeface="Calibri"/>
              </a:rPr>
              <a:t>Random</a:t>
            </a:r>
            <a:r>
              <a:rPr sz="950" spc="90" dirty="0">
                <a:latin typeface="Calibri"/>
                <a:cs typeface="Calibri"/>
              </a:rPr>
              <a:t> </a:t>
            </a:r>
            <a:r>
              <a:rPr sz="950" dirty="0">
                <a:latin typeface="Calibri"/>
                <a:cs typeface="Calibri"/>
              </a:rPr>
              <a:t>Fo</a:t>
            </a:r>
            <a:r>
              <a:rPr sz="950" spc="-80" dirty="0">
                <a:latin typeface="Calibri"/>
                <a:cs typeface="Calibri"/>
              </a:rPr>
              <a:t> </a:t>
            </a:r>
            <a:r>
              <a:rPr sz="950" spc="-20" dirty="0">
                <a:latin typeface="Calibri"/>
                <a:cs typeface="Calibri"/>
              </a:rPr>
              <a:t>rest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80987" y="3862387"/>
            <a:ext cx="4114800" cy="914400"/>
          </a:xfrm>
          <a:prstGeom prst="rect">
            <a:avLst/>
          </a:prstGeom>
          <a:solidFill>
            <a:srgbClr val="FDF3C6"/>
          </a:solidFill>
          <a:ln w="12700">
            <a:solidFill>
              <a:srgbClr val="D97705"/>
            </a:solidFill>
          </a:ln>
        </p:spPr>
        <p:txBody>
          <a:bodyPr vert="horz" wrap="square" lIns="0" tIns="1365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75"/>
              </a:spcBef>
            </a:pPr>
            <a:endParaRPr sz="1050">
              <a:latin typeface="Times New Roman"/>
              <a:cs typeface="Times New Roman"/>
            </a:endParaRPr>
          </a:p>
          <a:p>
            <a:pPr marL="130175" marR="310515">
              <a:lnSpc>
                <a:spcPct val="101400"/>
              </a:lnSpc>
            </a:pPr>
            <a:r>
              <a:rPr sz="1050" b="1" dirty="0">
                <a:solidFill>
                  <a:srgbClr val="D97705"/>
                </a:solidFill>
                <a:latin typeface="Calibri"/>
                <a:cs typeface="Calibri"/>
              </a:rPr>
              <a:t>Study</a:t>
            </a:r>
            <a:r>
              <a:rPr sz="1050" b="1" spc="-60" dirty="0">
                <a:solidFill>
                  <a:srgbClr val="D97705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D97705"/>
                </a:solidFill>
                <a:latin typeface="Calibri"/>
                <a:cs typeface="Calibri"/>
              </a:rPr>
              <a:t>Hours</a:t>
            </a:r>
            <a:r>
              <a:rPr sz="1050" b="1" spc="-40" dirty="0">
                <a:solidFill>
                  <a:srgbClr val="D97705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domine</a:t>
            </a:r>
            <a:r>
              <a:rPr sz="1050" spc="2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(27.5%).</a:t>
            </a:r>
            <a:r>
              <a:rPr sz="1050" spc="-1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Les</a:t>
            </a:r>
            <a:r>
              <a:rPr sz="1050" spc="-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3</a:t>
            </a:r>
            <a:r>
              <a:rPr sz="1050" spc="-4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scores</a:t>
            </a:r>
            <a:r>
              <a:rPr sz="1050" spc="-1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matières</a:t>
            </a:r>
            <a:r>
              <a:rPr sz="1050" spc="-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0E172A"/>
                </a:solidFill>
                <a:latin typeface="Calibri"/>
                <a:cs typeface="Calibri"/>
              </a:rPr>
              <a:t>partagent</a:t>
            </a:r>
            <a:r>
              <a:rPr sz="1050" spc="-2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spc="-20" dirty="0">
                <a:solidFill>
                  <a:srgbClr val="0E172A"/>
                </a:solidFill>
                <a:latin typeface="Calibri"/>
                <a:cs typeface="Calibri"/>
              </a:rPr>
              <a:t>~21%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chacun.</a:t>
            </a:r>
            <a:r>
              <a:rPr sz="1050" spc="-6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L'assiduité</a:t>
            </a:r>
            <a:r>
              <a:rPr sz="1050" spc="-3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(5.6%)</a:t>
            </a:r>
            <a:r>
              <a:rPr sz="1050" spc="-4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a un</a:t>
            </a:r>
            <a:r>
              <a:rPr sz="1050" spc="2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impact</a:t>
            </a:r>
            <a:r>
              <a:rPr sz="1050" spc="-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0E172A"/>
                </a:solidFill>
                <a:latin typeface="Calibri"/>
                <a:cs typeface="Calibri"/>
              </a:rPr>
              <a:t>secondaire.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672076" y="3862387"/>
            <a:ext cx="4200525" cy="914400"/>
          </a:xfrm>
          <a:prstGeom prst="rect">
            <a:avLst/>
          </a:prstGeom>
          <a:solidFill>
            <a:srgbClr val="CCFAF0"/>
          </a:solidFill>
          <a:ln w="12700">
            <a:solidFill>
              <a:srgbClr val="0D9387"/>
            </a:solidFill>
          </a:ln>
        </p:spPr>
        <p:txBody>
          <a:bodyPr vert="horz" wrap="square" lIns="0" tIns="1365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75"/>
              </a:spcBef>
            </a:pPr>
            <a:endParaRPr sz="1050">
              <a:latin typeface="Times New Roman"/>
              <a:cs typeface="Times New Roman"/>
            </a:endParaRPr>
          </a:p>
          <a:p>
            <a:pPr marL="133350" marR="415290">
              <a:lnSpc>
                <a:spcPct val="101400"/>
              </a:lnSpc>
            </a:pPr>
            <a:r>
              <a:rPr sz="1050" b="1" dirty="0">
                <a:solidFill>
                  <a:srgbClr val="0D9387"/>
                </a:solidFill>
                <a:latin typeface="Calibri"/>
                <a:cs typeface="Calibri"/>
              </a:rPr>
              <a:t>Random</a:t>
            </a:r>
            <a:r>
              <a:rPr sz="1050" b="1" spc="10" dirty="0">
                <a:solidFill>
                  <a:srgbClr val="0D9387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0D9387"/>
                </a:solidFill>
                <a:latin typeface="Calibri"/>
                <a:cs typeface="Calibri"/>
              </a:rPr>
              <a:t>Forest</a:t>
            </a:r>
            <a:r>
              <a:rPr sz="1050" b="1" spc="25" dirty="0">
                <a:solidFill>
                  <a:srgbClr val="0D9387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surpasse</a:t>
            </a:r>
            <a:r>
              <a:rPr sz="1050" spc="-2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le</a:t>
            </a:r>
            <a:r>
              <a:rPr sz="1050" spc="-2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DT</a:t>
            </a:r>
            <a:r>
              <a:rPr sz="1050" spc="-1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sur</a:t>
            </a:r>
            <a:r>
              <a:rPr sz="1050" spc="-1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0E172A"/>
                </a:solidFill>
                <a:latin typeface="Calibri"/>
                <a:cs typeface="Calibri"/>
              </a:rPr>
              <a:t>toutes</a:t>
            </a:r>
            <a:r>
              <a:rPr sz="1050" spc="-5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les</a:t>
            </a:r>
            <a:r>
              <a:rPr sz="1050" spc="-5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classes,</a:t>
            </a:r>
            <a:r>
              <a:rPr sz="1050" spc="-6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surtout</a:t>
            </a:r>
            <a:r>
              <a:rPr sz="1050" spc="-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sur</a:t>
            </a:r>
            <a:r>
              <a:rPr sz="1050" spc="-1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spc="-25" dirty="0">
                <a:solidFill>
                  <a:srgbClr val="0E172A"/>
                </a:solidFill>
                <a:latin typeface="Calibri"/>
                <a:cs typeface="Calibri"/>
              </a:rPr>
              <a:t>les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notes</a:t>
            </a:r>
            <a:r>
              <a:rPr sz="1050" spc="2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0E172A"/>
                </a:solidFill>
                <a:latin typeface="Calibri"/>
                <a:cs typeface="Calibri"/>
              </a:rPr>
              <a:t>extrêmes</a:t>
            </a:r>
            <a:r>
              <a:rPr sz="1050" spc="-5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A</a:t>
            </a:r>
            <a:r>
              <a:rPr sz="1050" spc="4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0E172A"/>
                </a:solidFill>
                <a:latin typeface="Calibri"/>
                <a:cs typeface="Calibri"/>
              </a:rPr>
              <a:t>(+16pts)</a:t>
            </a:r>
            <a:r>
              <a:rPr sz="1050" spc="-3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et</a:t>
            </a:r>
            <a:r>
              <a:rPr sz="1050" spc="1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B</a:t>
            </a:r>
            <a:r>
              <a:rPr sz="1050" spc="1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(+8pts</a:t>
            </a:r>
            <a:r>
              <a:rPr sz="1050" spc="2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0E172A"/>
                </a:solidFill>
                <a:latin typeface="Calibri"/>
                <a:cs typeface="Calibri"/>
              </a:rPr>
              <a:t>F1-score).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001509" y="4936807"/>
            <a:ext cx="1890395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i="1" dirty="0">
                <a:solidFill>
                  <a:srgbClr val="93A2B8"/>
                </a:solidFill>
                <a:latin typeface="Calibri"/>
                <a:cs typeface="Calibri"/>
              </a:rPr>
              <a:t>Section 3</a:t>
            </a:r>
            <a:r>
              <a:rPr sz="800" i="1" spc="-25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93A2B8"/>
                </a:solidFill>
                <a:latin typeface="Calibri"/>
                <a:cs typeface="Calibri"/>
              </a:rPr>
              <a:t>—</a:t>
            </a:r>
            <a:r>
              <a:rPr sz="800" i="1" spc="-20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93A2B8"/>
                </a:solidFill>
                <a:latin typeface="Calibri"/>
                <a:cs typeface="Calibri"/>
              </a:rPr>
              <a:t>Feature</a:t>
            </a:r>
            <a:r>
              <a:rPr sz="800" i="1" spc="30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800" i="1" spc="-10" dirty="0">
                <a:solidFill>
                  <a:srgbClr val="93A2B8"/>
                </a:solidFill>
                <a:latin typeface="Calibri"/>
                <a:cs typeface="Calibri"/>
              </a:rPr>
              <a:t>Importance</a:t>
            </a:r>
            <a:r>
              <a:rPr sz="800" i="1" spc="-45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93A2B8"/>
                </a:solidFill>
                <a:latin typeface="Calibri"/>
                <a:cs typeface="Calibri"/>
              </a:rPr>
              <a:t>&amp;</a:t>
            </a:r>
            <a:r>
              <a:rPr sz="800" i="1" spc="10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800" i="1" spc="-10" dirty="0">
                <a:solidFill>
                  <a:srgbClr val="93A2B8"/>
                </a:solidFill>
                <a:latin typeface="Calibri"/>
                <a:cs typeface="Calibri"/>
              </a:rPr>
              <a:t>Métriques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586" y="-1523"/>
            <a:ext cx="9152255" cy="927100"/>
            <a:chOff x="-1586" y="-1523"/>
            <a:chExt cx="9152255" cy="927100"/>
          </a:xfrm>
        </p:grpSpPr>
        <p:sp>
          <p:nvSpPr>
            <p:cNvPr id="3" name="object 3"/>
            <p:cNvSpPr/>
            <p:nvPr/>
          </p:nvSpPr>
          <p:spPr>
            <a:xfrm>
              <a:off x="4763" y="4826"/>
              <a:ext cx="9139555" cy="914400"/>
            </a:xfrm>
            <a:custGeom>
              <a:avLst/>
              <a:gdLst/>
              <a:ahLst/>
              <a:cxnLst/>
              <a:rect l="l" t="t" r="r" b="b"/>
              <a:pathLst>
                <a:path w="9139555" h="914400">
                  <a:moveTo>
                    <a:pt x="9139236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39236" y="914400"/>
                  </a:lnTo>
                  <a:lnTo>
                    <a:pt x="9139236" y="0"/>
                  </a:lnTo>
                  <a:close/>
                </a:path>
              </a:pathLst>
            </a:custGeom>
            <a:solidFill>
              <a:srgbClr val="D9770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763" y="4826"/>
              <a:ext cx="9139555" cy="914400"/>
            </a:xfrm>
            <a:custGeom>
              <a:avLst/>
              <a:gdLst/>
              <a:ahLst/>
              <a:cxnLst/>
              <a:rect l="l" t="t" r="r" b="b"/>
              <a:pathLst>
                <a:path w="9139555" h="914400">
                  <a:moveTo>
                    <a:pt x="9139236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39236" y="914400"/>
                  </a:lnTo>
                </a:path>
              </a:pathLst>
            </a:custGeom>
            <a:ln w="12700">
              <a:solidFill>
                <a:srgbClr val="D9770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err="1"/>
              <a:t>Profil</a:t>
            </a:r>
            <a:r>
              <a:rPr spc="-50" dirty="0"/>
              <a:t> </a:t>
            </a:r>
            <a:r>
              <a:rPr dirty="0"/>
              <a:t>Moyen</a:t>
            </a:r>
            <a:r>
              <a:rPr spc="-60" dirty="0"/>
              <a:t> </a:t>
            </a:r>
            <a:r>
              <a:rPr dirty="0"/>
              <a:t>des </a:t>
            </a:r>
            <a:r>
              <a:rPr spc="-10" dirty="0"/>
              <a:t>Étudiants</a:t>
            </a:r>
            <a:r>
              <a:rPr spc="-70" dirty="0"/>
              <a:t> </a:t>
            </a:r>
            <a:r>
              <a:rPr dirty="0"/>
              <a:t>par</a:t>
            </a:r>
            <a:r>
              <a:rPr spc="20" dirty="0"/>
              <a:t> </a:t>
            </a:r>
            <a:r>
              <a:rPr spc="-20" dirty="0"/>
              <a:t>Note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53377" y="612203"/>
            <a:ext cx="257556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i="1" dirty="0">
                <a:solidFill>
                  <a:srgbClr val="FFFFFF"/>
                </a:solidFill>
                <a:latin typeface="Calibri"/>
                <a:cs typeface="Calibri"/>
              </a:rPr>
              <a:t>Comportement</a:t>
            </a:r>
            <a:r>
              <a:rPr sz="1050" i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i="1" spc="-10" dirty="0">
                <a:solidFill>
                  <a:srgbClr val="FFFFFF"/>
                </a:solidFill>
                <a:latin typeface="Calibri"/>
                <a:cs typeface="Calibri"/>
              </a:rPr>
              <a:t>académique </a:t>
            </a:r>
            <a:r>
              <a:rPr sz="1050" i="1" dirty="0">
                <a:solidFill>
                  <a:srgbClr val="FFFFFF"/>
                </a:solidFill>
                <a:latin typeface="Calibri"/>
                <a:cs typeface="Calibri"/>
              </a:rPr>
              <a:t>selon</a:t>
            </a:r>
            <a:r>
              <a:rPr sz="1050" i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FFFFFF"/>
                </a:solidFill>
                <a:latin typeface="Calibri"/>
                <a:cs typeface="Calibri"/>
              </a:rPr>
              <a:t>la</a:t>
            </a:r>
            <a:r>
              <a:rPr sz="1050" i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FFFFFF"/>
                </a:solidFill>
                <a:latin typeface="Calibri"/>
                <a:cs typeface="Calibri"/>
              </a:rPr>
              <a:t>note</a:t>
            </a:r>
            <a:r>
              <a:rPr sz="1050" i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i="1" spc="-10" dirty="0">
                <a:solidFill>
                  <a:srgbClr val="FFFFFF"/>
                </a:solidFill>
                <a:latin typeface="Calibri"/>
                <a:cs typeface="Calibri"/>
              </a:rPr>
              <a:t>finale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428101" y="93726"/>
            <a:ext cx="612775" cy="603250"/>
            <a:chOff x="8428101" y="93726"/>
            <a:chExt cx="612775" cy="603250"/>
          </a:xfrm>
        </p:grpSpPr>
        <p:sp>
          <p:nvSpPr>
            <p:cNvPr id="8" name="object 8"/>
            <p:cNvSpPr/>
            <p:nvPr/>
          </p:nvSpPr>
          <p:spPr>
            <a:xfrm>
              <a:off x="8434451" y="100076"/>
              <a:ext cx="600075" cy="590550"/>
            </a:xfrm>
            <a:custGeom>
              <a:avLst/>
              <a:gdLst/>
              <a:ahLst/>
              <a:cxnLst/>
              <a:rect l="l" t="t" r="r" b="b"/>
              <a:pathLst>
                <a:path w="600075" h="590550">
                  <a:moveTo>
                    <a:pt x="299974" y="0"/>
                  </a:moveTo>
                  <a:lnTo>
                    <a:pt x="251301" y="3861"/>
                  </a:lnTo>
                  <a:lnTo>
                    <a:pt x="205134" y="15041"/>
                  </a:lnTo>
                  <a:lnTo>
                    <a:pt x="162090" y="32935"/>
                  </a:lnTo>
                  <a:lnTo>
                    <a:pt x="122785" y="56936"/>
                  </a:lnTo>
                  <a:lnTo>
                    <a:pt x="87836" y="86439"/>
                  </a:lnTo>
                  <a:lnTo>
                    <a:pt x="57859" y="120837"/>
                  </a:lnTo>
                  <a:lnTo>
                    <a:pt x="33470" y="159526"/>
                  </a:lnTo>
                  <a:lnTo>
                    <a:pt x="15286" y="201899"/>
                  </a:lnTo>
                  <a:lnTo>
                    <a:pt x="3924" y="247350"/>
                  </a:lnTo>
                  <a:lnTo>
                    <a:pt x="0" y="295275"/>
                  </a:lnTo>
                  <a:lnTo>
                    <a:pt x="3924" y="343168"/>
                  </a:lnTo>
                  <a:lnTo>
                    <a:pt x="15286" y="388601"/>
                  </a:lnTo>
                  <a:lnTo>
                    <a:pt x="33470" y="430967"/>
                  </a:lnTo>
                  <a:lnTo>
                    <a:pt x="57859" y="469657"/>
                  </a:lnTo>
                  <a:lnTo>
                    <a:pt x="87836" y="504063"/>
                  </a:lnTo>
                  <a:lnTo>
                    <a:pt x="122785" y="533576"/>
                  </a:lnTo>
                  <a:lnTo>
                    <a:pt x="162090" y="557590"/>
                  </a:lnTo>
                  <a:lnTo>
                    <a:pt x="205134" y="575495"/>
                  </a:lnTo>
                  <a:lnTo>
                    <a:pt x="251301" y="586685"/>
                  </a:lnTo>
                  <a:lnTo>
                    <a:pt x="299974" y="590550"/>
                  </a:lnTo>
                  <a:lnTo>
                    <a:pt x="348650" y="586685"/>
                  </a:lnTo>
                  <a:lnTo>
                    <a:pt x="394826" y="575495"/>
                  </a:lnTo>
                  <a:lnTo>
                    <a:pt x="437884" y="557590"/>
                  </a:lnTo>
                  <a:lnTo>
                    <a:pt x="477207" y="533576"/>
                  </a:lnTo>
                  <a:lnTo>
                    <a:pt x="512175" y="504063"/>
                  </a:lnTo>
                  <a:lnTo>
                    <a:pt x="542171" y="469657"/>
                  </a:lnTo>
                  <a:lnTo>
                    <a:pt x="566577" y="430967"/>
                  </a:lnTo>
                  <a:lnTo>
                    <a:pt x="584775" y="388601"/>
                  </a:lnTo>
                  <a:lnTo>
                    <a:pt x="596147" y="343168"/>
                  </a:lnTo>
                  <a:lnTo>
                    <a:pt x="600075" y="295275"/>
                  </a:lnTo>
                  <a:lnTo>
                    <a:pt x="596147" y="247350"/>
                  </a:lnTo>
                  <a:lnTo>
                    <a:pt x="584775" y="201899"/>
                  </a:lnTo>
                  <a:lnTo>
                    <a:pt x="566577" y="159526"/>
                  </a:lnTo>
                  <a:lnTo>
                    <a:pt x="542171" y="120837"/>
                  </a:lnTo>
                  <a:lnTo>
                    <a:pt x="512175" y="86439"/>
                  </a:lnTo>
                  <a:lnTo>
                    <a:pt x="477207" y="56936"/>
                  </a:lnTo>
                  <a:lnTo>
                    <a:pt x="437884" y="32935"/>
                  </a:lnTo>
                  <a:lnTo>
                    <a:pt x="394826" y="15041"/>
                  </a:lnTo>
                  <a:lnTo>
                    <a:pt x="348650" y="3861"/>
                  </a:lnTo>
                  <a:lnTo>
                    <a:pt x="2999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434451" y="100076"/>
              <a:ext cx="600075" cy="590550"/>
            </a:xfrm>
            <a:custGeom>
              <a:avLst/>
              <a:gdLst/>
              <a:ahLst/>
              <a:cxnLst/>
              <a:rect l="l" t="t" r="r" b="b"/>
              <a:pathLst>
                <a:path w="600075" h="590550">
                  <a:moveTo>
                    <a:pt x="0" y="295275"/>
                  </a:moveTo>
                  <a:lnTo>
                    <a:pt x="3924" y="247350"/>
                  </a:lnTo>
                  <a:lnTo>
                    <a:pt x="15286" y="201899"/>
                  </a:lnTo>
                  <a:lnTo>
                    <a:pt x="33470" y="159526"/>
                  </a:lnTo>
                  <a:lnTo>
                    <a:pt x="57859" y="120837"/>
                  </a:lnTo>
                  <a:lnTo>
                    <a:pt x="87836" y="86439"/>
                  </a:lnTo>
                  <a:lnTo>
                    <a:pt x="122785" y="56936"/>
                  </a:lnTo>
                  <a:lnTo>
                    <a:pt x="162090" y="32935"/>
                  </a:lnTo>
                  <a:lnTo>
                    <a:pt x="205134" y="15041"/>
                  </a:lnTo>
                  <a:lnTo>
                    <a:pt x="251301" y="3861"/>
                  </a:lnTo>
                  <a:lnTo>
                    <a:pt x="299974" y="0"/>
                  </a:lnTo>
                  <a:lnTo>
                    <a:pt x="348650" y="3861"/>
                  </a:lnTo>
                  <a:lnTo>
                    <a:pt x="394826" y="15041"/>
                  </a:lnTo>
                  <a:lnTo>
                    <a:pt x="437884" y="32935"/>
                  </a:lnTo>
                  <a:lnTo>
                    <a:pt x="477207" y="56936"/>
                  </a:lnTo>
                  <a:lnTo>
                    <a:pt x="512175" y="86439"/>
                  </a:lnTo>
                  <a:lnTo>
                    <a:pt x="542171" y="120837"/>
                  </a:lnTo>
                  <a:lnTo>
                    <a:pt x="566577" y="159526"/>
                  </a:lnTo>
                  <a:lnTo>
                    <a:pt x="584775" y="201899"/>
                  </a:lnTo>
                  <a:lnTo>
                    <a:pt x="596147" y="247350"/>
                  </a:lnTo>
                  <a:lnTo>
                    <a:pt x="600075" y="295275"/>
                  </a:lnTo>
                  <a:lnTo>
                    <a:pt x="596147" y="343168"/>
                  </a:lnTo>
                  <a:lnTo>
                    <a:pt x="584775" y="388601"/>
                  </a:lnTo>
                  <a:lnTo>
                    <a:pt x="566577" y="430967"/>
                  </a:lnTo>
                  <a:lnTo>
                    <a:pt x="542171" y="469657"/>
                  </a:lnTo>
                  <a:lnTo>
                    <a:pt x="512175" y="504063"/>
                  </a:lnTo>
                  <a:lnTo>
                    <a:pt x="477207" y="533576"/>
                  </a:lnTo>
                  <a:lnTo>
                    <a:pt x="437884" y="557590"/>
                  </a:lnTo>
                  <a:lnTo>
                    <a:pt x="394826" y="575495"/>
                  </a:lnTo>
                  <a:lnTo>
                    <a:pt x="348650" y="586685"/>
                  </a:lnTo>
                  <a:lnTo>
                    <a:pt x="299974" y="590550"/>
                  </a:lnTo>
                  <a:lnTo>
                    <a:pt x="251301" y="586685"/>
                  </a:lnTo>
                  <a:lnTo>
                    <a:pt x="205134" y="575495"/>
                  </a:lnTo>
                  <a:lnTo>
                    <a:pt x="162090" y="557590"/>
                  </a:lnTo>
                  <a:lnTo>
                    <a:pt x="122785" y="533576"/>
                  </a:lnTo>
                  <a:lnTo>
                    <a:pt x="87836" y="504063"/>
                  </a:lnTo>
                  <a:lnTo>
                    <a:pt x="57859" y="469657"/>
                  </a:lnTo>
                  <a:lnTo>
                    <a:pt x="33470" y="430967"/>
                  </a:lnTo>
                  <a:lnTo>
                    <a:pt x="15286" y="388601"/>
                  </a:lnTo>
                  <a:lnTo>
                    <a:pt x="3924" y="343168"/>
                  </a:lnTo>
                  <a:lnTo>
                    <a:pt x="0" y="29527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8672576" y="245173"/>
            <a:ext cx="12700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-50" dirty="0">
                <a:solidFill>
                  <a:srgbClr val="D97705"/>
                </a:solidFill>
                <a:latin typeface="Calibri"/>
                <a:cs typeface="Calibri"/>
              </a:rPr>
              <a:t>3</a:t>
            </a:r>
            <a:endParaRPr sz="1550">
              <a:latin typeface="Calibri"/>
              <a:cs typeface="Calibri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255587" y="1033525"/>
          <a:ext cx="8610600" cy="21412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43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3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30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430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47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47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3430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2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Note</a:t>
                      </a:r>
                      <a:r>
                        <a:rPr sz="1250" b="1" spc="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06680" marB="0">
                    <a:lnL w="12700">
                      <a:solidFill>
                        <a:srgbClr val="16A249"/>
                      </a:solidFill>
                      <a:prstDash val="solid"/>
                    </a:lnL>
                    <a:lnR w="12700">
                      <a:solidFill>
                        <a:srgbClr val="16A249"/>
                      </a:solidFill>
                      <a:prstDash val="solid"/>
                    </a:lnR>
                    <a:lnT w="12700">
                      <a:solidFill>
                        <a:srgbClr val="16A249"/>
                      </a:solidFill>
                      <a:prstDash val="solid"/>
                    </a:lnT>
                    <a:lnB w="12700">
                      <a:solidFill>
                        <a:srgbClr val="16A249"/>
                      </a:solidFill>
                      <a:prstDash val="solid"/>
                    </a:lnB>
                    <a:solidFill>
                      <a:srgbClr val="16A2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16A249"/>
                      </a:solidFill>
                      <a:prstDash val="solid"/>
                    </a:lnL>
                    <a:lnR w="12700">
                      <a:solidFill>
                        <a:srgbClr val="64A20D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2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Note</a:t>
                      </a:r>
                      <a:r>
                        <a:rPr sz="1250" b="1" spc="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06680" marB="0">
                    <a:lnL w="12700">
                      <a:solidFill>
                        <a:srgbClr val="64A20D"/>
                      </a:solidFill>
                      <a:prstDash val="solid"/>
                    </a:lnL>
                    <a:lnR w="12700">
                      <a:solidFill>
                        <a:srgbClr val="64A20D"/>
                      </a:solidFill>
                      <a:prstDash val="solid"/>
                    </a:lnR>
                    <a:lnT w="12700">
                      <a:solidFill>
                        <a:srgbClr val="64A20D"/>
                      </a:solidFill>
                      <a:prstDash val="solid"/>
                    </a:lnT>
                    <a:lnB w="12700">
                      <a:solidFill>
                        <a:srgbClr val="64A20D"/>
                      </a:solidFill>
                      <a:prstDash val="solid"/>
                    </a:lnB>
                    <a:solidFill>
                      <a:srgbClr val="64A20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4A20D"/>
                      </a:solidFill>
                      <a:prstDash val="solid"/>
                    </a:lnL>
                    <a:lnR w="12700">
                      <a:solidFill>
                        <a:srgbClr val="D9770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2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Note</a:t>
                      </a:r>
                      <a:r>
                        <a:rPr sz="1250" b="1" spc="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06680" marB="0">
                    <a:lnL w="12700">
                      <a:solidFill>
                        <a:srgbClr val="D97705"/>
                      </a:solidFill>
                      <a:prstDash val="solid"/>
                    </a:lnL>
                    <a:lnR w="12700">
                      <a:solidFill>
                        <a:srgbClr val="D97705"/>
                      </a:solidFill>
                      <a:prstDash val="solid"/>
                    </a:lnR>
                    <a:lnT w="12700">
                      <a:solidFill>
                        <a:srgbClr val="D97705"/>
                      </a:solidFill>
                      <a:prstDash val="solid"/>
                    </a:lnT>
                    <a:lnB w="12700">
                      <a:solidFill>
                        <a:srgbClr val="D97705"/>
                      </a:solidFill>
                      <a:prstDash val="solid"/>
                    </a:lnB>
                    <a:solidFill>
                      <a:srgbClr val="D977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7705"/>
                      </a:solidFill>
                      <a:prstDash val="solid"/>
                    </a:lnL>
                    <a:lnR w="12700">
                      <a:solidFill>
                        <a:srgbClr val="EA570C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2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Note</a:t>
                      </a:r>
                      <a:r>
                        <a:rPr sz="1250" b="1" spc="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06680" marB="0">
                    <a:lnL w="12700">
                      <a:solidFill>
                        <a:srgbClr val="EA570C"/>
                      </a:solidFill>
                      <a:prstDash val="solid"/>
                    </a:lnL>
                    <a:lnR w="12700">
                      <a:solidFill>
                        <a:srgbClr val="EA570C"/>
                      </a:solidFill>
                      <a:prstDash val="solid"/>
                    </a:lnR>
                    <a:lnT w="12700">
                      <a:solidFill>
                        <a:srgbClr val="EA570C"/>
                      </a:solidFill>
                      <a:prstDash val="solid"/>
                    </a:lnT>
                    <a:lnB w="12700">
                      <a:solidFill>
                        <a:srgbClr val="EA570C"/>
                      </a:solidFill>
                      <a:prstDash val="solid"/>
                    </a:lnB>
                    <a:solidFill>
                      <a:srgbClr val="EA57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EA570C"/>
                      </a:solidFill>
                      <a:prstDash val="solid"/>
                    </a:lnL>
                    <a:lnR w="12700">
                      <a:solidFill>
                        <a:srgbClr val="DC252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2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Note</a:t>
                      </a:r>
                      <a:r>
                        <a:rPr sz="1250" b="1" spc="5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06680" marB="0">
                    <a:lnL w="12700">
                      <a:solidFill>
                        <a:srgbClr val="DC2525"/>
                      </a:solidFill>
                      <a:prstDash val="solid"/>
                    </a:lnL>
                    <a:lnR w="12700">
                      <a:solidFill>
                        <a:srgbClr val="DC2525"/>
                      </a:solidFill>
                      <a:prstDash val="solid"/>
                    </a:lnR>
                    <a:lnT w="12700">
                      <a:solidFill>
                        <a:srgbClr val="DC2525"/>
                      </a:solidFill>
                      <a:prstDash val="solid"/>
                    </a:lnT>
                    <a:lnB w="12700">
                      <a:solidFill>
                        <a:srgbClr val="DC2525"/>
                      </a:solidFill>
                      <a:prstDash val="solid"/>
                    </a:lnB>
                    <a:solidFill>
                      <a:srgbClr val="DC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C2525"/>
                      </a:solidFill>
                      <a:prstDash val="solid"/>
                    </a:lnL>
                    <a:lnR w="12700">
                      <a:solidFill>
                        <a:srgbClr val="7B39EC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2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Note</a:t>
                      </a:r>
                      <a:r>
                        <a:rPr sz="1250" b="1" spc="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06680" marB="0">
                    <a:lnL w="12700">
                      <a:solidFill>
                        <a:srgbClr val="7B39EC"/>
                      </a:solidFill>
                      <a:prstDash val="solid"/>
                    </a:lnL>
                    <a:lnR w="12700">
                      <a:solidFill>
                        <a:srgbClr val="7B39EC"/>
                      </a:solidFill>
                      <a:prstDash val="solid"/>
                    </a:lnR>
                    <a:lnT w="12700">
                      <a:solidFill>
                        <a:srgbClr val="7B39EC"/>
                      </a:solidFill>
                      <a:prstDash val="solid"/>
                    </a:lnT>
                    <a:lnB w="12700">
                      <a:solidFill>
                        <a:srgbClr val="7B39EC"/>
                      </a:solidFill>
                      <a:prstDash val="solid"/>
                    </a:lnB>
                    <a:solidFill>
                      <a:srgbClr val="7B39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585">
                <a:tc>
                  <a:txBody>
                    <a:bodyPr/>
                    <a:lstStyle/>
                    <a:p>
                      <a:pPr marR="3175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800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Score</a:t>
                      </a:r>
                      <a:r>
                        <a:rPr sz="800" spc="-60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20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moy.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73025" marB="0">
                    <a:lnL w="12700">
                      <a:solidFill>
                        <a:srgbClr val="16A249"/>
                      </a:solidFill>
                      <a:prstDash val="solid"/>
                    </a:lnL>
                    <a:lnR w="12700">
                      <a:solidFill>
                        <a:srgbClr val="16A249"/>
                      </a:solidFill>
                      <a:prstDash val="solid"/>
                    </a:lnR>
                    <a:lnT w="12700">
                      <a:solidFill>
                        <a:srgbClr val="16A249"/>
                      </a:solidFill>
                      <a:prstDash val="solid"/>
                    </a:lnT>
                    <a:solidFill>
                      <a:srgbClr val="16A249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16A249"/>
                      </a:solidFill>
                      <a:prstDash val="solid"/>
                    </a:lnL>
                    <a:lnR w="12700">
                      <a:solidFill>
                        <a:srgbClr val="64A20D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5080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800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Score</a:t>
                      </a:r>
                      <a:r>
                        <a:rPr sz="800" spc="-35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20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moy.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73025" marB="0">
                    <a:lnL w="12700">
                      <a:solidFill>
                        <a:srgbClr val="64A20D"/>
                      </a:solidFill>
                      <a:prstDash val="solid"/>
                    </a:lnL>
                    <a:lnR w="12700">
                      <a:solidFill>
                        <a:srgbClr val="64A20D"/>
                      </a:solidFill>
                      <a:prstDash val="solid"/>
                    </a:lnR>
                    <a:lnT w="12700">
                      <a:solidFill>
                        <a:srgbClr val="64A20D"/>
                      </a:solidFill>
                      <a:prstDash val="solid"/>
                    </a:lnT>
                    <a:solidFill>
                      <a:srgbClr val="64A20D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4A20D"/>
                      </a:solidFill>
                      <a:prstDash val="solid"/>
                    </a:lnL>
                    <a:lnR w="12700">
                      <a:solidFill>
                        <a:srgbClr val="D9770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800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Score</a:t>
                      </a:r>
                      <a:r>
                        <a:rPr sz="800" spc="-40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20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moy.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73025" marB="0">
                    <a:lnL w="12700">
                      <a:solidFill>
                        <a:srgbClr val="D97705"/>
                      </a:solidFill>
                      <a:prstDash val="solid"/>
                    </a:lnL>
                    <a:lnR w="12700">
                      <a:solidFill>
                        <a:srgbClr val="D97705"/>
                      </a:solidFill>
                      <a:prstDash val="solid"/>
                    </a:lnR>
                    <a:lnT w="12700">
                      <a:solidFill>
                        <a:srgbClr val="D97705"/>
                      </a:solidFill>
                      <a:prstDash val="solid"/>
                    </a:lnT>
                    <a:solidFill>
                      <a:srgbClr val="D97705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7705"/>
                      </a:solidFill>
                      <a:prstDash val="solid"/>
                    </a:lnL>
                    <a:lnR w="12700">
                      <a:solidFill>
                        <a:srgbClr val="EA570C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800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Score</a:t>
                      </a:r>
                      <a:r>
                        <a:rPr sz="800" spc="-55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20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moy.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73025" marB="0">
                    <a:lnL w="12700">
                      <a:solidFill>
                        <a:srgbClr val="EA570C"/>
                      </a:solidFill>
                      <a:prstDash val="solid"/>
                    </a:lnL>
                    <a:lnR w="12700">
                      <a:solidFill>
                        <a:srgbClr val="EA570C"/>
                      </a:solidFill>
                      <a:prstDash val="solid"/>
                    </a:lnR>
                    <a:lnT w="12700">
                      <a:solidFill>
                        <a:srgbClr val="EA570C"/>
                      </a:solidFill>
                      <a:prstDash val="solid"/>
                    </a:lnT>
                    <a:solidFill>
                      <a:srgbClr val="EA570C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EA570C"/>
                      </a:solidFill>
                      <a:prstDash val="solid"/>
                    </a:lnL>
                    <a:lnR w="12700">
                      <a:solidFill>
                        <a:srgbClr val="DC252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800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Score</a:t>
                      </a:r>
                      <a:r>
                        <a:rPr sz="800" spc="-60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20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moy.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73025" marB="0">
                    <a:lnL w="12700">
                      <a:solidFill>
                        <a:srgbClr val="DC2525"/>
                      </a:solidFill>
                      <a:prstDash val="solid"/>
                    </a:lnL>
                    <a:lnR w="12700">
                      <a:solidFill>
                        <a:srgbClr val="DC2525"/>
                      </a:solidFill>
                      <a:prstDash val="solid"/>
                    </a:lnR>
                    <a:lnT w="12700">
                      <a:solidFill>
                        <a:srgbClr val="DC2525"/>
                      </a:solidFill>
                      <a:prstDash val="solid"/>
                    </a:lnT>
                    <a:solidFill>
                      <a:srgbClr val="DC2525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C2525"/>
                      </a:solidFill>
                      <a:prstDash val="solid"/>
                    </a:lnL>
                    <a:lnR w="12700">
                      <a:solidFill>
                        <a:srgbClr val="7B39EC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800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Score</a:t>
                      </a:r>
                      <a:r>
                        <a:rPr sz="800" spc="-60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20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moy.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73025" marB="0">
                    <a:lnL w="12700">
                      <a:solidFill>
                        <a:srgbClr val="7B39EC"/>
                      </a:solidFill>
                      <a:prstDash val="solid"/>
                    </a:lnL>
                    <a:lnR w="12700">
                      <a:solidFill>
                        <a:srgbClr val="7B39EC"/>
                      </a:solidFill>
                      <a:prstDash val="solid"/>
                    </a:lnR>
                    <a:lnT w="12700">
                      <a:solidFill>
                        <a:srgbClr val="7B39EC"/>
                      </a:solidFill>
                      <a:prstDash val="solid"/>
                    </a:lnT>
                    <a:solidFill>
                      <a:srgbClr val="7B39EC">
                        <a:alpha val="1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500" b="1" spc="-20" dirty="0">
                          <a:solidFill>
                            <a:srgbClr val="16A249"/>
                          </a:solidFill>
                          <a:latin typeface="Calibri"/>
                          <a:cs typeface="Calibri"/>
                        </a:rPr>
                        <a:t>98.4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16A249"/>
                      </a:solidFill>
                      <a:prstDash val="solid"/>
                    </a:lnL>
                    <a:lnR w="12700">
                      <a:solidFill>
                        <a:srgbClr val="16A249"/>
                      </a:solidFill>
                      <a:prstDash val="solid"/>
                    </a:lnR>
                    <a:solidFill>
                      <a:srgbClr val="16A249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16A249"/>
                      </a:solidFill>
                      <a:prstDash val="solid"/>
                    </a:lnL>
                    <a:lnR w="12700">
                      <a:solidFill>
                        <a:srgbClr val="64A20D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500" b="1" spc="-20" dirty="0">
                          <a:solidFill>
                            <a:srgbClr val="64A20D"/>
                          </a:solidFill>
                          <a:latin typeface="Calibri"/>
                          <a:cs typeface="Calibri"/>
                        </a:rPr>
                        <a:t>89.4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64A20D"/>
                      </a:solidFill>
                      <a:prstDash val="solid"/>
                    </a:lnL>
                    <a:lnR w="12700">
                      <a:solidFill>
                        <a:srgbClr val="64A20D"/>
                      </a:solidFill>
                      <a:prstDash val="solid"/>
                    </a:lnR>
                    <a:solidFill>
                      <a:srgbClr val="64A20D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4A20D"/>
                      </a:solidFill>
                      <a:prstDash val="solid"/>
                    </a:lnL>
                    <a:lnR w="12700">
                      <a:solidFill>
                        <a:srgbClr val="D9770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500" b="1" spc="-20" dirty="0">
                          <a:solidFill>
                            <a:srgbClr val="D97705"/>
                          </a:solidFill>
                          <a:latin typeface="Calibri"/>
                          <a:cs typeface="Calibri"/>
                        </a:rPr>
                        <a:t>77.3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D97705"/>
                      </a:solidFill>
                      <a:prstDash val="solid"/>
                    </a:lnL>
                    <a:lnR w="12700">
                      <a:solidFill>
                        <a:srgbClr val="D97705"/>
                      </a:solidFill>
                      <a:prstDash val="solid"/>
                    </a:lnR>
                    <a:solidFill>
                      <a:srgbClr val="D97705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7705"/>
                      </a:solidFill>
                      <a:prstDash val="solid"/>
                    </a:lnL>
                    <a:lnR w="12700">
                      <a:solidFill>
                        <a:srgbClr val="EA570C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500" b="1" spc="-20" dirty="0">
                          <a:solidFill>
                            <a:srgbClr val="EA570C"/>
                          </a:solidFill>
                          <a:latin typeface="Calibri"/>
                          <a:cs typeface="Calibri"/>
                        </a:rPr>
                        <a:t>62.5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EA570C"/>
                      </a:solidFill>
                      <a:prstDash val="solid"/>
                    </a:lnL>
                    <a:lnR w="12700">
                      <a:solidFill>
                        <a:srgbClr val="EA570C"/>
                      </a:solidFill>
                      <a:prstDash val="solid"/>
                    </a:lnR>
                    <a:solidFill>
                      <a:srgbClr val="EA570C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EA570C"/>
                      </a:solidFill>
                      <a:prstDash val="solid"/>
                    </a:lnL>
                    <a:lnR w="12700">
                      <a:solidFill>
                        <a:srgbClr val="DC252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500" b="1" spc="-20" dirty="0">
                          <a:solidFill>
                            <a:srgbClr val="DC2525"/>
                          </a:solidFill>
                          <a:latin typeface="Calibri"/>
                          <a:cs typeface="Calibri"/>
                        </a:rPr>
                        <a:t>47.8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DC2525"/>
                      </a:solidFill>
                      <a:prstDash val="solid"/>
                    </a:lnL>
                    <a:lnR w="12700">
                      <a:solidFill>
                        <a:srgbClr val="DC2525"/>
                      </a:solidFill>
                      <a:prstDash val="solid"/>
                    </a:lnR>
                    <a:solidFill>
                      <a:srgbClr val="DC2525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C2525"/>
                      </a:solidFill>
                      <a:prstDash val="solid"/>
                    </a:lnL>
                    <a:lnR w="12700">
                      <a:solidFill>
                        <a:srgbClr val="7B39EC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500" b="1" spc="-20" dirty="0">
                          <a:solidFill>
                            <a:srgbClr val="7B39EC"/>
                          </a:solidFill>
                          <a:latin typeface="Calibri"/>
                          <a:cs typeface="Calibri"/>
                        </a:rPr>
                        <a:t>33.5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7B39EC"/>
                      </a:solidFill>
                      <a:prstDash val="solid"/>
                    </a:lnL>
                    <a:lnR w="12700">
                      <a:solidFill>
                        <a:srgbClr val="7B39EC"/>
                      </a:solidFill>
                      <a:prstDash val="solid"/>
                    </a:lnR>
                    <a:solidFill>
                      <a:srgbClr val="7B39EC">
                        <a:alpha val="1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800" spc="-10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Étude/j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16A249"/>
                      </a:solidFill>
                      <a:prstDash val="solid"/>
                    </a:lnL>
                    <a:lnR w="12700">
                      <a:solidFill>
                        <a:srgbClr val="16A249"/>
                      </a:solidFill>
                      <a:prstDash val="solid"/>
                    </a:lnR>
                    <a:solidFill>
                      <a:srgbClr val="16A249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16A249"/>
                      </a:solidFill>
                      <a:prstDash val="solid"/>
                    </a:lnL>
                    <a:lnR w="12700">
                      <a:solidFill>
                        <a:srgbClr val="64A20D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800" spc="-10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Étude/j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64A20D"/>
                      </a:solidFill>
                      <a:prstDash val="solid"/>
                    </a:lnL>
                    <a:lnR w="12700">
                      <a:solidFill>
                        <a:srgbClr val="64A20D"/>
                      </a:solidFill>
                      <a:prstDash val="solid"/>
                    </a:lnR>
                    <a:solidFill>
                      <a:srgbClr val="64A20D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4A20D"/>
                      </a:solidFill>
                      <a:prstDash val="solid"/>
                    </a:lnL>
                    <a:lnR w="12700">
                      <a:solidFill>
                        <a:srgbClr val="D9770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800" spc="-10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Étude/j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D97705"/>
                      </a:solidFill>
                      <a:prstDash val="solid"/>
                    </a:lnL>
                    <a:lnR w="12700">
                      <a:solidFill>
                        <a:srgbClr val="D97705"/>
                      </a:solidFill>
                      <a:prstDash val="solid"/>
                    </a:lnR>
                    <a:solidFill>
                      <a:srgbClr val="D97705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7705"/>
                      </a:solidFill>
                      <a:prstDash val="solid"/>
                    </a:lnL>
                    <a:lnR w="12700">
                      <a:solidFill>
                        <a:srgbClr val="EA570C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800" spc="-10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Étude/j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EA570C"/>
                      </a:solidFill>
                      <a:prstDash val="solid"/>
                    </a:lnL>
                    <a:lnR w="12700">
                      <a:solidFill>
                        <a:srgbClr val="EA570C"/>
                      </a:solidFill>
                      <a:prstDash val="solid"/>
                    </a:lnR>
                    <a:solidFill>
                      <a:srgbClr val="EA570C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EA570C"/>
                      </a:solidFill>
                      <a:prstDash val="solid"/>
                    </a:lnL>
                    <a:lnR w="12700">
                      <a:solidFill>
                        <a:srgbClr val="DC252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800" spc="-10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Étude/j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DC2525"/>
                      </a:solidFill>
                      <a:prstDash val="solid"/>
                    </a:lnL>
                    <a:lnR w="12700">
                      <a:solidFill>
                        <a:srgbClr val="DC2525"/>
                      </a:solidFill>
                      <a:prstDash val="solid"/>
                    </a:lnR>
                    <a:solidFill>
                      <a:srgbClr val="DC2525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C2525"/>
                      </a:solidFill>
                      <a:prstDash val="solid"/>
                    </a:lnL>
                    <a:lnR w="12700">
                      <a:solidFill>
                        <a:srgbClr val="7B39EC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714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800" spc="-10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Étude/j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7B39EC"/>
                      </a:solidFill>
                      <a:prstDash val="solid"/>
                    </a:lnL>
                    <a:lnR w="12700">
                      <a:solidFill>
                        <a:srgbClr val="7B39EC"/>
                      </a:solidFill>
                      <a:prstDash val="solid"/>
                    </a:lnR>
                    <a:solidFill>
                      <a:srgbClr val="7B39EC">
                        <a:alpha val="1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250" b="1" spc="-2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7.4h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16A249"/>
                      </a:solidFill>
                      <a:prstDash val="solid"/>
                    </a:lnL>
                    <a:lnR w="12700">
                      <a:solidFill>
                        <a:srgbClr val="16A249"/>
                      </a:solidFill>
                      <a:prstDash val="solid"/>
                    </a:lnR>
                    <a:solidFill>
                      <a:srgbClr val="16A249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16A249"/>
                      </a:solidFill>
                      <a:prstDash val="solid"/>
                    </a:lnL>
                    <a:lnR w="12700">
                      <a:solidFill>
                        <a:srgbClr val="64A20D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10160"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250" b="1" spc="-2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6.9h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64A20D"/>
                      </a:solidFill>
                      <a:prstDash val="solid"/>
                    </a:lnL>
                    <a:lnR w="12700">
                      <a:solidFill>
                        <a:srgbClr val="64A20D"/>
                      </a:solidFill>
                      <a:prstDash val="solid"/>
                    </a:lnR>
                    <a:solidFill>
                      <a:srgbClr val="64A20D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4A20D"/>
                      </a:solidFill>
                      <a:prstDash val="solid"/>
                    </a:lnL>
                    <a:lnR w="12700">
                      <a:solidFill>
                        <a:srgbClr val="D9770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250" b="1" spc="-2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5.8h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D97705"/>
                      </a:solidFill>
                      <a:prstDash val="solid"/>
                    </a:lnL>
                    <a:lnR w="12700">
                      <a:solidFill>
                        <a:srgbClr val="D97705"/>
                      </a:solidFill>
                      <a:prstDash val="solid"/>
                    </a:lnR>
                    <a:solidFill>
                      <a:srgbClr val="D97705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7705"/>
                      </a:solidFill>
                      <a:prstDash val="solid"/>
                    </a:lnL>
                    <a:lnR w="12700">
                      <a:solidFill>
                        <a:srgbClr val="EA570C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250" b="1" spc="-2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4.1h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EA570C"/>
                      </a:solidFill>
                      <a:prstDash val="solid"/>
                    </a:lnL>
                    <a:lnR w="12700">
                      <a:solidFill>
                        <a:srgbClr val="EA570C"/>
                      </a:solidFill>
                      <a:prstDash val="solid"/>
                    </a:lnR>
                    <a:solidFill>
                      <a:srgbClr val="EA570C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EA570C"/>
                      </a:solidFill>
                      <a:prstDash val="solid"/>
                    </a:lnL>
                    <a:lnR w="12700">
                      <a:solidFill>
                        <a:srgbClr val="DC252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250" b="1" spc="-2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2.3h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DC2525"/>
                      </a:solidFill>
                      <a:prstDash val="solid"/>
                    </a:lnL>
                    <a:lnR w="12700">
                      <a:solidFill>
                        <a:srgbClr val="DC2525"/>
                      </a:solidFill>
                      <a:prstDash val="solid"/>
                    </a:lnR>
                    <a:solidFill>
                      <a:srgbClr val="DC2525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C2525"/>
                      </a:solidFill>
                      <a:prstDash val="solid"/>
                    </a:lnL>
                    <a:lnR w="12700">
                      <a:solidFill>
                        <a:srgbClr val="7B39EC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250" b="1" spc="-2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1.3h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7B39EC"/>
                      </a:solidFill>
                      <a:prstDash val="solid"/>
                    </a:lnL>
                    <a:lnR w="12700">
                      <a:solidFill>
                        <a:srgbClr val="7B39EC"/>
                      </a:solidFill>
                      <a:prstDash val="solid"/>
                    </a:lnR>
                    <a:solidFill>
                      <a:srgbClr val="7B39EC">
                        <a:alpha val="1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7485">
                <a:tc>
                  <a:txBody>
                    <a:bodyPr/>
                    <a:lstStyle/>
                    <a:p>
                      <a:pPr marR="317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800" spc="-10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Assiduité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16A249"/>
                      </a:solidFill>
                      <a:prstDash val="solid"/>
                    </a:lnL>
                    <a:lnR w="12700">
                      <a:solidFill>
                        <a:srgbClr val="16A249"/>
                      </a:solidFill>
                      <a:prstDash val="solid"/>
                    </a:lnR>
                    <a:solidFill>
                      <a:srgbClr val="16A249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16A249"/>
                      </a:solidFill>
                      <a:prstDash val="solid"/>
                    </a:lnL>
                    <a:lnR w="12700">
                      <a:solidFill>
                        <a:srgbClr val="64A20D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698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800" spc="-10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Assiduité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64A20D"/>
                      </a:solidFill>
                      <a:prstDash val="solid"/>
                    </a:lnL>
                    <a:lnR w="12700">
                      <a:solidFill>
                        <a:srgbClr val="64A20D"/>
                      </a:solidFill>
                      <a:prstDash val="solid"/>
                    </a:lnR>
                    <a:solidFill>
                      <a:srgbClr val="64A20D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4A20D"/>
                      </a:solidFill>
                      <a:prstDash val="solid"/>
                    </a:lnL>
                    <a:lnR w="12700">
                      <a:solidFill>
                        <a:srgbClr val="D9770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800" spc="-10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Assiduité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D97705"/>
                      </a:solidFill>
                      <a:prstDash val="solid"/>
                    </a:lnL>
                    <a:lnR w="12700">
                      <a:solidFill>
                        <a:srgbClr val="D97705"/>
                      </a:solidFill>
                      <a:prstDash val="solid"/>
                    </a:lnR>
                    <a:solidFill>
                      <a:srgbClr val="D97705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7705"/>
                      </a:solidFill>
                      <a:prstDash val="solid"/>
                    </a:lnL>
                    <a:lnR w="12700">
                      <a:solidFill>
                        <a:srgbClr val="EA570C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800" spc="-10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Assiduité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EA570C"/>
                      </a:solidFill>
                      <a:prstDash val="solid"/>
                    </a:lnL>
                    <a:lnR w="12700">
                      <a:solidFill>
                        <a:srgbClr val="EA570C"/>
                      </a:solidFill>
                      <a:prstDash val="solid"/>
                    </a:lnR>
                    <a:solidFill>
                      <a:srgbClr val="EA570C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EA570C"/>
                      </a:solidFill>
                      <a:prstDash val="solid"/>
                    </a:lnL>
                    <a:lnR w="12700">
                      <a:solidFill>
                        <a:srgbClr val="DC252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800" spc="-10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Assiduité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DC2525"/>
                      </a:solidFill>
                      <a:prstDash val="solid"/>
                    </a:lnL>
                    <a:lnR w="12700">
                      <a:solidFill>
                        <a:srgbClr val="DC2525"/>
                      </a:solidFill>
                      <a:prstDash val="solid"/>
                    </a:lnR>
                    <a:solidFill>
                      <a:srgbClr val="DC2525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C2525"/>
                      </a:solidFill>
                      <a:prstDash val="solid"/>
                    </a:lnL>
                    <a:lnR w="12700">
                      <a:solidFill>
                        <a:srgbClr val="7B39EC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800" spc="-10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Assiduité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7B39EC"/>
                      </a:solidFill>
                      <a:prstDash val="solid"/>
                    </a:lnL>
                    <a:lnR w="12700">
                      <a:solidFill>
                        <a:srgbClr val="7B39EC"/>
                      </a:solidFill>
                      <a:prstDash val="solid"/>
                    </a:lnR>
                    <a:solidFill>
                      <a:srgbClr val="7B39EC">
                        <a:alpha val="1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200" b="1" spc="-1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88.0%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16A249"/>
                      </a:solidFill>
                      <a:prstDash val="solid"/>
                    </a:lnL>
                    <a:lnR w="12700">
                      <a:solidFill>
                        <a:srgbClr val="16A249"/>
                      </a:solidFill>
                      <a:prstDash val="solid"/>
                    </a:lnR>
                    <a:lnB w="12700">
                      <a:solidFill>
                        <a:srgbClr val="16A249"/>
                      </a:solidFill>
                      <a:prstDash val="solid"/>
                    </a:lnB>
                    <a:solidFill>
                      <a:srgbClr val="16A249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16A249"/>
                      </a:solidFill>
                      <a:prstDash val="solid"/>
                    </a:lnL>
                    <a:lnR w="12700">
                      <a:solidFill>
                        <a:srgbClr val="64A20D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200" b="1" spc="-1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79.4%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64A20D"/>
                      </a:solidFill>
                      <a:prstDash val="solid"/>
                    </a:lnL>
                    <a:lnR w="12700">
                      <a:solidFill>
                        <a:srgbClr val="64A20D"/>
                      </a:solidFill>
                      <a:prstDash val="solid"/>
                    </a:lnR>
                    <a:lnB w="12700">
                      <a:solidFill>
                        <a:srgbClr val="64A20D"/>
                      </a:solidFill>
                      <a:prstDash val="solid"/>
                    </a:lnB>
                    <a:solidFill>
                      <a:srgbClr val="64A20D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4A20D"/>
                      </a:solidFill>
                      <a:prstDash val="solid"/>
                    </a:lnL>
                    <a:lnR w="12700">
                      <a:solidFill>
                        <a:srgbClr val="D9770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200" b="1" spc="-1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75.9%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D97705"/>
                      </a:solidFill>
                      <a:prstDash val="solid"/>
                    </a:lnL>
                    <a:lnR w="12700">
                      <a:solidFill>
                        <a:srgbClr val="D97705"/>
                      </a:solidFill>
                      <a:prstDash val="solid"/>
                    </a:lnR>
                    <a:lnB w="12700">
                      <a:solidFill>
                        <a:srgbClr val="D97705"/>
                      </a:solidFill>
                      <a:prstDash val="solid"/>
                    </a:lnB>
                    <a:solidFill>
                      <a:srgbClr val="D97705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7705"/>
                      </a:solidFill>
                      <a:prstDash val="solid"/>
                    </a:lnL>
                    <a:lnR w="12700">
                      <a:solidFill>
                        <a:srgbClr val="EA570C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200" b="1" spc="-1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74.9%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EA570C"/>
                      </a:solidFill>
                      <a:prstDash val="solid"/>
                    </a:lnL>
                    <a:lnR w="12700">
                      <a:solidFill>
                        <a:srgbClr val="EA570C"/>
                      </a:solidFill>
                      <a:prstDash val="solid"/>
                    </a:lnR>
                    <a:lnB w="12700">
                      <a:solidFill>
                        <a:srgbClr val="EA570C"/>
                      </a:solidFill>
                      <a:prstDash val="solid"/>
                    </a:lnB>
                    <a:solidFill>
                      <a:srgbClr val="EA570C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EA570C"/>
                      </a:solidFill>
                      <a:prstDash val="solid"/>
                    </a:lnL>
                    <a:lnR w="12700">
                      <a:solidFill>
                        <a:srgbClr val="DC252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200" b="1" spc="-1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73.9%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DC2525"/>
                      </a:solidFill>
                      <a:prstDash val="solid"/>
                    </a:lnL>
                    <a:lnR w="12700">
                      <a:solidFill>
                        <a:srgbClr val="DC2525"/>
                      </a:solidFill>
                      <a:prstDash val="solid"/>
                    </a:lnR>
                    <a:lnB w="12700">
                      <a:solidFill>
                        <a:srgbClr val="DC2525"/>
                      </a:solidFill>
                      <a:prstDash val="solid"/>
                    </a:lnB>
                    <a:solidFill>
                      <a:srgbClr val="DC2525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C2525"/>
                      </a:solidFill>
                      <a:prstDash val="solid"/>
                    </a:lnL>
                    <a:lnR w="12700">
                      <a:solidFill>
                        <a:srgbClr val="7B39EC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200" b="1" spc="-10" dirty="0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66.0%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7B39EC"/>
                      </a:solidFill>
                      <a:prstDash val="solid"/>
                    </a:lnL>
                    <a:lnR w="12700">
                      <a:solidFill>
                        <a:srgbClr val="7B39EC"/>
                      </a:solidFill>
                      <a:prstDash val="solid"/>
                    </a:lnR>
                    <a:lnB w="12700">
                      <a:solidFill>
                        <a:srgbClr val="7B39EC"/>
                      </a:solidFill>
                      <a:prstDash val="solid"/>
                    </a:lnB>
                    <a:solidFill>
                      <a:srgbClr val="7B39EC">
                        <a:alpha val="1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243522" y="3321367"/>
            <a:ext cx="264985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E172A"/>
                </a:solidFill>
                <a:latin typeface="Calibri"/>
                <a:cs typeface="Calibri"/>
              </a:rPr>
              <a:t>Heures</a:t>
            </a:r>
            <a:r>
              <a:rPr sz="1200" b="1" spc="-2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E172A"/>
                </a:solidFill>
                <a:latin typeface="Calibri"/>
                <a:cs typeface="Calibri"/>
              </a:rPr>
              <a:t>d'étude moyennes</a:t>
            </a:r>
            <a:r>
              <a:rPr sz="1200" b="1" spc="-2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E172A"/>
                </a:solidFill>
                <a:latin typeface="Calibri"/>
                <a:cs typeface="Calibri"/>
              </a:rPr>
              <a:t>par</a:t>
            </a:r>
            <a:r>
              <a:rPr sz="1200" b="1" spc="-5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E172A"/>
                </a:solidFill>
                <a:latin typeface="Calibri"/>
                <a:cs typeface="Calibri"/>
              </a:rPr>
              <a:t>note</a:t>
            </a:r>
            <a:r>
              <a:rPr sz="1200" b="1" spc="-6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E172A"/>
                </a:solidFill>
                <a:latin typeface="Calibri"/>
                <a:cs typeface="Calibri"/>
              </a:rPr>
              <a:t>finale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57175" y="3600450"/>
            <a:ext cx="5305425" cy="1209675"/>
            <a:chOff x="257175" y="3600450"/>
            <a:chExt cx="5305425" cy="1209675"/>
          </a:xfrm>
        </p:grpSpPr>
        <p:sp>
          <p:nvSpPr>
            <p:cNvPr id="14" name="object 14"/>
            <p:cNvSpPr/>
            <p:nvPr/>
          </p:nvSpPr>
          <p:spPr>
            <a:xfrm>
              <a:off x="257175" y="3600450"/>
              <a:ext cx="5305425" cy="1209675"/>
            </a:xfrm>
            <a:custGeom>
              <a:avLst/>
              <a:gdLst/>
              <a:ahLst/>
              <a:cxnLst/>
              <a:rect l="l" t="t" r="r" b="b"/>
              <a:pathLst>
                <a:path w="5305425" h="1209675">
                  <a:moveTo>
                    <a:pt x="5178171" y="0"/>
                  </a:moveTo>
                  <a:lnTo>
                    <a:pt x="127266" y="0"/>
                  </a:lnTo>
                  <a:lnTo>
                    <a:pt x="77731" y="10007"/>
                  </a:lnTo>
                  <a:lnTo>
                    <a:pt x="37277" y="37290"/>
                  </a:lnTo>
                  <a:lnTo>
                    <a:pt x="10002" y="77741"/>
                  </a:lnTo>
                  <a:lnTo>
                    <a:pt x="0" y="127253"/>
                  </a:lnTo>
                  <a:lnTo>
                    <a:pt x="0" y="1082408"/>
                  </a:lnTo>
                  <a:lnTo>
                    <a:pt x="10002" y="1131943"/>
                  </a:lnTo>
                  <a:lnTo>
                    <a:pt x="37277" y="1172397"/>
                  </a:lnTo>
                  <a:lnTo>
                    <a:pt x="77731" y="1199672"/>
                  </a:lnTo>
                  <a:lnTo>
                    <a:pt x="127266" y="1209675"/>
                  </a:lnTo>
                  <a:lnTo>
                    <a:pt x="5178171" y="1209675"/>
                  </a:lnTo>
                  <a:lnTo>
                    <a:pt x="5227683" y="1199672"/>
                  </a:lnTo>
                  <a:lnTo>
                    <a:pt x="5268134" y="1172397"/>
                  </a:lnTo>
                  <a:lnTo>
                    <a:pt x="5295417" y="1131943"/>
                  </a:lnTo>
                  <a:lnTo>
                    <a:pt x="5305425" y="1082408"/>
                  </a:lnTo>
                  <a:lnTo>
                    <a:pt x="5305425" y="127253"/>
                  </a:lnTo>
                  <a:lnTo>
                    <a:pt x="5295417" y="77741"/>
                  </a:lnTo>
                  <a:lnTo>
                    <a:pt x="5268134" y="37290"/>
                  </a:lnTo>
                  <a:lnTo>
                    <a:pt x="5227683" y="10007"/>
                  </a:lnTo>
                  <a:lnTo>
                    <a:pt x="5178171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42937" y="3748151"/>
              <a:ext cx="4782185" cy="361950"/>
            </a:xfrm>
            <a:custGeom>
              <a:avLst/>
              <a:gdLst/>
              <a:ahLst/>
              <a:cxnLst/>
              <a:rect l="l" t="t" r="r" b="b"/>
              <a:pathLst>
                <a:path w="4782185" h="361950">
                  <a:moveTo>
                    <a:pt x="0" y="361886"/>
                  </a:moveTo>
                  <a:lnTo>
                    <a:pt x="233362" y="361886"/>
                  </a:lnTo>
                </a:path>
                <a:path w="4782185" h="361950">
                  <a:moveTo>
                    <a:pt x="557212" y="361886"/>
                  </a:moveTo>
                  <a:lnTo>
                    <a:pt x="1033462" y="361886"/>
                  </a:lnTo>
                </a:path>
                <a:path w="4782185" h="361950">
                  <a:moveTo>
                    <a:pt x="1347787" y="361886"/>
                  </a:moveTo>
                  <a:lnTo>
                    <a:pt x="1833562" y="361886"/>
                  </a:lnTo>
                </a:path>
                <a:path w="4782185" h="361950">
                  <a:moveTo>
                    <a:pt x="0" y="0"/>
                  </a:moveTo>
                  <a:lnTo>
                    <a:pt x="4781613" y="0"/>
                  </a:lnTo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76300" y="3933825"/>
              <a:ext cx="323850" cy="533400"/>
            </a:xfrm>
            <a:custGeom>
              <a:avLst/>
              <a:gdLst/>
              <a:ahLst/>
              <a:cxnLst/>
              <a:rect l="l" t="t" r="r" b="b"/>
              <a:pathLst>
                <a:path w="323850" h="533400">
                  <a:moveTo>
                    <a:pt x="323850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323850" y="53340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16A2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676400" y="3971925"/>
              <a:ext cx="314325" cy="495300"/>
            </a:xfrm>
            <a:custGeom>
              <a:avLst/>
              <a:gdLst/>
              <a:ahLst/>
              <a:cxnLst/>
              <a:rect l="l" t="t" r="r" b="b"/>
              <a:pathLst>
                <a:path w="314325" h="495300">
                  <a:moveTo>
                    <a:pt x="314325" y="0"/>
                  </a:moveTo>
                  <a:lnTo>
                    <a:pt x="0" y="0"/>
                  </a:lnTo>
                  <a:lnTo>
                    <a:pt x="0" y="495300"/>
                  </a:lnTo>
                  <a:lnTo>
                    <a:pt x="314325" y="495300"/>
                  </a:lnTo>
                  <a:lnTo>
                    <a:pt x="314325" y="0"/>
                  </a:lnTo>
                  <a:close/>
                </a:path>
              </a:pathLst>
            </a:custGeom>
            <a:solidFill>
              <a:srgbClr val="64A2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476500" y="4048125"/>
              <a:ext cx="314325" cy="419100"/>
            </a:xfrm>
            <a:custGeom>
              <a:avLst/>
              <a:gdLst/>
              <a:ahLst/>
              <a:cxnLst/>
              <a:rect l="l" t="t" r="r" b="b"/>
              <a:pathLst>
                <a:path w="314325" h="419100">
                  <a:moveTo>
                    <a:pt x="314325" y="0"/>
                  </a:moveTo>
                  <a:lnTo>
                    <a:pt x="0" y="0"/>
                  </a:lnTo>
                  <a:lnTo>
                    <a:pt x="0" y="419100"/>
                  </a:lnTo>
                  <a:lnTo>
                    <a:pt x="314325" y="419100"/>
                  </a:lnTo>
                  <a:lnTo>
                    <a:pt x="314325" y="0"/>
                  </a:lnTo>
                  <a:close/>
                </a:path>
              </a:pathLst>
            </a:custGeom>
            <a:solidFill>
              <a:srgbClr val="D9770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267075" y="4171950"/>
              <a:ext cx="323850" cy="295275"/>
            </a:xfrm>
            <a:custGeom>
              <a:avLst/>
              <a:gdLst/>
              <a:ahLst/>
              <a:cxnLst/>
              <a:rect l="l" t="t" r="r" b="b"/>
              <a:pathLst>
                <a:path w="323850" h="295275">
                  <a:moveTo>
                    <a:pt x="323850" y="0"/>
                  </a:moveTo>
                  <a:lnTo>
                    <a:pt x="0" y="0"/>
                  </a:lnTo>
                  <a:lnTo>
                    <a:pt x="0" y="295275"/>
                  </a:lnTo>
                  <a:lnTo>
                    <a:pt x="323850" y="295275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EA57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067175" y="4305300"/>
              <a:ext cx="314325" cy="161925"/>
            </a:xfrm>
            <a:custGeom>
              <a:avLst/>
              <a:gdLst/>
              <a:ahLst/>
              <a:cxnLst/>
              <a:rect l="l" t="t" r="r" b="b"/>
              <a:pathLst>
                <a:path w="314325" h="161925">
                  <a:moveTo>
                    <a:pt x="314325" y="0"/>
                  </a:moveTo>
                  <a:lnTo>
                    <a:pt x="0" y="0"/>
                  </a:lnTo>
                  <a:lnTo>
                    <a:pt x="0" y="161925"/>
                  </a:lnTo>
                  <a:lnTo>
                    <a:pt x="314325" y="161925"/>
                  </a:lnTo>
                  <a:lnTo>
                    <a:pt x="314325" y="0"/>
                  </a:lnTo>
                  <a:close/>
                </a:path>
              </a:pathLst>
            </a:custGeom>
            <a:solidFill>
              <a:srgbClr val="DC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857750" y="4371975"/>
              <a:ext cx="323850" cy="95250"/>
            </a:xfrm>
            <a:custGeom>
              <a:avLst/>
              <a:gdLst/>
              <a:ahLst/>
              <a:cxnLst/>
              <a:rect l="l" t="t" r="r" b="b"/>
              <a:pathLst>
                <a:path w="323850" h="95250">
                  <a:moveTo>
                    <a:pt x="323850" y="0"/>
                  </a:moveTo>
                  <a:lnTo>
                    <a:pt x="0" y="0"/>
                  </a:lnTo>
                  <a:lnTo>
                    <a:pt x="0" y="95250"/>
                  </a:lnTo>
                  <a:lnTo>
                    <a:pt x="323850" y="9525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95312" y="3748151"/>
              <a:ext cx="4829810" cy="762000"/>
            </a:xfrm>
            <a:custGeom>
              <a:avLst/>
              <a:gdLst/>
              <a:ahLst/>
              <a:cxnLst/>
              <a:rect l="l" t="t" r="r" b="b"/>
              <a:pathLst>
                <a:path w="4829810" h="762000">
                  <a:moveTo>
                    <a:pt x="47625" y="714311"/>
                  </a:moveTo>
                  <a:lnTo>
                    <a:pt x="47625" y="0"/>
                  </a:lnTo>
                </a:path>
                <a:path w="4829810" h="762000">
                  <a:moveTo>
                    <a:pt x="0" y="714311"/>
                  </a:moveTo>
                  <a:lnTo>
                    <a:pt x="47625" y="714311"/>
                  </a:lnTo>
                </a:path>
                <a:path w="4829810" h="762000">
                  <a:moveTo>
                    <a:pt x="0" y="361886"/>
                  </a:moveTo>
                  <a:lnTo>
                    <a:pt x="47625" y="361886"/>
                  </a:lnTo>
                </a:path>
                <a:path w="4829810" h="762000">
                  <a:moveTo>
                    <a:pt x="0" y="0"/>
                  </a:moveTo>
                  <a:lnTo>
                    <a:pt x="47625" y="0"/>
                  </a:lnTo>
                </a:path>
                <a:path w="4829810" h="762000">
                  <a:moveTo>
                    <a:pt x="47625" y="714311"/>
                  </a:moveTo>
                  <a:lnTo>
                    <a:pt x="4829238" y="714311"/>
                  </a:lnTo>
                </a:path>
                <a:path w="4829810" h="762000">
                  <a:moveTo>
                    <a:pt x="47625" y="714311"/>
                  </a:moveTo>
                  <a:lnTo>
                    <a:pt x="47625" y="761936"/>
                  </a:lnTo>
                </a:path>
                <a:path w="4829810" h="762000">
                  <a:moveTo>
                    <a:pt x="838263" y="714311"/>
                  </a:moveTo>
                  <a:lnTo>
                    <a:pt x="838263" y="761936"/>
                  </a:lnTo>
                </a:path>
                <a:path w="4829810" h="762000">
                  <a:moveTo>
                    <a:pt x="1638363" y="714311"/>
                  </a:moveTo>
                  <a:lnTo>
                    <a:pt x="1638363" y="761936"/>
                  </a:lnTo>
                </a:path>
                <a:path w="4829810" h="762000">
                  <a:moveTo>
                    <a:pt x="2438463" y="714311"/>
                  </a:moveTo>
                  <a:lnTo>
                    <a:pt x="2438463" y="761936"/>
                  </a:lnTo>
                </a:path>
                <a:path w="4829810" h="762000">
                  <a:moveTo>
                    <a:pt x="3229038" y="714311"/>
                  </a:moveTo>
                  <a:lnTo>
                    <a:pt x="3229038" y="761936"/>
                  </a:lnTo>
                </a:path>
                <a:path w="4829810" h="762000">
                  <a:moveTo>
                    <a:pt x="4029138" y="714311"/>
                  </a:moveTo>
                  <a:lnTo>
                    <a:pt x="4029138" y="761936"/>
                  </a:lnTo>
                </a:path>
                <a:path w="4829810" h="762000">
                  <a:moveTo>
                    <a:pt x="4829238" y="714311"/>
                  </a:moveTo>
                  <a:lnTo>
                    <a:pt x="4829238" y="761936"/>
                  </a:lnTo>
                </a:path>
              </a:pathLst>
            </a:custGeom>
            <a:ln w="12700">
              <a:solidFill>
                <a:srgbClr val="8787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994092" y="3732847"/>
            <a:ext cx="8953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0E172A"/>
                </a:solidFill>
                <a:latin typeface="Arial MT"/>
                <a:cs typeface="Arial MT"/>
              </a:rPr>
              <a:t>7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791970" y="3768725"/>
            <a:ext cx="8953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0E172A"/>
                </a:solidFill>
                <a:latin typeface="Arial MT"/>
                <a:cs typeface="Arial MT"/>
              </a:rPr>
              <a:t>7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589529" y="3847782"/>
            <a:ext cx="89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0E172A"/>
                </a:solidFill>
                <a:latin typeface="Arial MT"/>
                <a:cs typeface="Arial MT"/>
              </a:rPr>
              <a:t>6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778125" y="3968750"/>
            <a:ext cx="265938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21030" algn="l"/>
                <a:tab pos="2646045" algn="l"/>
              </a:tabLst>
            </a:pPr>
            <a:r>
              <a:rPr sz="900" u="sng" dirty="0">
                <a:solidFill>
                  <a:srgbClr val="0E172A"/>
                </a:solidFill>
                <a:uFill>
                  <a:solidFill>
                    <a:srgbClr val="E1E8EF"/>
                  </a:solidFill>
                </a:uFill>
                <a:latin typeface="Arial MT"/>
                <a:cs typeface="Arial MT"/>
              </a:rPr>
              <a:t>	</a:t>
            </a:r>
            <a:r>
              <a:rPr sz="900" u="sng" spc="-50" dirty="0">
                <a:solidFill>
                  <a:srgbClr val="0E172A"/>
                </a:solidFill>
                <a:uFill>
                  <a:solidFill>
                    <a:srgbClr val="E1E8EF"/>
                  </a:solidFill>
                </a:uFill>
                <a:latin typeface="Arial MT"/>
                <a:cs typeface="Arial MT"/>
              </a:rPr>
              <a:t>4</a:t>
            </a:r>
            <a:r>
              <a:rPr sz="900" u="sng" dirty="0">
                <a:solidFill>
                  <a:srgbClr val="0E172A"/>
                </a:solidFill>
                <a:uFill>
                  <a:solidFill>
                    <a:srgbClr val="E1E8EF"/>
                  </a:solidFill>
                </a:uFill>
                <a:latin typeface="Arial MT"/>
                <a:cs typeface="Arial MT"/>
              </a:rPr>
              <a:t>	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184650" y="4097972"/>
            <a:ext cx="89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0E172A"/>
                </a:solidFill>
                <a:latin typeface="Arial MT"/>
                <a:cs typeface="Arial MT"/>
              </a:rPr>
              <a:t>2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982209" y="4169092"/>
            <a:ext cx="8953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0E172A"/>
                </a:solidFill>
                <a:latin typeface="Arial MT"/>
                <a:cs typeface="Arial MT"/>
              </a:rPr>
              <a:t>1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11162" y="4351654"/>
            <a:ext cx="110489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465469"/>
                </a:solidFill>
                <a:latin typeface="Arial MT"/>
                <a:cs typeface="Arial MT"/>
              </a:rPr>
              <a:t>0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11162" y="3994150"/>
            <a:ext cx="110489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465469"/>
                </a:solidFill>
                <a:latin typeface="Arial MT"/>
                <a:cs typeface="Arial MT"/>
              </a:rPr>
              <a:t>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26390" y="3636708"/>
            <a:ext cx="19685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465469"/>
                </a:solidFill>
                <a:latin typeface="Arial MT"/>
                <a:cs typeface="Arial MT"/>
              </a:rPr>
              <a:t>10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75042" y="4533582"/>
            <a:ext cx="12763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465469"/>
                </a:solidFill>
                <a:latin typeface="Arial MT"/>
                <a:cs typeface="Arial MT"/>
              </a:rPr>
              <a:t>A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772666" y="4533582"/>
            <a:ext cx="12763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465469"/>
                </a:solidFill>
                <a:latin typeface="Arial MT"/>
                <a:cs typeface="Arial MT"/>
              </a:rPr>
              <a:t>B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566035" y="4533582"/>
            <a:ext cx="13589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465469"/>
                </a:solidFill>
                <a:latin typeface="Arial MT"/>
                <a:cs typeface="Arial MT"/>
              </a:rPr>
              <a:t>C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363595" y="4533582"/>
            <a:ext cx="13589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465469"/>
                </a:solidFill>
                <a:latin typeface="Arial MT"/>
                <a:cs typeface="Arial MT"/>
              </a:rPr>
              <a:t>D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165600" y="4533582"/>
            <a:ext cx="12763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465469"/>
                </a:solidFill>
                <a:latin typeface="Arial MT"/>
                <a:cs typeface="Arial MT"/>
              </a:rPr>
              <a:t>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967351" y="4533582"/>
            <a:ext cx="11874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465469"/>
                </a:solidFill>
                <a:latin typeface="Arial MT"/>
                <a:cs typeface="Arial MT"/>
              </a:rPr>
              <a:t>F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748401" y="3300412"/>
            <a:ext cx="3152775" cy="1514475"/>
          </a:xfrm>
          <a:prstGeom prst="rect">
            <a:avLst/>
          </a:prstGeom>
          <a:solidFill>
            <a:srgbClr val="FDF3C6"/>
          </a:solidFill>
          <a:ln w="12700">
            <a:solidFill>
              <a:srgbClr val="D97705"/>
            </a:solidFill>
          </a:ln>
        </p:spPr>
        <p:txBody>
          <a:bodyPr vert="horz" wrap="square" lIns="0" tIns="1562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30"/>
              </a:spcBef>
            </a:pPr>
            <a:endParaRPr sz="1200">
              <a:latin typeface="Times New Roman"/>
              <a:cs typeface="Times New Roman"/>
            </a:endParaRPr>
          </a:p>
          <a:p>
            <a:pPr marL="127635">
              <a:lnSpc>
                <a:spcPct val="100000"/>
              </a:lnSpc>
            </a:pPr>
            <a:r>
              <a:rPr sz="1200" b="1" dirty="0">
                <a:solidFill>
                  <a:srgbClr val="0E172A"/>
                </a:solidFill>
                <a:latin typeface="Calibri"/>
                <a:cs typeface="Calibri"/>
              </a:rPr>
              <a:t>Insight</a:t>
            </a:r>
            <a:r>
              <a:rPr sz="1200" b="1" spc="-25" dirty="0">
                <a:solidFill>
                  <a:srgbClr val="0E172A"/>
                </a:solidFill>
                <a:latin typeface="Calibri"/>
                <a:cs typeface="Calibri"/>
              </a:rPr>
              <a:t> clé</a:t>
            </a:r>
            <a:endParaRPr sz="1200">
              <a:latin typeface="Calibri"/>
              <a:cs typeface="Calibri"/>
            </a:endParaRPr>
          </a:p>
          <a:p>
            <a:pPr marL="127635" marR="456565">
              <a:lnSpc>
                <a:spcPct val="102499"/>
              </a:lnSpc>
              <a:spcBef>
                <a:spcPts val="1410"/>
              </a:spcBef>
            </a:pPr>
            <a:r>
              <a:rPr sz="1100" dirty="0">
                <a:solidFill>
                  <a:srgbClr val="0E172A"/>
                </a:solidFill>
                <a:latin typeface="Calibri"/>
                <a:cs typeface="Calibri"/>
              </a:rPr>
              <a:t>Un</a:t>
            </a:r>
            <a:r>
              <a:rPr sz="1100" spc="-1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E172A"/>
                </a:solidFill>
                <a:latin typeface="Calibri"/>
                <a:cs typeface="Calibri"/>
              </a:rPr>
              <a:t>étudiant</a:t>
            </a:r>
            <a:r>
              <a:rPr sz="1100" spc="-2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E172A"/>
                </a:solidFill>
                <a:latin typeface="Calibri"/>
                <a:cs typeface="Calibri"/>
              </a:rPr>
              <a:t>de</a:t>
            </a:r>
            <a:r>
              <a:rPr sz="1100" spc="-5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E172A"/>
                </a:solidFill>
                <a:latin typeface="Calibri"/>
                <a:cs typeface="Calibri"/>
              </a:rPr>
              <a:t>note</a:t>
            </a:r>
            <a:r>
              <a:rPr sz="1100" spc="-5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E172A"/>
                </a:solidFill>
                <a:latin typeface="Calibri"/>
                <a:cs typeface="Calibri"/>
              </a:rPr>
              <a:t>A</a:t>
            </a:r>
            <a:r>
              <a:rPr sz="1100" spc="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E172A"/>
                </a:solidFill>
                <a:latin typeface="Calibri"/>
                <a:cs typeface="Calibri"/>
              </a:rPr>
              <a:t>étudie</a:t>
            </a:r>
            <a:r>
              <a:rPr sz="1100" spc="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D97705"/>
                </a:solidFill>
                <a:latin typeface="Calibri"/>
                <a:cs typeface="Calibri"/>
              </a:rPr>
              <a:t>5.7×</a:t>
            </a:r>
            <a:r>
              <a:rPr sz="1100" b="1" spc="-5" dirty="0">
                <a:solidFill>
                  <a:srgbClr val="D97705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D97705"/>
                </a:solidFill>
                <a:latin typeface="Calibri"/>
                <a:cs typeface="Calibri"/>
              </a:rPr>
              <a:t>plus</a:t>
            </a:r>
            <a:r>
              <a:rPr sz="1100" b="1" spc="30" dirty="0">
                <a:solidFill>
                  <a:srgbClr val="D97705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0E172A"/>
                </a:solidFill>
                <a:latin typeface="Calibri"/>
                <a:cs typeface="Calibri"/>
              </a:rPr>
              <a:t>qu'un </a:t>
            </a:r>
            <a:r>
              <a:rPr sz="1100" dirty="0">
                <a:solidFill>
                  <a:srgbClr val="0E172A"/>
                </a:solidFill>
                <a:latin typeface="Calibri"/>
                <a:cs typeface="Calibri"/>
              </a:rPr>
              <a:t>étudiant</a:t>
            </a:r>
            <a:r>
              <a:rPr sz="1100" spc="-1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100" spc="-50" dirty="0">
                <a:solidFill>
                  <a:srgbClr val="0E172A"/>
                </a:solidFill>
                <a:latin typeface="Calibri"/>
                <a:cs typeface="Calibri"/>
              </a:rPr>
              <a:t>F</a:t>
            </a:r>
            <a:endParaRPr sz="1100">
              <a:latin typeface="Calibri"/>
              <a:cs typeface="Calibri"/>
            </a:endParaRPr>
          </a:p>
          <a:p>
            <a:pPr marL="127635">
              <a:lnSpc>
                <a:spcPts val="1280"/>
              </a:lnSpc>
            </a:pPr>
            <a:r>
              <a:rPr sz="1100" dirty="0">
                <a:solidFill>
                  <a:srgbClr val="0E172A"/>
                </a:solidFill>
                <a:latin typeface="Calibri"/>
                <a:cs typeface="Calibri"/>
              </a:rPr>
              <a:t>(7.4h</a:t>
            </a:r>
            <a:r>
              <a:rPr sz="1100" spc="-1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E172A"/>
                </a:solidFill>
                <a:latin typeface="Calibri"/>
                <a:cs typeface="Calibri"/>
              </a:rPr>
              <a:t>vs</a:t>
            </a:r>
            <a:r>
              <a:rPr sz="1100" spc="-1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E172A"/>
                </a:solidFill>
                <a:latin typeface="Calibri"/>
                <a:cs typeface="Calibri"/>
              </a:rPr>
              <a:t>1.3h</a:t>
            </a:r>
            <a:r>
              <a:rPr sz="1100" spc="-1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E172A"/>
                </a:solidFill>
                <a:latin typeface="Calibri"/>
                <a:cs typeface="Calibri"/>
              </a:rPr>
              <a:t>/ </a:t>
            </a:r>
            <a:r>
              <a:rPr sz="1100" spc="-20" dirty="0">
                <a:solidFill>
                  <a:srgbClr val="0E172A"/>
                </a:solidFill>
                <a:latin typeface="Calibri"/>
                <a:cs typeface="Calibri"/>
              </a:rPr>
              <a:t>jour)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379716" y="4936807"/>
            <a:ext cx="1508760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i="1" dirty="0">
                <a:solidFill>
                  <a:srgbClr val="93A2B8"/>
                </a:solidFill>
                <a:latin typeface="Calibri"/>
                <a:cs typeface="Calibri"/>
              </a:rPr>
              <a:t>Section</a:t>
            </a:r>
            <a:r>
              <a:rPr sz="800" i="1" spc="5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93A2B8"/>
                </a:solidFill>
                <a:latin typeface="Calibri"/>
                <a:cs typeface="Calibri"/>
              </a:rPr>
              <a:t>3</a:t>
            </a:r>
            <a:r>
              <a:rPr sz="800" i="1" spc="-20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93A2B8"/>
                </a:solidFill>
                <a:latin typeface="Calibri"/>
                <a:cs typeface="Calibri"/>
              </a:rPr>
              <a:t>—</a:t>
            </a:r>
            <a:r>
              <a:rPr sz="800" i="1" spc="-15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93A2B8"/>
                </a:solidFill>
                <a:latin typeface="Calibri"/>
                <a:cs typeface="Calibri"/>
              </a:rPr>
              <a:t>Profil</a:t>
            </a:r>
            <a:r>
              <a:rPr sz="800" i="1" spc="-65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93A2B8"/>
                </a:solidFill>
                <a:latin typeface="Calibri"/>
                <a:cs typeface="Calibri"/>
              </a:rPr>
              <a:t>Étudiant</a:t>
            </a:r>
            <a:r>
              <a:rPr sz="800" i="1" spc="-75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93A2B8"/>
                </a:solidFill>
                <a:latin typeface="Calibri"/>
                <a:cs typeface="Calibri"/>
              </a:rPr>
              <a:t>par</a:t>
            </a:r>
            <a:r>
              <a:rPr sz="800" i="1" spc="-5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800" i="1" spc="-20" dirty="0">
                <a:solidFill>
                  <a:srgbClr val="93A2B8"/>
                </a:solidFill>
                <a:latin typeface="Calibri"/>
                <a:cs typeface="Calibri"/>
              </a:rPr>
              <a:t>Note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586" y="-1523"/>
            <a:ext cx="9152255" cy="927100"/>
            <a:chOff x="-1586" y="-1523"/>
            <a:chExt cx="9152255" cy="927100"/>
          </a:xfrm>
        </p:grpSpPr>
        <p:sp>
          <p:nvSpPr>
            <p:cNvPr id="3" name="object 3"/>
            <p:cNvSpPr/>
            <p:nvPr/>
          </p:nvSpPr>
          <p:spPr>
            <a:xfrm>
              <a:off x="4763" y="4826"/>
              <a:ext cx="9139555" cy="914400"/>
            </a:xfrm>
            <a:custGeom>
              <a:avLst/>
              <a:gdLst/>
              <a:ahLst/>
              <a:cxnLst/>
              <a:rect l="l" t="t" r="r" b="b"/>
              <a:pathLst>
                <a:path w="9139555" h="914400">
                  <a:moveTo>
                    <a:pt x="9139236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39236" y="914400"/>
                  </a:lnTo>
                  <a:lnTo>
                    <a:pt x="9139236" y="0"/>
                  </a:lnTo>
                  <a:close/>
                </a:path>
              </a:pathLst>
            </a:custGeom>
            <a:solidFill>
              <a:srgbClr val="1B2A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763" y="4826"/>
              <a:ext cx="9139555" cy="914400"/>
            </a:xfrm>
            <a:custGeom>
              <a:avLst/>
              <a:gdLst/>
              <a:ahLst/>
              <a:cxnLst/>
              <a:rect l="l" t="t" r="r" b="b"/>
              <a:pathLst>
                <a:path w="9139555" h="914400">
                  <a:moveTo>
                    <a:pt x="9139236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39236" y="914400"/>
                  </a:lnTo>
                </a:path>
              </a:pathLst>
            </a:custGeom>
            <a:ln w="12700">
              <a:solidFill>
                <a:srgbClr val="1B2A4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Conclusions</a:t>
            </a:r>
            <a:r>
              <a:rPr spc="-5" dirty="0"/>
              <a:t> </a:t>
            </a:r>
            <a:r>
              <a:rPr dirty="0"/>
              <a:t>&amp;</a:t>
            </a:r>
            <a:r>
              <a:rPr spc="-45" dirty="0"/>
              <a:t> </a:t>
            </a:r>
            <a:r>
              <a:rPr spc="-10" dirty="0"/>
              <a:t>Recommandations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53377" y="612203"/>
            <a:ext cx="1736089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i="1" dirty="0">
                <a:solidFill>
                  <a:srgbClr val="FFFFFF"/>
                </a:solidFill>
                <a:latin typeface="Calibri"/>
                <a:cs typeface="Calibri"/>
              </a:rPr>
              <a:t>Synthèse</a:t>
            </a:r>
            <a:r>
              <a:rPr sz="1050" i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FFFFFF"/>
                </a:solidFill>
                <a:latin typeface="Calibri"/>
                <a:cs typeface="Calibri"/>
              </a:rPr>
              <a:t>des</a:t>
            </a:r>
            <a:r>
              <a:rPr sz="1050" i="1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FFFFFF"/>
                </a:solidFill>
                <a:latin typeface="Calibri"/>
                <a:cs typeface="Calibri"/>
              </a:rPr>
              <a:t>résultats du</a:t>
            </a:r>
            <a:r>
              <a:rPr sz="1050" i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i="1" spc="-10" dirty="0">
                <a:solidFill>
                  <a:srgbClr val="FFFFFF"/>
                </a:solidFill>
                <a:latin typeface="Calibri"/>
                <a:cs typeface="Calibri"/>
              </a:rPr>
              <a:t>projet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74637" y="1027112"/>
            <a:ext cx="2803525" cy="3317875"/>
            <a:chOff x="274637" y="1027112"/>
            <a:chExt cx="2803525" cy="3317875"/>
          </a:xfrm>
        </p:grpSpPr>
        <p:sp>
          <p:nvSpPr>
            <p:cNvPr id="8" name="object 8"/>
            <p:cNvSpPr/>
            <p:nvPr/>
          </p:nvSpPr>
          <p:spPr>
            <a:xfrm>
              <a:off x="280987" y="1595501"/>
              <a:ext cx="2790825" cy="2743200"/>
            </a:xfrm>
            <a:custGeom>
              <a:avLst/>
              <a:gdLst/>
              <a:ahLst/>
              <a:cxnLst/>
              <a:rect l="l" t="t" r="r" b="b"/>
              <a:pathLst>
                <a:path w="2790825" h="2743200">
                  <a:moveTo>
                    <a:pt x="0" y="2743136"/>
                  </a:moveTo>
                  <a:lnTo>
                    <a:pt x="2790825" y="2743136"/>
                  </a:lnTo>
                  <a:lnTo>
                    <a:pt x="2790825" y="0"/>
                  </a:lnTo>
                  <a:lnTo>
                    <a:pt x="0" y="0"/>
                  </a:lnTo>
                  <a:lnTo>
                    <a:pt x="0" y="2743136"/>
                  </a:lnTo>
                  <a:close/>
                </a:path>
              </a:pathLst>
            </a:custGeom>
            <a:solidFill>
              <a:srgbClr val="7B39EC">
                <a:alpha val="705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80987" y="1033462"/>
              <a:ext cx="2790825" cy="3305175"/>
            </a:xfrm>
            <a:custGeom>
              <a:avLst/>
              <a:gdLst/>
              <a:ahLst/>
              <a:cxnLst/>
              <a:rect l="l" t="t" r="r" b="b"/>
              <a:pathLst>
                <a:path w="2790825" h="3305175">
                  <a:moveTo>
                    <a:pt x="0" y="3305175"/>
                  </a:moveTo>
                  <a:lnTo>
                    <a:pt x="2790825" y="3305175"/>
                  </a:lnTo>
                  <a:lnTo>
                    <a:pt x="2790825" y="0"/>
                  </a:lnTo>
                  <a:lnTo>
                    <a:pt x="0" y="0"/>
                  </a:lnTo>
                  <a:lnTo>
                    <a:pt x="0" y="3305175"/>
                  </a:lnTo>
                  <a:close/>
                </a:path>
              </a:pathLst>
            </a:custGeom>
            <a:ln w="12700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80987" y="1033494"/>
            <a:ext cx="2790825" cy="562610"/>
          </a:xfrm>
          <a:prstGeom prst="rect">
            <a:avLst/>
          </a:prstGeom>
          <a:solidFill>
            <a:srgbClr val="7B39EC"/>
          </a:solidFill>
          <a:ln w="12700">
            <a:solidFill>
              <a:srgbClr val="7B39EC"/>
            </a:solidFill>
          </a:ln>
        </p:spPr>
        <p:txBody>
          <a:bodyPr vert="horz" wrap="square" lIns="0" tIns="14478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140"/>
              </a:spcBef>
            </a:pP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Facteurs</a:t>
            </a:r>
            <a:r>
              <a:rPr sz="14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20" dirty="0">
                <a:solidFill>
                  <a:srgbClr val="FFFFFF"/>
                </a:solidFill>
                <a:latin typeface="Calibri"/>
                <a:cs typeface="Calibri"/>
              </a:rPr>
              <a:t>Clés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98462" y="1827276"/>
            <a:ext cx="193675" cy="1984375"/>
            <a:chOff x="398462" y="1827276"/>
            <a:chExt cx="193675" cy="198437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8462" y="1827276"/>
              <a:ext cx="193675" cy="19367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8462" y="2722626"/>
              <a:ext cx="193675" cy="19367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8462" y="3617976"/>
              <a:ext cx="193675" cy="193675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640715" y="1910778"/>
            <a:ext cx="1652905" cy="347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Heures</a:t>
            </a:r>
            <a:r>
              <a:rPr sz="1050" spc="-4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d'étude</a:t>
            </a:r>
            <a:r>
              <a:rPr sz="1050" spc="1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:</a:t>
            </a:r>
            <a:r>
              <a:rPr sz="1050" spc="-7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facteur</a:t>
            </a:r>
            <a:r>
              <a:rPr sz="1050" spc="-4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spc="-25" dirty="0">
                <a:solidFill>
                  <a:srgbClr val="0E172A"/>
                </a:solidFill>
                <a:latin typeface="Calibri"/>
                <a:cs typeface="Calibri"/>
              </a:rPr>
              <a:t>#1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(r</a:t>
            </a:r>
            <a:r>
              <a:rPr sz="1050" spc="-2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=</a:t>
            </a:r>
            <a:r>
              <a:rPr sz="1050" spc="-3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0.906</a:t>
            </a:r>
            <a:r>
              <a:rPr sz="1050" spc="3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avec</a:t>
            </a:r>
            <a:r>
              <a:rPr sz="1050" spc="-2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le</a:t>
            </a:r>
            <a:r>
              <a:rPr sz="1050" spc="-2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score</a:t>
            </a:r>
            <a:r>
              <a:rPr sz="1050" spc="-3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0E172A"/>
                </a:solidFill>
                <a:latin typeface="Calibri"/>
                <a:cs typeface="Calibri"/>
              </a:rPr>
              <a:t>global)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0715" y="2808287"/>
            <a:ext cx="1588135" cy="347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0E172A"/>
                </a:solidFill>
                <a:latin typeface="Calibri"/>
                <a:cs typeface="Calibri"/>
              </a:rPr>
              <a:t>Scores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0E172A"/>
                </a:solidFill>
                <a:latin typeface="Calibri"/>
                <a:cs typeface="Calibri"/>
              </a:rPr>
              <a:t>Math/Science/Anglais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très</a:t>
            </a:r>
            <a:r>
              <a:rPr sz="1050" spc="-2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0E172A"/>
                </a:solidFill>
                <a:latin typeface="Calibri"/>
                <a:cs typeface="Calibri"/>
              </a:rPr>
              <a:t>cohérents</a:t>
            </a:r>
            <a:r>
              <a:rPr sz="1050" spc="-2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(α</a:t>
            </a:r>
            <a:r>
              <a:rPr sz="1050" spc="2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=</a:t>
            </a:r>
            <a:r>
              <a:rPr sz="1050" spc="2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0E172A"/>
                </a:solidFill>
                <a:latin typeface="Calibri"/>
                <a:cs typeface="Calibri"/>
              </a:rPr>
              <a:t>0.917)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40715" y="3706177"/>
            <a:ext cx="1471930" cy="348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Assiduité</a:t>
            </a:r>
            <a:r>
              <a:rPr sz="1050" spc="-5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0E172A"/>
                </a:solidFill>
                <a:latin typeface="Calibri"/>
                <a:cs typeface="Calibri"/>
              </a:rPr>
              <a:t>influence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mais</a:t>
            </a:r>
            <a:r>
              <a:rPr sz="1050" spc="-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faiblement</a:t>
            </a:r>
            <a:r>
              <a:rPr sz="1050" spc="-1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(r</a:t>
            </a:r>
            <a:r>
              <a:rPr sz="1050" spc="-3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=</a:t>
            </a:r>
            <a:r>
              <a:rPr sz="1050" spc="-3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0E172A"/>
                </a:solidFill>
                <a:latin typeface="Calibri"/>
                <a:cs typeface="Calibri"/>
              </a:rPr>
              <a:t>0.288)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227451" y="1027112"/>
            <a:ext cx="2803525" cy="3317875"/>
            <a:chOff x="3227451" y="1027112"/>
            <a:chExt cx="2803525" cy="3317875"/>
          </a:xfrm>
        </p:grpSpPr>
        <p:sp>
          <p:nvSpPr>
            <p:cNvPr id="19" name="object 19"/>
            <p:cNvSpPr/>
            <p:nvPr/>
          </p:nvSpPr>
          <p:spPr>
            <a:xfrm>
              <a:off x="3233801" y="1595501"/>
              <a:ext cx="2790825" cy="2743200"/>
            </a:xfrm>
            <a:custGeom>
              <a:avLst/>
              <a:gdLst/>
              <a:ahLst/>
              <a:cxnLst/>
              <a:rect l="l" t="t" r="r" b="b"/>
              <a:pathLst>
                <a:path w="2790825" h="2743200">
                  <a:moveTo>
                    <a:pt x="0" y="2743136"/>
                  </a:moveTo>
                  <a:lnTo>
                    <a:pt x="2790825" y="2743136"/>
                  </a:lnTo>
                  <a:lnTo>
                    <a:pt x="2790825" y="0"/>
                  </a:lnTo>
                  <a:lnTo>
                    <a:pt x="0" y="0"/>
                  </a:lnTo>
                  <a:lnTo>
                    <a:pt x="0" y="2743136"/>
                  </a:lnTo>
                  <a:close/>
                </a:path>
              </a:pathLst>
            </a:custGeom>
            <a:solidFill>
              <a:srgbClr val="D97705">
                <a:alpha val="705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233801" y="1033462"/>
              <a:ext cx="2790825" cy="3305175"/>
            </a:xfrm>
            <a:custGeom>
              <a:avLst/>
              <a:gdLst/>
              <a:ahLst/>
              <a:cxnLst/>
              <a:rect l="l" t="t" r="r" b="b"/>
              <a:pathLst>
                <a:path w="2790825" h="3305175">
                  <a:moveTo>
                    <a:pt x="0" y="3305175"/>
                  </a:moveTo>
                  <a:lnTo>
                    <a:pt x="2790825" y="3305175"/>
                  </a:lnTo>
                  <a:lnTo>
                    <a:pt x="2790825" y="0"/>
                  </a:lnTo>
                  <a:lnTo>
                    <a:pt x="0" y="0"/>
                  </a:lnTo>
                  <a:lnTo>
                    <a:pt x="0" y="3305175"/>
                  </a:lnTo>
                  <a:close/>
                </a:path>
              </a:pathLst>
            </a:custGeom>
            <a:ln w="12700">
              <a:solidFill>
                <a:srgbClr val="D9770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233801" y="1033494"/>
            <a:ext cx="2790825" cy="562610"/>
          </a:xfrm>
          <a:prstGeom prst="rect">
            <a:avLst/>
          </a:prstGeom>
          <a:solidFill>
            <a:srgbClr val="D97705"/>
          </a:solidFill>
          <a:ln w="12700">
            <a:solidFill>
              <a:srgbClr val="D97705"/>
            </a:solidFill>
          </a:ln>
        </p:spPr>
        <p:txBody>
          <a:bodyPr vert="horz" wrap="square" lIns="0" tIns="14478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140"/>
              </a:spcBef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Règles</a:t>
            </a:r>
            <a:r>
              <a:rPr sz="1400" b="1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Découvertes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351276" y="1827276"/>
            <a:ext cx="203200" cy="1984375"/>
            <a:chOff x="3351276" y="1827276"/>
            <a:chExt cx="203200" cy="1984375"/>
          </a:xfrm>
        </p:grpSpPr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51276" y="1827276"/>
              <a:ext cx="203200" cy="193675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51276" y="2722626"/>
              <a:ext cx="203200" cy="193675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51276" y="3617976"/>
              <a:ext cx="203200" cy="193675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3597275" y="1910778"/>
            <a:ext cx="1602740" cy="347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Peu</a:t>
            </a:r>
            <a:r>
              <a:rPr sz="1050" spc="1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d'étude</a:t>
            </a:r>
            <a:r>
              <a:rPr sz="1050" spc="-3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+</a:t>
            </a:r>
            <a:r>
              <a:rPr sz="1050" spc="-2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faible</a:t>
            </a:r>
            <a:r>
              <a:rPr sz="1050" spc="-2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0E172A"/>
                </a:solidFill>
                <a:latin typeface="Calibri"/>
                <a:cs typeface="Calibri"/>
              </a:rPr>
              <a:t>assiduité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→</a:t>
            </a:r>
            <a:r>
              <a:rPr sz="1050" spc="-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Échec</a:t>
            </a:r>
            <a:r>
              <a:rPr sz="1050" spc="-2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(lift</a:t>
            </a:r>
            <a:r>
              <a:rPr sz="1050" spc="-1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=</a:t>
            </a:r>
            <a:r>
              <a:rPr sz="1050" spc="-2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0E172A"/>
                </a:solidFill>
                <a:latin typeface="Calibri"/>
                <a:cs typeface="Calibri"/>
              </a:rPr>
              <a:t>3.14)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597275" y="2808287"/>
            <a:ext cx="1269365" cy="347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La</a:t>
            </a:r>
            <a:r>
              <a:rPr sz="1050" spc="-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méthode</a:t>
            </a:r>
            <a:r>
              <a:rPr sz="1050" spc="-2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0E172A"/>
                </a:solidFill>
                <a:latin typeface="Calibri"/>
                <a:cs typeface="Calibri"/>
              </a:rPr>
              <a:t>d'étude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n'est</a:t>
            </a:r>
            <a:r>
              <a:rPr sz="1050" spc="-1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pas</a:t>
            </a:r>
            <a:r>
              <a:rPr sz="1050" spc="-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0E172A"/>
                </a:solidFill>
                <a:latin typeface="Calibri"/>
                <a:cs typeface="Calibri"/>
              </a:rPr>
              <a:t>déterminante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597275" y="3706177"/>
            <a:ext cx="1171575" cy="34861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R="5080">
              <a:lnSpc>
                <a:spcPct val="101400"/>
              </a:lnSpc>
              <a:spcBef>
                <a:spcPts val="85"/>
              </a:spcBef>
            </a:pP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Éducation</a:t>
            </a:r>
            <a:r>
              <a:rPr sz="1050" spc="-4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0E172A"/>
                </a:solidFill>
                <a:latin typeface="Calibri"/>
                <a:cs typeface="Calibri"/>
              </a:rPr>
              <a:t>parentale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influence</a:t>
            </a:r>
            <a:r>
              <a:rPr sz="1050" spc="-4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0E172A"/>
                </a:solidFill>
                <a:latin typeface="Calibri"/>
                <a:cs typeface="Calibri"/>
              </a:rPr>
              <a:t>légèrement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180201" y="1027112"/>
            <a:ext cx="2803525" cy="3317875"/>
            <a:chOff x="6180201" y="1027112"/>
            <a:chExt cx="2803525" cy="3317875"/>
          </a:xfrm>
        </p:grpSpPr>
        <p:sp>
          <p:nvSpPr>
            <p:cNvPr id="30" name="object 30"/>
            <p:cNvSpPr/>
            <p:nvPr/>
          </p:nvSpPr>
          <p:spPr>
            <a:xfrm>
              <a:off x="6186551" y="1595501"/>
              <a:ext cx="2790825" cy="2743200"/>
            </a:xfrm>
            <a:custGeom>
              <a:avLst/>
              <a:gdLst/>
              <a:ahLst/>
              <a:cxnLst/>
              <a:rect l="l" t="t" r="r" b="b"/>
              <a:pathLst>
                <a:path w="2790825" h="2743200">
                  <a:moveTo>
                    <a:pt x="0" y="2743136"/>
                  </a:moveTo>
                  <a:lnTo>
                    <a:pt x="2790825" y="2743136"/>
                  </a:lnTo>
                  <a:lnTo>
                    <a:pt x="2790825" y="0"/>
                  </a:lnTo>
                  <a:lnTo>
                    <a:pt x="0" y="0"/>
                  </a:lnTo>
                  <a:lnTo>
                    <a:pt x="0" y="2743136"/>
                  </a:lnTo>
                  <a:close/>
                </a:path>
              </a:pathLst>
            </a:custGeom>
            <a:solidFill>
              <a:srgbClr val="0D9387">
                <a:alpha val="705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186551" y="1033462"/>
              <a:ext cx="2790825" cy="3305175"/>
            </a:xfrm>
            <a:custGeom>
              <a:avLst/>
              <a:gdLst/>
              <a:ahLst/>
              <a:cxnLst/>
              <a:rect l="l" t="t" r="r" b="b"/>
              <a:pathLst>
                <a:path w="2790825" h="3305175">
                  <a:moveTo>
                    <a:pt x="0" y="3305175"/>
                  </a:moveTo>
                  <a:lnTo>
                    <a:pt x="2790825" y="3305175"/>
                  </a:lnTo>
                  <a:lnTo>
                    <a:pt x="2790825" y="0"/>
                  </a:lnTo>
                  <a:lnTo>
                    <a:pt x="0" y="0"/>
                  </a:lnTo>
                  <a:lnTo>
                    <a:pt x="0" y="3305175"/>
                  </a:lnTo>
                  <a:close/>
                </a:path>
              </a:pathLst>
            </a:custGeom>
            <a:ln w="12700">
              <a:solidFill>
                <a:srgbClr val="0D93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6186551" y="1033494"/>
            <a:ext cx="2790825" cy="562610"/>
          </a:xfrm>
          <a:prstGeom prst="rect">
            <a:avLst/>
          </a:prstGeom>
          <a:solidFill>
            <a:srgbClr val="0D9387"/>
          </a:solidFill>
          <a:ln w="12700">
            <a:solidFill>
              <a:srgbClr val="0D9387"/>
            </a:solidFill>
          </a:ln>
        </p:spPr>
        <p:txBody>
          <a:bodyPr vert="horz" wrap="square" lIns="0" tIns="14478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140"/>
              </a:spcBef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Modèle</a:t>
            </a:r>
            <a:r>
              <a:rPr sz="14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Retenu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6304026" y="1827276"/>
            <a:ext cx="203200" cy="1984375"/>
            <a:chOff x="6304026" y="1827276"/>
            <a:chExt cx="203200" cy="1984375"/>
          </a:xfrm>
        </p:grpSpPr>
        <p:pic>
          <p:nvPicPr>
            <p:cNvPr id="34" name="object 3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04026" y="1827276"/>
              <a:ext cx="203200" cy="193675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04026" y="2722626"/>
              <a:ext cx="203200" cy="193675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04026" y="3617976"/>
              <a:ext cx="203200" cy="193675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6553834" y="1910778"/>
            <a:ext cx="1383665" cy="34798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R="5080">
              <a:lnSpc>
                <a:spcPct val="101299"/>
              </a:lnSpc>
              <a:spcBef>
                <a:spcPts val="85"/>
              </a:spcBef>
            </a:pP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Random</a:t>
            </a:r>
            <a:r>
              <a:rPr sz="1050" spc="1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Forest</a:t>
            </a:r>
            <a:r>
              <a:rPr sz="1050" spc="-2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:</a:t>
            </a:r>
            <a:r>
              <a:rPr sz="1050" spc="-2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0E172A"/>
                </a:solidFill>
                <a:latin typeface="Calibri"/>
                <a:cs typeface="Calibri"/>
              </a:rPr>
              <a:t>74.69%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vs</a:t>
            </a:r>
            <a:r>
              <a:rPr sz="1050" spc="3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0E172A"/>
                </a:solidFill>
                <a:latin typeface="Calibri"/>
                <a:cs typeface="Calibri"/>
              </a:rPr>
              <a:t>Decision</a:t>
            </a:r>
            <a:r>
              <a:rPr sz="1050" spc="-3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Tree</a:t>
            </a:r>
            <a:r>
              <a:rPr sz="1050" spc="-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:</a:t>
            </a:r>
            <a:r>
              <a:rPr sz="1050" spc="1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0E172A"/>
                </a:solidFill>
                <a:latin typeface="Calibri"/>
                <a:cs typeface="Calibri"/>
              </a:rPr>
              <a:t>67.97%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553834" y="2808287"/>
            <a:ext cx="1659255" cy="347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Variables</a:t>
            </a:r>
            <a:r>
              <a:rPr sz="1050" spc="2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spc="-20" dirty="0">
                <a:solidFill>
                  <a:srgbClr val="0E172A"/>
                </a:solidFill>
                <a:latin typeface="Calibri"/>
                <a:cs typeface="Calibri"/>
              </a:rPr>
              <a:t>clés</a:t>
            </a:r>
            <a:r>
              <a:rPr sz="1050" spc="-4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:</a:t>
            </a:r>
            <a:r>
              <a:rPr sz="1050" spc="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heures</a:t>
            </a:r>
            <a:r>
              <a:rPr sz="1050" spc="-4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0E172A"/>
                </a:solidFill>
                <a:latin typeface="Calibri"/>
                <a:cs typeface="Calibri"/>
              </a:rPr>
              <a:t>d'étude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+</a:t>
            </a:r>
            <a:r>
              <a:rPr sz="1050" spc="-2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scores</a:t>
            </a:r>
            <a:r>
              <a:rPr sz="1050" spc="1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0E172A"/>
                </a:solidFill>
                <a:latin typeface="Calibri"/>
                <a:cs typeface="Calibri"/>
              </a:rPr>
              <a:t>matières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553834" y="3706177"/>
            <a:ext cx="1126490" cy="34861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R="5080">
              <a:lnSpc>
                <a:spcPct val="101400"/>
              </a:lnSpc>
              <a:spcBef>
                <a:spcPts val="85"/>
              </a:spcBef>
            </a:pP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PC1+PC2</a:t>
            </a:r>
            <a:r>
              <a:rPr sz="1050" spc="-2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0E172A"/>
                </a:solidFill>
                <a:latin typeface="Calibri"/>
                <a:cs typeface="Calibri"/>
              </a:rPr>
              <a:t>capturent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79.3%</a:t>
            </a:r>
            <a:r>
              <a:rPr sz="1050" spc="-2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de</a:t>
            </a:r>
            <a:r>
              <a:rPr sz="1050" spc="-1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72A"/>
                </a:solidFill>
                <a:latin typeface="Calibri"/>
                <a:cs typeface="Calibri"/>
              </a:rPr>
              <a:t>la</a:t>
            </a:r>
            <a:r>
              <a:rPr sz="1050" spc="5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0E172A"/>
                </a:solidFill>
                <a:latin typeface="Calibri"/>
                <a:cs typeface="Calibri"/>
              </a:rPr>
              <a:t>variance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61937" y="4492625"/>
            <a:ext cx="194945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spc="-10" dirty="0">
                <a:solidFill>
                  <a:srgbClr val="0E172A"/>
                </a:solidFill>
                <a:latin typeface="Calibri"/>
                <a:cs typeface="Calibri"/>
              </a:rPr>
              <a:t>Recommandations</a:t>
            </a:r>
            <a:r>
              <a:rPr sz="1100" b="1" spc="20" dirty="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0E172A"/>
                </a:solidFill>
                <a:latin typeface="Calibri"/>
                <a:cs typeface="Calibri"/>
              </a:rPr>
              <a:t>pédagogiques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74637" y="4751387"/>
            <a:ext cx="2803525" cy="269875"/>
          </a:xfrm>
          <a:prstGeom prst="rect">
            <a:avLst/>
          </a:prstGeom>
          <a:solidFill>
            <a:srgbClr val="1B2A49"/>
          </a:solidFill>
          <a:ln w="3175">
            <a:solidFill>
              <a:srgbClr val="1B2A49"/>
            </a:solidFill>
          </a:ln>
        </p:spPr>
        <p:txBody>
          <a:bodyPr vert="horz" wrap="square" lIns="0" tIns="66675" rIns="0" bIns="0" rtlCol="0">
            <a:spAutoFit/>
          </a:bodyPr>
          <a:lstStyle/>
          <a:p>
            <a:pPr marL="443230">
              <a:lnSpc>
                <a:spcPct val="100000"/>
              </a:lnSpc>
              <a:spcBef>
                <a:spcPts val="525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Augmenter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les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heures</a:t>
            </a:r>
            <a:r>
              <a:rPr sz="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d'étude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(levier </a:t>
            </a:r>
            <a:r>
              <a:rPr sz="900" spc="-25" dirty="0">
                <a:solidFill>
                  <a:srgbClr val="FFFFFF"/>
                </a:solidFill>
                <a:latin typeface="Calibri"/>
                <a:cs typeface="Calibri"/>
              </a:rPr>
              <a:t>#1)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227451" y="4751387"/>
            <a:ext cx="2803525" cy="269875"/>
          </a:xfrm>
          <a:prstGeom prst="rect">
            <a:avLst/>
          </a:prstGeom>
          <a:solidFill>
            <a:srgbClr val="1B2A49"/>
          </a:solidFill>
          <a:ln w="3175">
            <a:solidFill>
              <a:srgbClr val="1B2A49"/>
            </a:solidFill>
          </a:ln>
        </p:spPr>
        <p:txBody>
          <a:bodyPr vert="horz" wrap="square" lIns="0" tIns="66675" rIns="0" bIns="0" rtlCol="0">
            <a:spAutoFit/>
          </a:bodyPr>
          <a:lstStyle/>
          <a:p>
            <a:pPr marL="672465">
              <a:lnSpc>
                <a:spcPct val="100000"/>
              </a:lnSpc>
              <a:spcBef>
                <a:spcPts val="525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Surveiller</a:t>
            </a:r>
            <a:r>
              <a:rPr sz="900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l'assiduité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en</a:t>
            </a:r>
            <a:r>
              <a:rPr sz="9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continu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180201" y="4751387"/>
            <a:ext cx="2803525" cy="269875"/>
          </a:xfrm>
          <a:prstGeom prst="rect">
            <a:avLst/>
          </a:prstGeom>
          <a:solidFill>
            <a:srgbClr val="1B2A49"/>
          </a:solidFill>
          <a:ln w="3175">
            <a:solidFill>
              <a:srgbClr val="1B2A49"/>
            </a:solidFill>
          </a:ln>
        </p:spPr>
        <p:txBody>
          <a:bodyPr vert="horz" wrap="square" lIns="0" tIns="66675" rIns="0" bIns="0" rtlCol="0">
            <a:spAutoFit/>
          </a:bodyPr>
          <a:lstStyle/>
          <a:p>
            <a:pPr marL="577850">
              <a:lnSpc>
                <a:spcPct val="100000"/>
              </a:lnSpc>
              <a:spcBef>
                <a:spcPts val="525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RF</a:t>
            </a:r>
            <a:r>
              <a:rPr sz="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pour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détecter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les</a:t>
            </a:r>
            <a:r>
              <a:rPr sz="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élèves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à</a:t>
            </a:r>
            <a:r>
              <a:rPr sz="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risque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1B2A4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5027676" y="-6350"/>
            <a:ext cx="4116704" cy="5156200"/>
            <a:chOff x="5027676" y="-6350"/>
            <a:chExt cx="4116704" cy="5156200"/>
          </a:xfrm>
        </p:grpSpPr>
        <p:sp>
          <p:nvSpPr>
            <p:cNvPr id="4" name="object 4"/>
            <p:cNvSpPr/>
            <p:nvPr/>
          </p:nvSpPr>
          <p:spPr>
            <a:xfrm>
              <a:off x="5034026" y="0"/>
              <a:ext cx="4110354" cy="5143500"/>
            </a:xfrm>
            <a:custGeom>
              <a:avLst/>
              <a:gdLst/>
              <a:ahLst/>
              <a:cxnLst/>
              <a:rect l="l" t="t" r="r" b="b"/>
              <a:pathLst>
                <a:path w="4110354" h="5143500">
                  <a:moveTo>
                    <a:pt x="4109974" y="0"/>
                  </a:moveTo>
                  <a:lnTo>
                    <a:pt x="1167307" y="0"/>
                  </a:lnTo>
                  <a:lnTo>
                    <a:pt x="1153770" y="11112"/>
                  </a:lnTo>
                  <a:lnTo>
                    <a:pt x="1119304" y="40223"/>
                  </a:lnTo>
                  <a:lnTo>
                    <a:pt x="1085256" y="69809"/>
                  </a:lnTo>
                  <a:lnTo>
                    <a:pt x="1051632" y="99864"/>
                  </a:lnTo>
                  <a:lnTo>
                    <a:pt x="1018436" y="130382"/>
                  </a:lnTo>
                  <a:lnTo>
                    <a:pt x="985674" y="161360"/>
                  </a:lnTo>
                  <a:lnTo>
                    <a:pt x="953350" y="192792"/>
                  </a:lnTo>
                  <a:lnTo>
                    <a:pt x="921471" y="224672"/>
                  </a:lnTo>
                  <a:lnTo>
                    <a:pt x="890040" y="256997"/>
                  </a:lnTo>
                  <a:lnTo>
                    <a:pt x="859063" y="289760"/>
                  </a:lnTo>
                  <a:lnTo>
                    <a:pt x="828545" y="322956"/>
                  </a:lnTo>
                  <a:lnTo>
                    <a:pt x="798491" y="356581"/>
                  </a:lnTo>
                  <a:lnTo>
                    <a:pt x="768907" y="390630"/>
                  </a:lnTo>
                  <a:lnTo>
                    <a:pt x="739797" y="425096"/>
                  </a:lnTo>
                  <a:lnTo>
                    <a:pt x="711166" y="459976"/>
                  </a:lnTo>
                  <a:lnTo>
                    <a:pt x="683020" y="495264"/>
                  </a:lnTo>
                  <a:lnTo>
                    <a:pt x="655363" y="530955"/>
                  </a:lnTo>
                  <a:lnTo>
                    <a:pt x="628201" y="567045"/>
                  </a:lnTo>
                  <a:lnTo>
                    <a:pt x="601538" y="603526"/>
                  </a:lnTo>
                  <a:lnTo>
                    <a:pt x="575381" y="640396"/>
                  </a:lnTo>
                  <a:lnTo>
                    <a:pt x="549733" y="677648"/>
                  </a:lnTo>
                  <a:lnTo>
                    <a:pt x="524601" y="715278"/>
                  </a:lnTo>
                  <a:lnTo>
                    <a:pt x="499988" y="753281"/>
                  </a:lnTo>
                  <a:lnTo>
                    <a:pt x="475901" y="791650"/>
                  </a:lnTo>
                  <a:lnTo>
                    <a:pt x="452344" y="830383"/>
                  </a:lnTo>
                  <a:lnTo>
                    <a:pt x="429322" y="869472"/>
                  </a:lnTo>
                  <a:lnTo>
                    <a:pt x="406841" y="908914"/>
                  </a:lnTo>
                  <a:lnTo>
                    <a:pt x="384905" y="948702"/>
                  </a:lnTo>
                  <a:lnTo>
                    <a:pt x="363520" y="988833"/>
                  </a:lnTo>
                  <a:lnTo>
                    <a:pt x="342690" y="1029300"/>
                  </a:lnTo>
                  <a:lnTo>
                    <a:pt x="322421" y="1070099"/>
                  </a:lnTo>
                  <a:lnTo>
                    <a:pt x="302719" y="1111225"/>
                  </a:lnTo>
                  <a:lnTo>
                    <a:pt x="283587" y="1152673"/>
                  </a:lnTo>
                  <a:lnTo>
                    <a:pt x="265031" y="1194437"/>
                  </a:lnTo>
                  <a:lnTo>
                    <a:pt x="247056" y="1236512"/>
                  </a:lnTo>
                  <a:lnTo>
                    <a:pt x="229668" y="1278894"/>
                  </a:lnTo>
                  <a:lnTo>
                    <a:pt x="212871" y="1321577"/>
                  </a:lnTo>
                  <a:lnTo>
                    <a:pt x="196670" y="1364556"/>
                  </a:lnTo>
                  <a:lnTo>
                    <a:pt x="181071" y="1407826"/>
                  </a:lnTo>
                  <a:lnTo>
                    <a:pt x="166078" y="1451383"/>
                  </a:lnTo>
                  <a:lnTo>
                    <a:pt x="151697" y="1495220"/>
                  </a:lnTo>
                  <a:lnTo>
                    <a:pt x="137933" y="1539333"/>
                  </a:lnTo>
                  <a:lnTo>
                    <a:pt x="124790" y="1583716"/>
                  </a:lnTo>
                  <a:lnTo>
                    <a:pt x="112275" y="1628366"/>
                  </a:lnTo>
                  <a:lnTo>
                    <a:pt x="100391" y="1673275"/>
                  </a:lnTo>
                  <a:lnTo>
                    <a:pt x="89145" y="1718441"/>
                  </a:lnTo>
                  <a:lnTo>
                    <a:pt x="78541" y="1763856"/>
                  </a:lnTo>
                  <a:lnTo>
                    <a:pt x="68584" y="1809517"/>
                  </a:lnTo>
                  <a:lnTo>
                    <a:pt x="59279" y="1855418"/>
                  </a:lnTo>
                  <a:lnTo>
                    <a:pt x="50632" y="1901555"/>
                  </a:lnTo>
                  <a:lnTo>
                    <a:pt x="42648" y="1947921"/>
                  </a:lnTo>
                  <a:lnTo>
                    <a:pt x="35331" y="1994512"/>
                  </a:lnTo>
                  <a:lnTo>
                    <a:pt x="28686" y="2041323"/>
                  </a:lnTo>
                  <a:lnTo>
                    <a:pt x="22720" y="2088348"/>
                  </a:lnTo>
                  <a:lnTo>
                    <a:pt x="17436" y="2135584"/>
                  </a:lnTo>
                  <a:lnTo>
                    <a:pt x="12841" y="2183024"/>
                  </a:lnTo>
                  <a:lnTo>
                    <a:pt x="8938" y="2230663"/>
                  </a:lnTo>
                  <a:lnTo>
                    <a:pt x="5734" y="2278497"/>
                  </a:lnTo>
                  <a:lnTo>
                    <a:pt x="3233" y="2326520"/>
                  </a:lnTo>
                  <a:lnTo>
                    <a:pt x="1440" y="2374727"/>
                  </a:lnTo>
                  <a:lnTo>
                    <a:pt x="360" y="2423113"/>
                  </a:lnTo>
                  <a:lnTo>
                    <a:pt x="0" y="2471674"/>
                  </a:lnTo>
                  <a:lnTo>
                    <a:pt x="360" y="2520238"/>
                  </a:lnTo>
                  <a:lnTo>
                    <a:pt x="1440" y="2568628"/>
                  </a:lnTo>
                  <a:lnTo>
                    <a:pt x="3233" y="2616838"/>
                  </a:lnTo>
                  <a:lnTo>
                    <a:pt x="5734" y="2664865"/>
                  </a:lnTo>
                  <a:lnTo>
                    <a:pt x="8938" y="2712702"/>
                  </a:lnTo>
                  <a:lnTo>
                    <a:pt x="12841" y="2760345"/>
                  </a:lnTo>
                  <a:lnTo>
                    <a:pt x="17436" y="2807788"/>
                  </a:lnTo>
                  <a:lnTo>
                    <a:pt x="22720" y="2855026"/>
                  </a:lnTo>
                  <a:lnTo>
                    <a:pt x="28686" y="2902055"/>
                  </a:lnTo>
                  <a:lnTo>
                    <a:pt x="35331" y="2948868"/>
                  </a:lnTo>
                  <a:lnTo>
                    <a:pt x="42648" y="2995462"/>
                  </a:lnTo>
                  <a:lnTo>
                    <a:pt x="50632" y="3041831"/>
                  </a:lnTo>
                  <a:lnTo>
                    <a:pt x="59279" y="3087970"/>
                  </a:lnTo>
                  <a:lnTo>
                    <a:pt x="68584" y="3133874"/>
                  </a:lnTo>
                  <a:lnTo>
                    <a:pt x="78541" y="3179537"/>
                  </a:lnTo>
                  <a:lnTo>
                    <a:pt x="89145" y="3224955"/>
                  </a:lnTo>
                  <a:lnTo>
                    <a:pt x="100391" y="3270122"/>
                  </a:lnTo>
                  <a:lnTo>
                    <a:pt x="112275" y="3315034"/>
                  </a:lnTo>
                  <a:lnTo>
                    <a:pt x="124790" y="3359686"/>
                  </a:lnTo>
                  <a:lnTo>
                    <a:pt x="137933" y="3404071"/>
                  </a:lnTo>
                  <a:lnTo>
                    <a:pt x="151697" y="3448186"/>
                  </a:lnTo>
                  <a:lnTo>
                    <a:pt x="166078" y="3492025"/>
                  </a:lnTo>
                  <a:lnTo>
                    <a:pt x="181071" y="3535583"/>
                  </a:lnTo>
                  <a:lnTo>
                    <a:pt x="196670" y="3578855"/>
                  </a:lnTo>
                  <a:lnTo>
                    <a:pt x="212871" y="3621836"/>
                  </a:lnTo>
                  <a:lnTo>
                    <a:pt x="229668" y="3664520"/>
                  </a:lnTo>
                  <a:lnTo>
                    <a:pt x="247056" y="3706903"/>
                  </a:lnTo>
                  <a:lnTo>
                    <a:pt x="265031" y="3748980"/>
                  </a:lnTo>
                  <a:lnTo>
                    <a:pt x="283587" y="3790746"/>
                  </a:lnTo>
                  <a:lnTo>
                    <a:pt x="302719" y="3832194"/>
                  </a:lnTo>
                  <a:lnTo>
                    <a:pt x="322421" y="3873321"/>
                  </a:lnTo>
                  <a:lnTo>
                    <a:pt x="342690" y="3914122"/>
                  </a:lnTo>
                  <a:lnTo>
                    <a:pt x="363520" y="3954590"/>
                  </a:lnTo>
                  <a:lnTo>
                    <a:pt x="384905" y="3994721"/>
                  </a:lnTo>
                  <a:lnTo>
                    <a:pt x="406841" y="4034511"/>
                  </a:lnTo>
                  <a:lnTo>
                    <a:pt x="429322" y="4073953"/>
                  </a:lnTo>
                  <a:lnTo>
                    <a:pt x="452344" y="4113043"/>
                  </a:lnTo>
                  <a:lnTo>
                    <a:pt x="475901" y="4151776"/>
                  </a:lnTo>
                  <a:lnTo>
                    <a:pt x="499988" y="4190147"/>
                  </a:lnTo>
                  <a:lnTo>
                    <a:pt x="524601" y="4228150"/>
                  </a:lnTo>
                  <a:lnTo>
                    <a:pt x="549733" y="4265780"/>
                  </a:lnTo>
                  <a:lnTo>
                    <a:pt x="575381" y="4303033"/>
                  </a:lnTo>
                  <a:lnTo>
                    <a:pt x="601538" y="4339903"/>
                  </a:lnTo>
                  <a:lnTo>
                    <a:pt x="628201" y="4376385"/>
                  </a:lnTo>
                  <a:lnTo>
                    <a:pt x="655363" y="4412475"/>
                  </a:lnTo>
                  <a:lnTo>
                    <a:pt x="683020" y="4448166"/>
                  </a:lnTo>
                  <a:lnTo>
                    <a:pt x="711166" y="4483454"/>
                  </a:lnTo>
                  <a:lnTo>
                    <a:pt x="739797" y="4518334"/>
                  </a:lnTo>
                  <a:lnTo>
                    <a:pt x="768907" y="4552801"/>
                  </a:lnTo>
                  <a:lnTo>
                    <a:pt x="798491" y="4586850"/>
                  </a:lnTo>
                  <a:lnTo>
                    <a:pt x="828545" y="4620475"/>
                  </a:lnTo>
                  <a:lnTo>
                    <a:pt x="859063" y="4653671"/>
                  </a:lnTo>
                  <a:lnTo>
                    <a:pt x="890040" y="4686434"/>
                  </a:lnTo>
                  <a:lnTo>
                    <a:pt x="921471" y="4718759"/>
                  </a:lnTo>
                  <a:lnTo>
                    <a:pt x="953350" y="4750639"/>
                  </a:lnTo>
                  <a:lnTo>
                    <a:pt x="985674" y="4782071"/>
                  </a:lnTo>
                  <a:lnTo>
                    <a:pt x="1018436" y="4813048"/>
                  </a:lnTo>
                  <a:lnTo>
                    <a:pt x="1051632" y="4843567"/>
                  </a:lnTo>
                  <a:lnTo>
                    <a:pt x="1085256" y="4873622"/>
                  </a:lnTo>
                  <a:lnTo>
                    <a:pt x="1119304" y="4903207"/>
                  </a:lnTo>
                  <a:lnTo>
                    <a:pt x="1153770" y="4932318"/>
                  </a:lnTo>
                  <a:lnTo>
                    <a:pt x="1188649" y="4960949"/>
                  </a:lnTo>
                  <a:lnTo>
                    <a:pt x="1223937" y="4989096"/>
                  </a:lnTo>
                  <a:lnTo>
                    <a:pt x="1259627" y="5016754"/>
                  </a:lnTo>
                  <a:lnTo>
                    <a:pt x="1295716" y="5043917"/>
                  </a:lnTo>
                  <a:lnTo>
                    <a:pt x="1332197" y="5070580"/>
                  </a:lnTo>
                  <a:lnTo>
                    <a:pt x="1369067" y="5096738"/>
                  </a:lnTo>
                  <a:lnTo>
                    <a:pt x="1406319" y="5122386"/>
                  </a:lnTo>
                  <a:lnTo>
                    <a:pt x="1437929" y="5143500"/>
                  </a:lnTo>
                  <a:lnTo>
                    <a:pt x="4109974" y="5143500"/>
                  </a:lnTo>
                  <a:lnTo>
                    <a:pt x="4109974" y="0"/>
                  </a:lnTo>
                  <a:close/>
                </a:path>
              </a:pathLst>
            </a:custGeom>
            <a:solidFill>
              <a:srgbClr val="0D9387">
                <a:alpha val="1215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034026" y="0"/>
              <a:ext cx="1438275" cy="5143500"/>
            </a:xfrm>
            <a:custGeom>
              <a:avLst/>
              <a:gdLst/>
              <a:ahLst/>
              <a:cxnLst/>
              <a:rect l="l" t="t" r="r" b="b"/>
              <a:pathLst>
                <a:path w="1438275" h="5143500">
                  <a:moveTo>
                    <a:pt x="1437929" y="5143500"/>
                  </a:moveTo>
                  <a:lnTo>
                    <a:pt x="1369067" y="5096738"/>
                  </a:lnTo>
                  <a:lnTo>
                    <a:pt x="1332197" y="5070580"/>
                  </a:lnTo>
                  <a:lnTo>
                    <a:pt x="1295716" y="5043917"/>
                  </a:lnTo>
                  <a:lnTo>
                    <a:pt x="1259627" y="5016754"/>
                  </a:lnTo>
                  <a:lnTo>
                    <a:pt x="1223937" y="4989096"/>
                  </a:lnTo>
                  <a:lnTo>
                    <a:pt x="1188649" y="4960949"/>
                  </a:lnTo>
                  <a:lnTo>
                    <a:pt x="1153770" y="4932318"/>
                  </a:lnTo>
                  <a:lnTo>
                    <a:pt x="1119304" y="4903207"/>
                  </a:lnTo>
                  <a:lnTo>
                    <a:pt x="1085256" y="4873622"/>
                  </a:lnTo>
                  <a:lnTo>
                    <a:pt x="1051632" y="4843567"/>
                  </a:lnTo>
                  <a:lnTo>
                    <a:pt x="1018436" y="4813048"/>
                  </a:lnTo>
                  <a:lnTo>
                    <a:pt x="985674" y="4782071"/>
                  </a:lnTo>
                  <a:lnTo>
                    <a:pt x="953350" y="4750639"/>
                  </a:lnTo>
                  <a:lnTo>
                    <a:pt x="921471" y="4718759"/>
                  </a:lnTo>
                  <a:lnTo>
                    <a:pt x="890040" y="4686434"/>
                  </a:lnTo>
                  <a:lnTo>
                    <a:pt x="859063" y="4653671"/>
                  </a:lnTo>
                  <a:lnTo>
                    <a:pt x="828545" y="4620475"/>
                  </a:lnTo>
                  <a:lnTo>
                    <a:pt x="798491" y="4586850"/>
                  </a:lnTo>
                  <a:lnTo>
                    <a:pt x="768907" y="4552801"/>
                  </a:lnTo>
                  <a:lnTo>
                    <a:pt x="739797" y="4518334"/>
                  </a:lnTo>
                  <a:lnTo>
                    <a:pt x="711166" y="4483454"/>
                  </a:lnTo>
                  <a:lnTo>
                    <a:pt x="683020" y="4448166"/>
                  </a:lnTo>
                  <a:lnTo>
                    <a:pt x="655363" y="4412475"/>
                  </a:lnTo>
                  <a:lnTo>
                    <a:pt x="628201" y="4376385"/>
                  </a:lnTo>
                  <a:lnTo>
                    <a:pt x="601538" y="4339903"/>
                  </a:lnTo>
                  <a:lnTo>
                    <a:pt x="575381" y="4303033"/>
                  </a:lnTo>
                  <a:lnTo>
                    <a:pt x="549733" y="4265780"/>
                  </a:lnTo>
                  <a:lnTo>
                    <a:pt x="524601" y="4228150"/>
                  </a:lnTo>
                  <a:lnTo>
                    <a:pt x="499988" y="4190147"/>
                  </a:lnTo>
                  <a:lnTo>
                    <a:pt x="475901" y="4151776"/>
                  </a:lnTo>
                  <a:lnTo>
                    <a:pt x="452344" y="4113043"/>
                  </a:lnTo>
                  <a:lnTo>
                    <a:pt x="429322" y="4073953"/>
                  </a:lnTo>
                  <a:lnTo>
                    <a:pt x="406841" y="4034511"/>
                  </a:lnTo>
                  <a:lnTo>
                    <a:pt x="384905" y="3994721"/>
                  </a:lnTo>
                  <a:lnTo>
                    <a:pt x="363520" y="3954590"/>
                  </a:lnTo>
                  <a:lnTo>
                    <a:pt x="342690" y="3914122"/>
                  </a:lnTo>
                  <a:lnTo>
                    <a:pt x="322421" y="3873321"/>
                  </a:lnTo>
                  <a:lnTo>
                    <a:pt x="302719" y="3832194"/>
                  </a:lnTo>
                  <a:lnTo>
                    <a:pt x="283587" y="3790746"/>
                  </a:lnTo>
                  <a:lnTo>
                    <a:pt x="265031" y="3748980"/>
                  </a:lnTo>
                  <a:lnTo>
                    <a:pt x="247056" y="3706903"/>
                  </a:lnTo>
                  <a:lnTo>
                    <a:pt x="229668" y="3664520"/>
                  </a:lnTo>
                  <a:lnTo>
                    <a:pt x="212871" y="3621836"/>
                  </a:lnTo>
                  <a:lnTo>
                    <a:pt x="196670" y="3578855"/>
                  </a:lnTo>
                  <a:lnTo>
                    <a:pt x="181071" y="3535583"/>
                  </a:lnTo>
                  <a:lnTo>
                    <a:pt x="166078" y="3492025"/>
                  </a:lnTo>
                  <a:lnTo>
                    <a:pt x="151697" y="3448186"/>
                  </a:lnTo>
                  <a:lnTo>
                    <a:pt x="137933" y="3404071"/>
                  </a:lnTo>
                  <a:lnTo>
                    <a:pt x="124790" y="3359686"/>
                  </a:lnTo>
                  <a:lnTo>
                    <a:pt x="112275" y="3315034"/>
                  </a:lnTo>
                  <a:lnTo>
                    <a:pt x="100391" y="3270122"/>
                  </a:lnTo>
                  <a:lnTo>
                    <a:pt x="89145" y="3224955"/>
                  </a:lnTo>
                  <a:lnTo>
                    <a:pt x="78541" y="3179537"/>
                  </a:lnTo>
                  <a:lnTo>
                    <a:pt x="68584" y="3133874"/>
                  </a:lnTo>
                  <a:lnTo>
                    <a:pt x="59279" y="3087970"/>
                  </a:lnTo>
                  <a:lnTo>
                    <a:pt x="50632" y="3041831"/>
                  </a:lnTo>
                  <a:lnTo>
                    <a:pt x="42648" y="2995462"/>
                  </a:lnTo>
                  <a:lnTo>
                    <a:pt x="35331" y="2948868"/>
                  </a:lnTo>
                  <a:lnTo>
                    <a:pt x="28686" y="2902055"/>
                  </a:lnTo>
                  <a:lnTo>
                    <a:pt x="22720" y="2855026"/>
                  </a:lnTo>
                  <a:lnTo>
                    <a:pt x="17436" y="2807788"/>
                  </a:lnTo>
                  <a:lnTo>
                    <a:pt x="12841" y="2760345"/>
                  </a:lnTo>
                  <a:lnTo>
                    <a:pt x="8938" y="2712702"/>
                  </a:lnTo>
                  <a:lnTo>
                    <a:pt x="5734" y="2664865"/>
                  </a:lnTo>
                  <a:lnTo>
                    <a:pt x="3233" y="2616838"/>
                  </a:lnTo>
                  <a:lnTo>
                    <a:pt x="1440" y="2568628"/>
                  </a:lnTo>
                  <a:lnTo>
                    <a:pt x="360" y="2520238"/>
                  </a:lnTo>
                  <a:lnTo>
                    <a:pt x="0" y="2471674"/>
                  </a:lnTo>
                  <a:lnTo>
                    <a:pt x="360" y="2423113"/>
                  </a:lnTo>
                  <a:lnTo>
                    <a:pt x="1440" y="2374727"/>
                  </a:lnTo>
                  <a:lnTo>
                    <a:pt x="3233" y="2326520"/>
                  </a:lnTo>
                  <a:lnTo>
                    <a:pt x="5734" y="2278497"/>
                  </a:lnTo>
                  <a:lnTo>
                    <a:pt x="8938" y="2230663"/>
                  </a:lnTo>
                  <a:lnTo>
                    <a:pt x="12841" y="2183024"/>
                  </a:lnTo>
                  <a:lnTo>
                    <a:pt x="17436" y="2135584"/>
                  </a:lnTo>
                  <a:lnTo>
                    <a:pt x="22720" y="2088348"/>
                  </a:lnTo>
                  <a:lnTo>
                    <a:pt x="28686" y="2041323"/>
                  </a:lnTo>
                  <a:lnTo>
                    <a:pt x="35331" y="1994512"/>
                  </a:lnTo>
                  <a:lnTo>
                    <a:pt x="42648" y="1947921"/>
                  </a:lnTo>
                  <a:lnTo>
                    <a:pt x="50632" y="1901555"/>
                  </a:lnTo>
                  <a:lnTo>
                    <a:pt x="59279" y="1855418"/>
                  </a:lnTo>
                  <a:lnTo>
                    <a:pt x="68584" y="1809517"/>
                  </a:lnTo>
                  <a:lnTo>
                    <a:pt x="78541" y="1763856"/>
                  </a:lnTo>
                  <a:lnTo>
                    <a:pt x="89145" y="1718441"/>
                  </a:lnTo>
                  <a:lnTo>
                    <a:pt x="100391" y="1673275"/>
                  </a:lnTo>
                  <a:lnTo>
                    <a:pt x="112275" y="1628366"/>
                  </a:lnTo>
                  <a:lnTo>
                    <a:pt x="124790" y="1583716"/>
                  </a:lnTo>
                  <a:lnTo>
                    <a:pt x="137933" y="1539333"/>
                  </a:lnTo>
                  <a:lnTo>
                    <a:pt x="151697" y="1495220"/>
                  </a:lnTo>
                  <a:lnTo>
                    <a:pt x="166078" y="1451383"/>
                  </a:lnTo>
                  <a:lnTo>
                    <a:pt x="181071" y="1407826"/>
                  </a:lnTo>
                  <a:lnTo>
                    <a:pt x="196670" y="1364556"/>
                  </a:lnTo>
                  <a:lnTo>
                    <a:pt x="212871" y="1321577"/>
                  </a:lnTo>
                  <a:lnTo>
                    <a:pt x="229668" y="1278894"/>
                  </a:lnTo>
                  <a:lnTo>
                    <a:pt x="247056" y="1236512"/>
                  </a:lnTo>
                  <a:lnTo>
                    <a:pt x="265031" y="1194437"/>
                  </a:lnTo>
                  <a:lnTo>
                    <a:pt x="283587" y="1152673"/>
                  </a:lnTo>
                  <a:lnTo>
                    <a:pt x="302719" y="1111225"/>
                  </a:lnTo>
                  <a:lnTo>
                    <a:pt x="322421" y="1070099"/>
                  </a:lnTo>
                  <a:lnTo>
                    <a:pt x="342690" y="1029300"/>
                  </a:lnTo>
                  <a:lnTo>
                    <a:pt x="363520" y="988833"/>
                  </a:lnTo>
                  <a:lnTo>
                    <a:pt x="384905" y="948702"/>
                  </a:lnTo>
                  <a:lnTo>
                    <a:pt x="406841" y="908914"/>
                  </a:lnTo>
                  <a:lnTo>
                    <a:pt x="429322" y="869472"/>
                  </a:lnTo>
                  <a:lnTo>
                    <a:pt x="452344" y="830383"/>
                  </a:lnTo>
                  <a:lnTo>
                    <a:pt x="475901" y="791650"/>
                  </a:lnTo>
                  <a:lnTo>
                    <a:pt x="499988" y="753281"/>
                  </a:lnTo>
                  <a:lnTo>
                    <a:pt x="524601" y="715278"/>
                  </a:lnTo>
                  <a:lnTo>
                    <a:pt x="549733" y="677648"/>
                  </a:lnTo>
                  <a:lnTo>
                    <a:pt x="575381" y="640396"/>
                  </a:lnTo>
                  <a:lnTo>
                    <a:pt x="601538" y="603526"/>
                  </a:lnTo>
                  <a:lnTo>
                    <a:pt x="628201" y="567045"/>
                  </a:lnTo>
                  <a:lnTo>
                    <a:pt x="655363" y="530955"/>
                  </a:lnTo>
                  <a:lnTo>
                    <a:pt x="683020" y="495264"/>
                  </a:lnTo>
                  <a:lnTo>
                    <a:pt x="711166" y="459976"/>
                  </a:lnTo>
                  <a:lnTo>
                    <a:pt x="739797" y="425096"/>
                  </a:lnTo>
                  <a:lnTo>
                    <a:pt x="768907" y="390630"/>
                  </a:lnTo>
                  <a:lnTo>
                    <a:pt x="798491" y="356581"/>
                  </a:lnTo>
                  <a:lnTo>
                    <a:pt x="828545" y="322956"/>
                  </a:lnTo>
                  <a:lnTo>
                    <a:pt x="859063" y="289760"/>
                  </a:lnTo>
                  <a:lnTo>
                    <a:pt x="890040" y="256997"/>
                  </a:lnTo>
                  <a:lnTo>
                    <a:pt x="921471" y="224672"/>
                  </a:lnTo>
                  <a:lnTo>
                    <a:pt x="953350" y="192792"/>
                  </a:lnTo>
                  <a:lnTo>
                    <a:pt x="985674" y="161360"/>
                  </a:lnTo>
                  <a:lnTo>
                    <a:pt x="1018436" y="130382"/>
                  </a:lnTo>
                  <a:lnTo>
                    <a:pt x="1051632" y="99864"/>
                  </a:lnTo>
                  <a:lnTo>
                    <a:pt x="1085256" y="69809"/>
                  </a:lnTo>
                  <a:lnTo>
                    <a:pt x="1119304" y="40223"/>
                  </a:lnTo>
                  <a:lnTo>
                    <a:pt x="1153770" y="11112"/>
                  </a:lnTo>
                  <a:lnTo>
                    <a:pt x="1167307" y="0"/>
                  </a:lnTo>
                </a:path>
              </a:pathLst>
            </a:custGeom>
            <a:ln w="12699">
              <a:solidFill>
                <a:srgbClr val="0D93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-1586" y="-1587"/>
            <a:ext cx="107950" cy="5151755"/>
            <a:chOff x="-1586" y="-1587"/>
            <a:chExt cx="107950" cy="5151755"/>
          </a:xfrm>
        </p:grpSpPr>
        <p:sp>
          <p:nvSpPr>
            <p:cNvPr id="7" name="object 7"/>
            <p:cNvSpPr/>
            <p:nvPr/>
          </p:nvSpPr>
          <p:spPr>
            <a:xfrm>
              <a:off x="4763" y="4762"/>
              <a:ext cx="95250" cy="5139055"/>
            </a:xfrm>
            <a:custGeom>
              <a:avLst/>
              <a:gdLst/>
              <a:ahLst/>
              <a:cxnLst/>
              <a:rect l="l" t="t" r="r" b="b"/>
              <a:pathLst>
                <a:path w="95250" h="5139055">
                  <a:moveTo>
                    <a:pt x="95250" y="0"/>
                  </a:moveTo>
                  <a:lnTo>
                    <a:pt x="0" y="0"/>
                  </a:lnTo>
                  <a:lnTo>
                    <a:pt x="0" y="5138737"/>
                  </a:lnTo>
                  <a:lnTo>
                    <a:pt x="95250" y="5138737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0D93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763" y="4762"/>
              <a:ext cx="95250" cy="5139055"/>
            </a:xfrm>
            <a:custGeom>
              <a:avLst/>
              <a:gdLst/>
              <a:ahLst/>
              <a:cxnLst/>
              <a:rect l="l" t="t" r="r" b="b"/>
              <a:pathLst>
                <a:path w="95250" h="5139055">
                  <a:moveTo>
                    <a:pt x="95250" y="5138737"/>
                  </a:moveTo>
                  <a:lnTo>
                    <a:pt x="95250" y="0"/>
                  </a:lnTo>
                  <a:lnTo>
                    <a:pt x="0" y="0"/>
                  </a:lnTo>
                  <a:lnTo>
                    <a:pt x="0" y="5138737"/>
                  </a:lnTo>
                </a:path>
              </a:pathLst>
            </a:custGeom>
            <a:ln w="12700">
              <a:solidFill>
                <a:srgbClr val="0D93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45134" y="1002601"/>
            <a:ext cx="3368675" cy="131572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>
              <a:lnSpc>
                <a:spcPct val="101400"/>
              </a:lnSpc>
              <a:spcBef>
                <a:spcPts val="35"/>
              </a:spcBef>
            </a:pPr>
            <a:r>
              <a:rPr sz="4200" dirty="0"/>
              <a:t>Merci</a:t>
            </a:r>
            <a:r>
              <a:rPr sz="4200" spc="-125" dirty="0"/>
              <a:t> </a:t>
            </a:r>
            <a:r>
              <a:rPr sz="4200" spc="-20" dirty="0"/>
              <a:t>pour </a:t>
            </a:r>
            <a:r>
              <a:rPr sz="4200" dirty="0"/>
              <a:t>votre</a:t>
            </a:r>
            <a:r>
              <a:rPr sz="4200" spc="-120" dirty="0"/>
              <a:t> </a:t>
            </a:r>
            <a:r>
              <a:rPr sz="4200" spc="-30" dirty="0"/>
              <a:t>attention</a:t>
            </a:r>
            <a:endParaRPr sz="4200"/>
          </a:p>
        </p:txBody>
      </p:sp>
      <p:sp>
        <p:nvSpPr>
          <p:cNvPr id="10" name="object 10"/>
          <p:cNvSpPr txBox="1"/>
          <p:nvPr/>
        </p:nvSpPr>
        <p:spPr>
          <a:xfrm>
            <a:off x="445134" y="2829623"/>
            <a:ext cx="1635760" cy="426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600" b="1" dirty="0">
                <a:solidFill>
                  <a:srgbClr val="13B8A6"/>
                </a:solidFill>
                <a:latin typeface="Calibri"/>
                <a:cs typeface="Calibri"/>
              </a:rPr>
              <a:t>Questions</a:t>
            </a:r>
            <a:r>
              <a:rPr sz="2600" b="1" spc="-120" dirty="0">
                <a:solidFill>
                  <a:srgbClr val="13B8A6"/>
                </a:solidFill>
                <a:latin typeface="Calibri"/>
                <a:cs typeface="Calibri"/>
              </a:rPr>
              <a:t> </a:t>
            </a:r>
            <a:r>
              <a:rPr sz="2600" b="1" spc="-50" dirty="0">
                <a:solidFill>
                  <a:srgbClr val="13B8A6"/>
                </a:solidFill>
                <a:latin typeface="Calibri"/>
                <a:cs typeface="Calibri"/>
              </a:rPr>
              <a:t>?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45134" y="4865052"/>
            <a:ext cx="151447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93A2B8"/>
                </a:solidFill>
                <a:latin typeface="Calibri"/>
                <a:cs typeface="Calibri"/>
              </a:rPr>
              <a:t>Mini-</a:t>
            </a:r>
            <a:r>
              <a:rPr sz="900" dirty="0">
                <a:solidFill>
                  <a:srgbClr val="93A2B8"/>
                </a:solidFill>
                <a:latin typeface="Calibri"/>
                <a:cs typeface="Calibri"/>
              </a:rPr>
              <a:t>Projet</a:t>
            </a:r>
            <a:r>
              <a:rPr sz="900" spc="-60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93A2B8"/>
                </a:solidFill>
                <a:latin typeface="Calibri"/>
                <a:cs typeface="Calibri"/>
              </a:rPr>
              <a:t>Data</a:t>
            </a:r>
            <a:r>
              <a:rPr sz="900" spc="25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93A2B8"/>
                </a:solidFill>
                <a:latin typeface="Calibri"/>
                <a:cs typeface="Calibri"/>
              </a:rPr>
              <a:t>Mining</a:t>
            </a:r>
            <a:r>
              <a:rPr sz="900" spc="180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93A2B8"/>
                </a:solidFill>
                <a:latin typeface="Calibri"/>
                <a:cs typeface="Calibri"/>
              </a:rPr>
              <a:t>·</a:t>
            </a:r>
            <a:r>
              <a:rPr sz="900" spc="225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93A2B8"/>
                </a:solidFill>
                <a:latin typeface="Calibri"/>
                <a:cs typeface="Calibri"/>
              </a:rPr>
              <a:t>2026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</TotalTime>
  <Words>1784</Words>
  <Application>Microsoft Office PowerPoint</Application>
  <PresentationFormat>Affichage à l'écran (16:9)</PresentationFormat>
  <Paragraphs>543</Paragraphs>
  <Slides>19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4" baseType="lpstr">
      <vt:lpstr>Arial MT</vt:lpstr>
      <vt:lpstr>Calibri</vt:lpstr>
      <vt:lpstr>Segoe UI Symbol</vt:lpstr>
      <vt:lpstr>Times New Roman</vt:lpstr>
      <vt:lpstr>Office Theme</vt:lpstr>
      <vt:lpstr>Analyse des Performances Étudiantes</vt:lpstr>
      <vt:lpstr>Plan de la Présentation</vt:lpstr>
      <vt:lpstr>Données &amp; Exploration</vt:lpstr>
      <vt:lpstr>Présentation du Dataset</vt:lpstr>
      <vt:lpstr>Statistiques Descriptives Univariées</vt:lpstr>
      <vt:lpstr>Statistiques Univariées — Variables Catégorielles</vt:lpstr>
      <vt:lpstr>Présentation PowerPoint</vt:lpstr>
      <vt:lpstr>Bivariée &amp; Multivariée</vt:lpstr>
      <vt:lpstr>Analyse Bivariée — Numérique × Numérique</vt:lpstr>
      <vt:lpstr>Analyse Bivariée — Score Global selon les Variables Catégorielles</vt:lpstr>
      <vt:lpstr>Analyse Bivariée — Catégorielle × Catégorielle</vt:lpstr>
      <vt:lpstr>Analyse Multivariée — ACP (Analyse en Composantes Principales)</vt:lpstr>
      <vt:lpstr>Règles &amp; Modèles ML</vt:lpstr>
      <vt:lpstr>Règles d'Association — Algorithme Apriori</vt:lpstr>
      <vt:lpstr>Modèles de Classification Supervisée</vt:lpstr>
      <vt:lpstr>Résultats — Feature Importance &amp; F1-Score par Classe</vt:lpstr>
      <vt:lpstr>Profil Moyen des Étudiants par Note</vt:lpstr>
      <vt:lpstr>Conclusions &amp; Recommandations</vt:lpstr>
      <vt:lpstr>Merci pour votre attention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Youssef Belfalah</cp:lastModifiedBy>
  <cp:revision>1</cp:revision>
  <dcterms:created xsi:type="dcterms:W3CDTF">2026-03-09T11:18:29Z</dcterms:created>
  <dcterms:modified xsi:type="dcterms:W3CDTF">2026-03-09T21:56:25Z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2026-03-09T00:00:00Z</vt:filetime>
  </property>
  <property fmtid="{D5CDD505-2E9C-101B-9397-08002B2CF9AE}" pid="3" name="LastSaved">
    <vt:filetime>2026-03-09T00:00:00Z</vt:filetime>
  </property>
</Properties>
</file>